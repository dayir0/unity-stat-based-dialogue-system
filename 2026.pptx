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Open Sauce Medium" charset="1" panose="00000600000000000000"/>
      <p:regular r:id="rId14"/>
    </p:embeddedFont>
    <p:embeddedFont>
      <p:font typeface="Aileron Light" charset="1" panose="00000400000000000000"/>
      <p:regular r:id="rId15"/>
    </p:embeddedFont>
    <p:embeddedFont>
      <p:font typeface="Aileron Italics" charset="1" panose="00000500000000000000"/>
      <p:regular r:id="rId16"/>
    </p:embeddedFont>
    <p:embeddedFont>
      <p:font typeface="Aileron Light Italics" charset="1" panose="00000400000000000000"/>
      <p:regular r:id="rId17"/>
    </p:embeddedFont>
    <p:embeddedFont>
      <p:font typeface="Open Sauce"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042D"/>
        </a:solidFill>
      </p:bgPr>
    </p:bg>
    <p:spTree>
      <p:nvGrpSpPr>
        <p:cNvPr id="1" name=""/>
        <p:cNvGrpSpPr/>
        <p:nvPr/>
      </p:nvGrpSpPr>
      <p:grpSpPr>
        <a:xfrm>
          <a:off x="0" y="0"/>
          <a:ext cx="0" cy="0"/>
          <a:chOff x="0" y="0"/>
          <a:chExt cx="0" cy="0"/>
        </a:xfrm>
      </p:grpSpPr>
      <p:sp>
        <p:nvSpPr>
          <p:cNvPr name="TextBox 2" id="2"/>
          <p:cNvSpPr txBox="true"/>
          <p:nvPr/>
        </p:nvSpPr>
        <p:spPr>
          <a:xfrm rot="0">
            <a:off x="159084" y="1368479"/>
            <a:ext cx="17969833" cy="5384318"/>
          </a:xfrm>
          <a:prstGeom prst="rect">
            <a:avLst/>
          </a:prstGeom>
        </p:spPr>
        <p:txBody>
          <a:bodyPr anchor="t" rtlCol="false" tIns="0" lIns="0" bIns="0" rIns="0">
            <a:spAutoFit/>
          </a:bodyPr>
          <a:lstStyle/>
          <a:p>
            <a:pPr algn="ctr" marL="0" indent="0" lvl="0">
              <a:lnSpc>
                <a:spcPts val="20317"/>
              </a:lnSpc>
            </a:pPr>
            <a:r>
              <a:rPr lang="en-US" b="true" sz="23088" spc="-1038">
                <a:solidFill>
                  <a:srgbClr val="EFEFEF">
                    <a:alpha val="82745"/>
                  </a:srgbClr>
                </a:solidFill>
                <a:latin typeface="Open Sauce Medium"/>
                <a:ea typeface="Open Sauce Medium"/>
                <a:cs typeface="Open Sauce Medium"/>
                <a:sym typeface="Open Sauce Medium"/>
              </a:rPr>
              <a:t>Dynamic</a:t>
            </a:r>
          </a:p>
          <a:p>
            <a:pPr algn="ctr" marL="0" indent="0" lvl="0">
              <a:lnSpc>
                <a:spcPts val="20317"/>
              </a:lnSpc>
            </a:pPr>
            <a:r>
              <a:rPr lang="en-US" b="true" sz="23088" spc="-1038">
                <a:solidFill>
                  <a:srgbClr val="EFEFEF">
                    <a:alpha val="82745"/>
                  </a:srgbClr>
                </a:solidFill>
                <a:latin typeface="Open Sauce Medium"/>
                <a:ea typeface="Open Sauce Medium"/>
                <a:cs typeface="Open Sauce Medium"/>
                <a:sym typeface="Open Sauce Medium"/>
              </a:rPr>
              <a:t>Dialogue</a:t>
            </a:r>
          </a:p>
        </p:txBody>
      </p:sp>
      <p:grpSp>
        <p:nvGrpSpPr>
          <p:cNvPr name="Group 3" id="3"/>
          <p:cNvGrpSpPr/>
          <p:nvPr/>
        </p:nvGrpSpPr>
        <p:grpSpPr>
          <a:xfrm rot="0">
            <a:off x="-412990" y="4505829"/>
            <a:ext cx="19141667" cy="2379468"/>
            <a:chOff x="0" y="0"/>
            <a:chExt cx="5570263" cy="692430"/>
          </a:xfrm>
        </p:grpSpPr>
        <p:sp>
          <p:nvSpPr>
            <p:cNvPr name="Freeform 4" id="4"/>
            <p:cNvSpPr/>
            <p:nvPr/>
          </p:nvSpPr>
          <p:spPr>
            <a:xfrm flipH="false" flipV="false" rot="0">
              <a:off x="0" y="0"/>
              <a:ext cx="5570263" cy="692430"/>
            </a:xfrm>
            <a:custGeom>
              <a:avLst/>
              <a:gdLst/>
              <a:ahLst/>
              <a:cxnLst/>
              <a:rect r="r" b="b" t="t" l="l"/>
              <a:pathLst>
                <a:path h="692430" w="5570263">
                  <a:moveTo>
                    <a:pt x="0" y="0"/>
                  </a:moveTo>
                  <a:lnTo>
                    <a:pt x="5570263" y="0"/>
                  </a:lnTo>
                  <a:lnTo>
                    <a:pt x="5570263" y="692430"/>
                  </a:lnTo>
                  <a:lnTo>
                    <a:pt x="0" y="692430"/>
                  </a:lnTo>
                  <a:close/>
                </a:path>
              </a:pathLst>
            </a:custGeom>
            <a:gradFill rotWithShape="true">
              <a:gsLst>
                <a:gs pos="0">
                  <a:srgbClr val="0F062D">
                    <a:alpha val="0"/>
                  </a:srgbClr>
                </a:gs>
                <a:gs pos="20000">
                  <a:srgbClr val="0F062D">
                    <a:alpha val="38000"/>
                  </a:srgbClr>
                </a:gs>
                <a:gs pos="40000">
                  <a:srgbClr val="0F062D">
                    <a:alpha val="62000"/>
                  </a:srgbClr>
                </a:gs>
                <a:gs pos="60000">
                  <a:srgbClr val="0F062D">
                    <a:alpha val="84000"/>
                  </a:srgbClr>
                </a:gs>
                <a:gs pos="80000">
                  <a:srgbClr val="0F062D">
                    <a:alpha val="100000"/>
                  </a:srgbClr>
                </a:gs>
                <a:gs pos="100000">
                  <a:srgbClr val="0F062D">
                    <a:alpha val="100000"/>
                  </a:srgbClr>
                </a:gs>
              </a:gsLst>
              <a:lin ang="5400000"/>
            </a:gradFill>
          </p:spPr>
        </p:sp>
        <p:sp>
          <p:nvSpPr>
            <p:cNvPr name="TextBox 5" id="5"/>
            <p:cNvSpPr txBox="true"/>
            <p:nvPr/>
          </p:nvSpPr>
          <p:spPr>
            <a:xfrm>
              <a:off x="0" y="0"/>
              <a:ext cx="5570263" cy="692430"/>
            </a:xfrm>
            <a:prstGeom prst="rect">
              <a:avLst/>
            </a:prstGeom>
          </p:spPr>
          <p:txBody>
            <a:bodyPr anchor="ctr" rtlCol="false" tIns="50800" lIns="50800" bIns="50800" rIns="50800"/>
            <a:lstStyle/>
            <a:p>
              <a:pPr algn="ctr" marL="0" indent="0" lvl="0">
                <a:lnSpc>
                  <a:spcPts val="2686"/>
                </a:lnSpc>
              </a:pPr>
            </a:p>
          </p:txBody>
        </p:sp>
      </p:grpSp>
      <p:grpSp>
        <p:nvGrpSpPr>
          <p:cNvPr name="Group 6" id="6"/>
          <p:cNvGrpSpPr/>
          <p:nvPr/>
        </p:nvGrpSpPr>
        <p:grpSpPr>
          <a:xfrm rot="0">
            <a:off x="-193450" y="3196155"/>
            <a:ext cx="18674901" cy="7378284"/>
            <a:chOff x="0" y="0"/>
            <a:chExt cx="24899868" cy="9837711"/>
          </a:xfrm>
        </p:grpSpPr>
        <p:grpSp>
          <p:nvGrpSpPr>
            <p:cNvPr name="Group 7" id="7"/>
            <p:cNvGrpSpPr/>
            <p:nvPr/>
          </p:nvGrpSpPr>
          <p:grpSpPr>
            <a:xfrm rot="0">
              <a:off x="0" y="4427815"/>
              <a:ext cx="3558057" cy="5409897"/>
              <a:chOff x="0" y="0"/>
              <a:chExt cx="812800" cy="1235833"/>
            </a:xfrm>
          </p:grpSpPr>
          <p:sp>
            <p:nvSpPr>
              <p:cNvPr name="Freeform 8" id="8"/>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9" id="9"/>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pPr>
              </a:p>
            </p:txBody>
          </p:sp>
        </p:grpSp>
        <p:grpSp>
          <p:nvGrpSpPr>
            <p:cNvPr name="Group 10" id="10"/>
            <p:cNvGrpSpPr/>
            <p:nvPr/>
          </p:nvGrpSpPr>
          <p:grpSpPr>
            <a:xfrm rot="0">
              <a:off x="21341811" y="4427815"/>
              <a:ext cx="3558057" cy="5409897"/>
              <a:chOff x="0" y="0"/>
              <a:chExt cx="812800" cy="1235833"/>
            </a:xfrm>
          </p:grpSpPr>
          <p:sp>
            <p:nvSpPr>
              <p:cNvPr name="Freeform 11" id="11"/>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12" id="12"/>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pPr>
              </a:p>
            </p:txBody>
          </p:sp>
        </p:grpSp>
        <p:grpSp>
          <p:nvGrpSpPr>
            <p:cNvPr name="Group 13" id="13"/>
            <p:cNvGrpSpPr/>
            <p:nvPr/>
          </p:nvGrpSpPr>
          <p:grpSpPr>
            <a:xfrm rot="0">
              <a:off x="3558057" y="3198827"/>
              <a:ext cx="3558057" cy="6638885"/>
              <a:chOff x="0" y="0"/>
              <a:chExt cx="812800" cy="1516582"/>
            </a:xfrm>
          </p:grpSpPr>
          <p:sp>
            <p:nvSpPr>
              <p:cNvPr name="Freeform 14" id="14"/>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15" id="15"/>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pPr>
              </a:p>
            </p:txBody>
          </p:sp>
        </p:grpSp>
        <p:grpSp>
          <p:nvGrpSpPr>
            <p:cNvPr name="Group 16" id="16"/>
            <p:cNvGrpSpPr/>
            <p:nvPr/>
          </p:nvGrpSpPr>
          <p:grpSpPr>
            <a:xfrm rot="0">
              <a:off x="17783754" y="3198827"/>
              <a:ext cx="3558057" cy="6638885"/>
              <a:chOff x="0" y="0"/>
              <a:chExt cx="812800" cy="1516582"/>
            </a:xfrm>
          </p:grpSpPr>
          <p:sp>
            <p:nvSpPr>
              <p:cNvPr name="Freeform 17" id="17"/>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18" id="18"/>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pPr>
              </a:p>
            </p:txBody>
          </p:sp>
        </p:grpSp>
        <p:grpSp>
          <p:nvGrpSpPr>
            <p:cNvPr name="Group 19" id="19"/>
            <p:cNvGrpSpPr/>
            <p:nvPr/>
          </p:nvGrpSpPr>
          <p:grpSpPr>
            <a:xfrm rot="0">
              <a:off x="7116114" y="1874177"/>
              <a:ext cx="3558057" cy="7963534"/>
              <a:chOff x="0" y="0"/>
              <a:chExt cx="812800" cy="1819184"/>
            </a:xfrm>
          </p:grpSpPr>
          <p:sp>
            <p:nvSpPr>
              <p:cNvPr name="Freeform 20" id="20"/>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1" id="21"/>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pPr>
              </a:p>
            </p:txBody>
          </p:sp>
        </p:grpSp>
        <p:grpSp>
          <p:nvGrpSpPr>
            <p:cNvPr name="Group 22" id="22"/>
            <p:cNvGrpSpPr/>
            <p:nvPr/>
          </p:nvGrpSpPr>
          <p:grpSpPr>
            <a:xfrm rot="0">
              <a:off x="14232228" y="1874177"/>
              <a:ext cx="3558057" cy="7963534"/>
              <a:chOff x="0" y="0"/>
              <a:chExt cx="812800" cy="1819184"/>
            </a:xfrm>
          </p:grpSpPr>
          <p:sp>
            <p:nvSpPr>
              <p:cNvPr name="Freeform 23" id="23"/>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4" id="24"/>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pPr>
              </a:p>
            </p:txBody>
          </p:sp>
        </p:grpSp>
        <p:grpSp>
          <p:nvGrpSpPr>
            <p:cNvPr name="Group 25" id="25"/>
            <p:cNvGrpSpPr/>
            <p:nvPr/>
          </p:nvGrpSpPr>
          <p:grpSpPr>
            <a:xfrm rot="0">
              <a:off x="10674171" y="0"/>
              <a:ext cx="3558057" cy="9837711"/>
              <a:chOff x="0" y="0"/>
              <a:chExt cx="812800" cy="2247320"/>
            </a:xfrm>
          </p:grpSpPr>
          <p:sp>
            <p:nvSpPr>
              <p:cNvPr name="Freeform 26" id="26"/>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7" id="27"/>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sp>
        <p:nvSpPr>
          <p:cNvPr name="Freeform 28" id="28"/>
          <p:cNvSpPr/>
          <p:nvPr/>
        </p:nvSpPr>
        <p:spPr>
          <a:xfrm flipH="false" flipV="false" rot="14455">
            <a:off x="5132665" y="6725989"/>
            <a:ext cx="6562922" cy="3568589"/>
          </a:xfrm>
          <a:custGeom>
            <a:avLst/>
            <a:gdLst/>
            <a:ahLst/>
            <a:cxnLst/>
            <a:rect r="r" b="b" t="t" l="l"/>
            <a:pathLst>
              <a:path h="3568589" w="6562922">
                <a:moveTo>
                  <a:pt x="0" y="0"/>
                </a:moveTo>
                <a:lnTo>
                  <a:pt x="6562922" y="0"/>
                </a:lnTo>
                <a:lnTo>
                  <a:pt x="6562922" y="3568588"/>
                </a:lnTo>
                <a:lnTo>
                  <a:pt x="0" y="3568588"/>
                </a:lnTo>
                <a:lnTo>
                  <a:pt x="0" y="0"/>
                </a:lnTo>
                <a:close/>
              </a:path>
            </a:pathLst>
          </a:custGeom>
          <a:blipFill>
            <a:blip r:embed="rId2">
              <a:alphaModFix amt="70000"/>
            </a:blip>
            <a:stretch>
              <a:fillRect l="0" t="0" r="0" b="0"/>
            </a:stretch>
          </a:blipFill>
        </p:spPr>
      </p:sp>
      <p:grpSp>
        <p:nvGrpSpPr>
          <p:cNvPr name="Group 29" id="29"/>
          <p:cNvGrpSpPr/>
          <p:nvPr/>
        </p:nvGrpSpPr>
        <p:grpSpPr>
          <a:xfrm rot="0">
            <a:off x="14367036" y="505729"/>
            <a:ext cx="3041054" cy="502851"/>
            <a:chOff x="0" y="0"/>
            <a:chExt cx="2457754" cy="406400"/>
          </a:xfrm>
        </p:grpSpPr>
        <p:sp>
          <p:nvSpPr>
            <p:cNvPr name="Freeform 30" id="30"/>
            <p:cNvSpPr/>
            <p:nvPr/>
          </p:nvSpPr>
          <p:spPr>
            <a:xfrm flipH="false" flipV="false" rot="0">
              <a:off x="0" y="0"/>
              <a:ext cx="2457754" cy="406400"/>
            </a:xfrm>
            <a:custGeom>
              <a:avLst/>
              <a:gdLst/>
              <a:ahLst/>
              <a:cxnLst/>
              <a:rect r="r" b="b" t="t" l="l"/>
              <a:pathLst>
                <a:path h="406400" w="2457754">
                  <a:moveTo>
                    <a:pt x="2254554" y="0"/>
                  </a:moveTo>
                  <a:cubicBezTo>
                    <a:pt x="2366778" y="0"/>
                    <a:pt x="2457754" y="90976"/>
                    <a:pt x="2457754" y="203200"/>
                  </a:cubicBezTo>
                  <a:cubicBezTo>
                    <a:pt x="2457754" y="315424"/>
                    <a:pt x="2366778" y="406400"/>
                    <a:pt x="2254554" y="406400"/>
                  </a:cubicBezTo>
                  <a:lnTo>
                    <a:pt x="203200" y="406400"/>
                  </a:lnTo>
                  <a:cubicBezTo>
                    <a:pt x="90976" y="406400"/>
                    <a:pt x="0" y="315424"/>
                    <a:pt x="0" y="203200"/>
                  </a:cubicBezTo>
                  <a:cubicBezTo>
                    <a:pt x="0" y="90976"/>
                    <a:pt x="90976" y="0"/>
                    <a:pt x="203200" y="0"/>
                  </a:cubicBezTo>
                  <a:close/>
                </a:path>
              </a:pathLst>
            </a:custGeom>
            <a:ln w="9525" cap="sq">
              <a:solidFill>
                <a:srgbClr val="EFEFEF"/>
              </a:solidFill>
              <a:prstDash val="solid"/>
              <a:miter/>
            </a:ln>
          </p:spPr>
        </p:sp>
        <p:sp>
          <p:nvSpPr>
            <p:cNvPr name="TextBox 31" id="31"/>
            <p:cNvSpPr txBox="true"/>
            <p:nvPr/>
          </p:nvSpPr>
          <p:spPr>
            <a:xfrm>
              <a:off x="0" y="0"/>
              <a:ext cx="2457754" cy="406400"/>
            </a:xfrm>
            <a:prstGeom prst="rect">
              <a:avLst/>
            </a:prstGeom>
          </p:spPr>
          <p:txBody>
            <a:bodyPr anchor="ctr" rtlCol="false" tIns="50800" lIns="50800" bIns="50800" rIns="50800"/>
            <a:lstStyle/>
            <a:p>
              <a:pPr algn="ctr" marL="0" indent="0" lvl="0">
                <a:lnSpc>
                  <a:spcPts val="2686"/>
                </a:lnSpc>
              </a:pPr>
            </a:p>
          </p:txBody>
        </p:sp>
      </p:grpSp>
      <p:grpSp>
        <p:nvGrpSpPr>
          <p:cNvPr name="Group 32" id="32"/>
          <p:cNvGrpSpPr/>
          <p:nvPr/>
        </p:nvGrpSpPr>
        <p:grpSpPr>
          <a:xfrm rot="0">
            <a:off x="9953770" y="505729"/>
            <a:ext cx="4279219" cy="502851"/>
            <a:chOff x="0" y="0"/>
            <a:chExt cx="3458428" cy="406400"/>
          </a:xfrm>
        </p:grpSpPr>
        <p:sp>
          <p:nvSpPr>
            <p:cNvPr name="Freeform 33" id="33"/>
            <p:cNvSpPr/>
            <p:nvPr/>
          </p:nvSpPr>
          <p:spPr>
            <a:xfrm flipH="false" flipV="false" rot="0">
              <a:off x="0" y="0"/>
              <a:ext cx="3458428" cy="406400"/>
            </a:xfrm>
            <a:custGeom>
              <a:avLst/>
              <a:gdLst/>
              <a:ahLst/>
              <a:cxnLst/>
              <a:rect r="r" b="b" t="t" l="l"/>
              <a:pathLst>
                <a:path h="406400" w="3458428">
                  <a:moveTo>
                    <a:pt x="3255228" y="0"/>
                  </a:moveTo>
                  <a:cubicBezTo>
                    <a:pt x="3367453" y="0"/>
                    <a:pt x="3458428" y="90976"/>
                    <a:pt x="3458428" y="203200"/>
                  </a:cubicBezTo>
                  <a:cubicBezTo>
                    <a:pt x="3458428" y="315424"/>
                    <a:pt x="3367453" y="406400"/>
                    <a:pt x="3255228" y="406400"/>
                  </a:cubicBezTo>
                  <a:lnTo>
                    <a:pt x="203200" y="406400"/>
                  </a:lnTo>
                  <a:cubicBezTo>
                    <a:pt x="90976" y="406400"/>
                    <a:pt x="0" y="315424"/>
                    <a:pt x="0" y="203200"/>
                  </a:cubicBezTo>
                  <a:cubicBezTo>
                    <a:pt x="0" y="90976"/>
                    <a:pt x="90976" y="0"/>
                    <a:pt x="203200" y="0"/>
                  </a:cubicBezTo>
                  <a:close/>
                </a:path>
              </a:pathLst>
            </a:custGeom>
            <a:solidFill>
              <a:srgbClr val="EFEFEF"/>
            </a:solidFill>
            <a:ln w="9525" cap="sq">
              <a:solidFill>
                <a:srgbClr val="EFEFEF"/>
              </a:solidFill>
              <a:prstDash val="solid"/>
              <a:miter/>
            </a:ln>
          </p:spPr>
        </p:sp>
        <p:sp>
          <p:nvSpPr>
            <p:cNvPr name="TextBox 34" id="34"/>
            <p:cNvSpPr txBox="true"/>
            <p:nvPr/>
          </p:nvSpPr>
          <p:spPr>
            <a:xfrm>
              <a:off x="0" y="0"/>
              <a:ext cx="3458428" cy="406400"/>
            </a:xfrm>
            <a:prstGeom prst="rect">
              <a:avLst/>
            </a:prstGeom>
          </p:spPr>
          <p:txBody>
            <a:bodyPr anchor="ctr" rtlCol="false" tIns="50800" lIns="50800" bIns="50800" rIns="50800"/>
            <a:lstStyle/>
            <a:p>
              <a:pPr algn="ctr" marL="0" indent="0" lvl="0">
                <a:lnSpc>
                  <a:spcPts val="2686"/>
                </a:lnSpc>
              </a:pPr>
            </a:p>
          </p:txBody>
        </p:sp>
      </p:grpSp>
      <p:sp>
        <p:nvSpPr>
          <p:cNvPr name="Freeform 35" id="35"/>
          <p:cNvSpPr/>
          <p:nvPr/>
        </p:nvSpPr>
        <p:spPr>
          <a:xfrm flipH="false" flipV="false" rot="0">
            <a:off x="1090400" y="559187"/>
            <a:ext cx="422594" cy="364968"/>
          </a:xfrm>
          <a:custGeom>
            <a:avLst/>
            <a:gdLst/>
            <a:ahLst/>
            <a:cxnLst/>
            <a:rect r="r" b="b" t="t" l="l"/>
            <a:pathLst>
              <a:path h="364968" w="422594">
                <a:moveTo>
                  <a:pt x="0" y="0"/>
                </a:moveTo>
                <a:lnTo>
                  <a:pt x="422594" y="0"/>
                </a:lnTo>
                <a:lnTo>
                  <a:pt x="422594" y="364968"/>
                </a:lnTo>
                <a:lnTo>
                  <a:pt x="0" y="3649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6" id="36"/>
          <p:cNvSpPr txBox="true"/>
          <p:nvPr/>
        </p:nvSpPr>
        <p:spPr>
          <a:xfrm rot="0">
            <a:off x="1746751" y="644579"/>
            <a:ext cx="3737193" cy="260795"/>
          </a:xfrm>
          <a:prstGeom prst="rect">
            <a:avLst/>
          </a:prstGeom>
        </p:spPr>
        <p:txBody>
          <a:bodyPr anchor="t" rtlCol="false" tIns="0" lIns="0" bIns="0" rIns="0">
            <a:spAutoFit/>
          </a:bodyPr>
          <a:lstStyle/>
          <a:p>
            <a:pPr algn="l" marL="0" indent="0" lvl="0">
              <a:lnSpc>
                <a:spcPts val="1934"/>
              </a:lnSpc>
            </a:pPr>
            <a:r>
              <a:rPr lang="en-US" b="true" sz="2198" spc="-98">
                <a:solidFill>
                  <a:srgbClr val="EFEFEF"/>
                </a:solidFill>
                <a:latin typeface="Open Sauce Medium"/>
                <a:ea typeface="Open Sauce Medium"/>
                <a:cs typeface="Open Sauce Medium"/>
                <a:sym typeface="Open Sauce Medium"/>
              </a:rPr>
              <a:t>Hüseyin Asan</a:t>
            </a:r>
          </a:p>
        </p:txBody>
      </p:sp>
      <p:sp>
        <p:nvSpPr>
          <p:cNvPr name="TextBox 37" id="37"/>
          <p:cNvSpPr txBox="true"/>
          <p:nvPr/>
        </p:nvSpPr>
        <p:spPr>
          <a:xfrm rot="0">
            <a:off x="14421703" y="677716"/>
            <a:ext cx="2931719" cy="416000"/>
          </a:xfrm>
          <a:prstGeom prst="rect">
            <a:avLst/>
          </a:prstGeom>
        </p:spPr>
        <p:txBody>
          <a:bodyPr anchor="t" rtlCol="false" tIns="0" lIns="0" bIns="0" rIns="0">
            <a:spAutoFit/>
          </a:bodyPr>
          <a:lstStyle/>
          <a:p>
            <a:pPr algn="ctr">
              <a:lnSpc>
                <a:spcPts val="1582"/>
              </a:lnSpc>
            </a:pPr>
            <a:r>
              <a:rPr lang="en-US" b="true" sz="1798" spc="-80">
                <a:solidFill>
                  <a:srgbClr val="EFEFEF"/>
                </a:solidFill>
                <a:latin typeface="Open Sauce Medium"/>
                <a:ea typeface="Open Sauce Medium"/>
                <a:cs typeface="Open Sauce Medium"/>
                <a:sym typeface="Open Sauce Medium"/>
              </a:rPr>
              <a:t>2026</a:t>
            </a:r>
          </a:p>
          <a:p>
            <a:pPr algn="ctr" marL="0" indent="0" lvl="0">
              <a:lnSpc>
                <a:spcPts val="1582"/>
              </a:lnSpc>
            </a:pPr>
          </a:p>
        </p:txBody>
      </p:sp>
      <p:sp>
        <p:nvSpPr>
          <p:cNvPr name="TextBox 38" id="38"/>
          <p:cNvSpPr txBox="true"/>
          <p:nvPr/>
        </p:nvSpPr>
        <p:spPr>
          <a:xfrm rot="0">
            <a:off x="9953770" y="677716"/>
            <a:ext cx="4279219" cy="215975"/>
          </a:xfrm>
          <a:prstGeom prst="rect">
            <a:avLst/>
          </a:prstGeom>
        </p:spPr>
        <p:txBody>
          <a:bodyPr anchor="t" rtlCol="false" tIns="0" lIns="0" bIns="0" rIns="0">
            <a:spAutoFit/>
          </a:bodyPr>
          <a:lstStyle/>
          <a:p>
            <a:pPr algn="ctr" marL="0" indent="0" lvl="0">
              <a:lnSpc>
                <a:spcPts val="1582"/>
              </a:lnSpc>
            </a:pPr>
            <a:r>
              <a:rPr lang="en-US" b="true" sz="1798" spc="-80">
                <a:solidFill>
                  <a:srgbClr val="0F042D"/>
                </a:solidFill>
                <a:latin typeface="Open Sauce Medium"/>
                <a:ea typeface="Open Sauce Medium"/>
                <a:cs typeface="Open Sauce Medium"/>
                <a:sym typeface="Open Sauce Medium"/>
              </a:rPr>
              <a:t>Presented by : Hüseyin Asan</a:t>
            </a:r>
          </a:p>
        </p:txBody>
      </p:sp>
      <p:sp>
        <p:nvSpPr>
          <p:cNvPr name="TextBox 39" id="39"/>
          <p:cNvSpPr txBox="true"/>
          <p:nvPr/>
        </p:nvSpPr>
        <p:spPr>
          <a:xfrm rot="0">
            <a:off x="10756243" y="6523671"/>
            <a:ext cx="6390936" cy="458135"/>
          </a:xfrm>
          <a:prstGeom prst="rect">
            <a:avLst/>
          </a:prstGeom>
        </p:spPr>
        <p:txBody>
          <a:bodyPr anchor="t" rtlCol="false" tIns="0" lIns="0" bIns="0" rIns="0">
            <a:spAutoFit/>
          </a:bodyPr>
          <a:lstStyle/>
          <a:p>
            <a:pPr algn="ctr" marL="0" indent="0" lvl="0">
              <a:lnSpc>
                <a:spcPts val="3372"/>
              </a:lnSpc>
            </a:pPr>
            <a:r>
              <a:rPr lang="en-US" b="true" sz="3832" spc="-172">
                <a:solidFill>
                  <a:srgbClr val="EFEFEF"/>
                </a:solidFill>
                <a:latin typeface="Open Sauce Medium"/>
                <a:ea typeface="Open Sauce Medium"/>
                <a:cs typeface="Open Sauce Medium"/>
                <a:sym typeface="Open Sauce Medium"/>
              </a:rPr>
              <a:t>Stat-Driven Dialogue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9953770" y="505729"/>
            <a:ext cx="4279219" cy="502851"/>
            <a:chOff x="0" y="0"/>
            <a:chExt cx="3458428" cy="406400"/>
          </a:xfrm>
        </p:grpSpPr>
        <p:sp>
          <p:nvSpPr>
            <p:cNvPr name="Freeform 3" id="3"/>
            <p:cNvSpPr/>
            <p:nvPr/>
          </p:nvSpPr>
          <p:spPr>
            <a:xfrm flipH="false" flipV="false" rot="0">
              <a:off x="0" y="0"/>
              <a:ext cx="3458428" cy="406400"/>
            </a:xfrm>
            <a:custGeom>
              <a:avLst/>
              <a:gdLst/>
              <a:ahLst/>
              <a:cxnLst/>
              <a:rect r="r" b="b" t="t" l="l"/>
              <a:pathLst>
                <a:path h="406400" w="3458428">
                  <a:moveTo>
                    <a:pt x="3255228" y="0"/>
                  </a:moveTo>
                  <a:cubicBezTo>
                    <a:pt x="3367453" y="0"/>
                    <a:pt x="3458428" y="90976"/>
                    <a:pt x="3458428" y="203200"/>
                  </a:cubicBezTo>
                  <a:cubicBezTo>
                    <a:pt x="3458428" y="315424"/>
                    <a:pt x="3367453" y="406400"/>
                    <a:pt x="3255228"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4" id="4"/>
            <p:cNvSpPr txBox="true"/>
            <p:nvPr/>
          </p:nvSpPr>
          <p:spPr>
            <a:xfrm>
              <a:off x="0" y="0"/>
              <a:ext cx="3458428" cy="406400"/>
            </a:xfrm>
            <a:prstGeom prst="rect">
              <a:avLst/>
            </a:prstGeom>
          </p:spPr>
          <p:txBody>
            <a:bodyPr anchor="ctr" rtlCol="false" tIns="50800" lIns="50800" bIns="50800" rIns="50800"/>
            <a:lstStyle/>
            <a:p>
              <a:pPr algn="ctr" marL="0" indent="0" lvl="0">
                <a:lnSpc>
                  <a:spcPts val="2686"/>
                </a:lnSpc>
              </a:pPr>
            </a:p>
          </p:txBody>
        </p:sp>
      </p:grpSp>
      <p:grpSp>
        <p:nvGrpSpPr>
          <p:cNvPr name="Group 5" id="5"/>
          <p:cNvGrpSpPr/>
          <p:nvPr/>
        </p:nvGrpSpPr>
        <p:grpSpPr>
          <a:xfrm rot="0">
            <a:off x="7087567" y="505729"/>
            <a:ext cx="2732854" cy="502851"/>
            <a:chOff x="0" y="0"/>
            <a:chExt cx="2208669" cy="406400"/>
          </a:xfrm>
        </p:grpSpPr>
        <p:sp>
          <p:nvSpPr>
            <p:cNvPr name="Freeform 6" id="6"/>
            <p:cNvSpPr/>
            <p:nvPr/>
          </p:nvSpPr>
          <p:spPr>
            <a:xfrm flipH="false" flipV="false" rot="0">
              <a:off x="0" y="0"/>
              <a:ext cx="2208669" cy="406400"/>
            </a:xfrm>
            <a:custGeom>
              <a:avLst/>
              <a:gdLst/>
              <a:ahLst/>
              <a:cxnLst/>
              <a:rect r="r" b="b" t="t" l="l"/>
              <a:pathLst>
                <a:path h="406400" w="2208669">
                  <a:moveTo>
                    <a:pt x="2005469" y="0"/>
                  </a:moveTo>
                  <a:cubicBezTo>
                    <a:pt x="2117693" y="0"/>
                    <a:pt x="2208669" y="90976"/>
                    <a:pt x="2208669" y="203200"/>
                  </a:cubicBezTo>
                  <a:cubicBezTo>
                    <a:pt x="2208669" y="315424"/>
                    <a:pt x="2117693" y="406400"/>
                    <a:pt x="2005469"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7" id="7"/>
            <p:cNvSpPr txBox="true"/>
            <p:nvPr/>
          </p:nvSpPr>
          <p:spPr>
            <a:xfrm>
              <a:off x="0" y="0"/>
              <a:ext cx="2208669" cy="406400"/>
            </a:xfrm>
            <a:prstGeom prst="rect">
              <a:avLst/>
            </a:prstGeom>
          </p:spPr>
          <p:txBody>
            <a:bodyPr anchor="ctr" rtlCol="false" tIns="50800" lIns="50800" bIns="50800" rIns="50800"/>
            <a:lstStyle/>
            <a:p>
              <a:pPr algn="ctr" marL="0" indent="0" lvl="0">
                <a:lnSpc>
                  <a:spcPts val="2686"/>
                </a:lnSpc>
              </a:pPr>
            </a:p>
          </p:txBody>
        </p:sp>
      </p:grpSp>
      <p:grpSp>
        <p:nvGrpSpPr>
          <p:cNvPr name="Group 8" id="8"/>
          <p:cNvGrpSpPr/>
          <p:nvPr/>
        </p:nvGrpSpPr>
        <p:grpSpPr>
          <a:xfrm rot="0">
            <a:off x="4657277" y="505729"/>
            <a:ext cx="3625880" cy="502851"/>
            <a:chOff x="0" y="0"/>
            <a:chExt cx="2930405" cy="406400"/>
          </a:xfrm>
        </p:grpSpPr>
        <p:sp>
          <p:nvSpPr>
            <p:cNvPr name="Freeform 9" id="9"/>
            <p:cNvSpPr/>
            <p:nvPr/>
          </p:nvSpPr>
          <p:spPr>
            <a:xfrm flipH="false" flipV="false" rot="0">
              <a:off x="0" y="0"/>
              <a:ext cx="2930405" cy="406400"/>
            </a:xfrm>
            <a:custGeom>
              <a:avLst/>
              <a:gdLst/>
              <a:ahLst/>
              <a:cxnLst/>
              <a:rect r="r" b="b" t="t" l="l"/>
              <a:pathLst>
                <a:path h="406400" w="2930405">
                  <a:moveTo>
                    <a:pt x="2727205" y="0"/>
                  </a:moveTo>
                  <a:cubicBezTo>
                    <a:pt x="2839429" y="0"/>
                    <a:pt x="2930405" y="90976"/>
                    <a:pt x="2930405" y="203200"/>
                  </a:cubicBezTo>
                  <a:cubicBezTo>
                    <a:pt x="2930405" y="315424"/>
                    <a:pt x="2839429" y="406400"/>
                    <a:pt x="2727205" y="406400"/>
                  </a:cubicBezTo>
                  <a:lnTo>
                    <a:pt x="203200" y="406400"/>
                  </a:lnTo>
                  <a:cubicBezTo>
                    <a:pt x="90976" y="406400"/>
                    <a:pt x="0" y="315424"/>
                    <a:pt x="0" y="203200"/>
                  </a:cubicBezTo>
                  <a:cubicBezTo>
                    <a:pt x="0" y="90976"/>
                    <a:pt x="90976" y="0"/>
                    <a:pt x="203200" y="0"/>
                  </a:cubicBezTo>
                  <a:close/>
                </a:path>
              </a:pathLst>
            </a:custGeom>
            <a:ln w="9525" cap="sq">
              <a:solidFill>
                <a:srgbClr val="0F042D"/>
              </a:solidFill>
              <a:prstDash val="solid"/>
              <a:miter/>
            </a:ln>
          </p:spPr>
        </p:sp>
        <p:sp>
          <p:nvSpPr>
            <p:cNvPr name="TextBox 10" id="10"/>
            <p:cNvSpPr txBox="true"/>
            <p:nvPr/>
          </p:nvSpPr>
          <p:spPr>
            <a:xfrm>
              <a:off x="0" y="0"/>
              <a:ext cx="2930405" cy="406400"/>
            </a:xfrm>
            <a:prstGeom prst="rect">
              <a:avLst/>
            </a:prstGeom>
          </p:spPr>
          <p:txBody>
            <a:bodyPr anchor="ctr" rtlCol="false" tIns="50800" lIns="50800" bIns="50800" rIns="50800"/>
            <a:lstStyle/>
            <a:p>
              <a:pPr algn="ctr" marL="0" indent="0" lvl="0">
                <a:lnSpc>
                  <a:spcPts val="2686"/>
                </a:lnSpc>
              </a:pPr>
            </a:p>
          </p:txBody>
        </p:sp>
      </p:grpSp>
      <p:sp>
        <p:nvSpPr>
          <p:cNvPr name="Freeform 11" id="11"/>
          <p:cNvSpPr/>
          <p:nvPr/>
        </p:nvSpPr>
        <p:spPr>
          <a:xfrm flipH="false" flipV="false" rot="0">
            <a:off x="1090400" y="559187"/>
            <a:ext cx="422594" cy="364968"/>
          </a:xfrm>
          <a:custGeom>
            <a:avLst/>
            <a:gdLst/>
            <a:ahLst/>
            <a:cxnLst/>
            <a:rect r="r" b="b" t="t" l="l"/>
            <a:pathLst>
              <a:path h="364968" w="422594">
                <a:moveTo>
                  <a:pt x="0" y="0"/>
                </a:moveTo>
                <a:lnTo>
                  <a:pt x="422594" y="0"/>
                </a:lnTo>
                <a:lnTo>
                  <a:pt x="422594" y="364968"/>
                </a:lnTo>
                <a:lnTo>
                  <a:pt x="0" y="364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746751" y="644579"/>
            <a:ext cx="3737193" cy="260795"/>
          </a:xfrm>
          <a:prstGeom prst="rect">
            <a:avLst/>
          </a:prstGeom>
        </p:spPr>
        <p:txBody>
          <a:bodyPr anchor="t" rtlCol="false" tIns="0" lIns="0" bIns="0" rIns="0">
            <a:spAutoFit/>
          </a:bodyPr>
          <a:lstStyle/>
          <a:p>
            <a:pPr algn="l" marL="0" indent="0" lvl="0">
              <a:lnSpc>
                <a:spcPts val="1934"/>
              </a:lnSpc>
            </a:pPr>
            <a:r>
              <a:rPr lang="en-US" b="true" sz="2198" spc="-98">
                <a:solidFill>
                  <a:srgbClr val="0F042D"/>
                </a:solidFill>
                <a:latin typeface="Open Sauce Medium"/>
                <a:ea typeface="Open Sauce Medium"/>
                <a:cs typeface="Open Sauce Medium"/>
                <a:sym typeface="Open Sauce Medium"/>
              </a:rPr>
              <a:t>DSDS Engine</a:t>
            </a:r>
          </a:p>
        </p:txBody>
      </p:sp>
      <p:sp>
        <p:nvSpPr>
          <p:cNvPr name="TextBox 13" id="13"/>
          <p:cNvSpPr txBox="true"/>
          <p:nvPr/>
        </p:nvSpPr>
        <p:spPr>
          <a:xfrm rot="0">
            <a:off x="4742541" y="677716"/>
            <a:ext cx="2345025" cy="215975"/>
          </a:xfrm>
          <a:prstGeom prst="rect">
            <a:avLst/>
          </a:prstGeom>
        </p:spPr>
        <p:txBody>
          <a:bodyPr anchor="t" rtlCol="false" tIns="0" lIns="0" bIns="0" rIns="0">
            <a:spAutoFit/>
          </a:bodyPr>
          <a:lstStyle/>
          <a:p>
            <a:pPr algn="ctr" marL="0" indent="0" lvl="0">
              <a:lnSpc>
                <a:spcPts val="1582"/>
              </a:lnSpc>
            </a:pPr>
            <a:r>
              <a:rPr lang="en-US" b="true" sz="1798" spc="-80">
                <a:solidFill>
                  <a:srgbClr val="0F042D"/>
                </a:solidFill>
                <a:latin typeface="Open Sauce Medium"/>
                <a:ea typeface="Open Sauce Medium"/>
                <a:cs typeface="Open Sauce Medium"/>
                <a:sym typeface="Open Sauce Medium"/>
              </a:rPr>
              <a:t>Investor Pitch</a:t>
            </a:r>
          </a:p>
        </p:txBody>
      </p:sp>
      <p:sp>
        <p:nvSpPr>
          <p:cNvPr name="TextBox 14" id="14"/>
          <p:cNvSpPr txBox="true"/>
          <p:nvPr/>
        </p:nvSpPr>
        <p:spPr>
          <a:xfrm rot="0">
            <a:off x="9953770" y="677716"/>
            <a:ext cx="4279219" cy="215975"/>
          </a:xfrm>
          <a:prstGeom prst="rect">
            <a:avLst/>
          </a:prstGeom>
        </p:spPr>
        <p:txBody>
          <a:bodyPr anchor="t" rtlCol="false" tIns="0" lIns="0" bIns="0" rIns="0">
            <a:spAutoFit/>
          </a:bodyPr>
          <a:lstStyle/>
          <a:p>
            <a:pPr algn="ctr" marL="0" indent="0" lvl="0">
              <a:lnSpc>
                <a:spcPts val="1582"/>
              </a:lnSpc>
            </a:pPr>
            <a:r>
              <a:rPr lang="en-US" b="true" sz="1798" spc="-80">
                <a:solidFill>
                  <a:srgbClr val="EFEFEF"/>
                </a:solidFill>
                <a:latin typeface="Open Sauce Medium"/>
                <a:ea typeface="Open Sauce Medium"/>
                <a:cs typeface="Open Sauce Medium"/>
                <a:sym typeface="Open Sauce Medium"/>
              </a:rPr>
              <a:t>Presented by : Hüseyin Asan</a:t>
            </a:r>
          </a:p>
        </p:txBody>
      </p:sp>
      <p:sp>
        <p:nvSpPr>
          <p:cNvPr name="TextBox 15" id="15"/>
          <p:cNvSpPr txBox="true"/>
          <p:nvPr/>
        </p:nvSpPr>
        <p:spPr>
          <a:xfrm rot="0">
            <a:off x="7145539" y="677716"/>
            <a:ext cx="2674881" cy="215975"/>
          </a:xfrm>
          <a:prstGeom prst="rect">
            <a:avLst/>
          </a:prstGeom>
        </p:spPr>
        <p:txBody>
          <a:bodyPr anchor="t" rtlCol="false" tIns="0" lIns="0" bIns="0" rIns="0">
            <a:spAutoFit/>
          </a:bodyPr>
          <a:lstStyle/>
          <a:p>
            <a:pPr algn="ctr" marL="0" indent="0" lvl="0">
              <a:lnSpc>
                <a:spcPts val="1582"/>
              </a:lnSpc>
            </a:pPr>
            <a:r>
              <a:rPr lang="en-US" b="true" sz="1798" spc="-80">
                <a:solidFill>
                  <a:srgbClr val="EFEFEF"/>
                </a:solidFill>
                <a:latin typeface="Open Sauce Medium"/>
                <a:ea typeface="Open Sauce Medium"/>
                <a:cs typeface="Open Sauce Medium"/>
                <a:sym typeface="Open Sauce Medium"/>
              </a:rPr>
              <a:t>Game Development</a:t>
            </a:r>
          </a:p>
        </p:txBody>
      </p:sp>
      <p:grpSp>
        <p:nvGrpSpPr>
          <p:cNvPr name="Group 16" id="16"/>
          <p:cNvGrpSpPr/>
          <p:nvPr/>
        </p:nvGrpSpPr>
        <p:grpSpPr>
          <a:xfrm rot="0">
            <a:off x="-193450" y="3108806"/>
            <a:ext cx="18674901" cy="7378284"/>
            <a:chOff x="0" y="0"/>
            <a:chExt cx="24899868" cy="9837711"/>
          </a:xfrm>
        </p:grpSpPr>
        <p:grpSp>
          <p:nvGrpSpPr>
            <p:cNvPr name="Group 17" id="17"/>
            <p:cNvGrpSpPr/>
            <p:nvPr/>
          </p:nvGrpSpPr>
          <p:grpSpPr>
            <a:xfrm rot="0">
              <a:off x="0" y="4427815"/>
              <a:ext cx="3558057" cy="5409897"/>
              <a:chOff x="0" y="0"/>
              <a:chExt cx="812800" cy="1235833"/>
            </a:xfrm>
          </p:grpSpPr>
          <p:sp>
            <p:nvSpPr>
              <p:cNvPr name="Freeform 18" id="18"/>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9" id="19"/>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0" id="20"/>
            <p:cNvGrpSpPr/>
            <p:nvPr/>
          </p:nvGrpSpPr>
          <p:grpSpPr>
            <a:xfrm rot="0">
              <a:off x="21341811" y="4427815"/>
              <a:ext cx="3558057" cy="5409897"/>
              <a:chOff x="0" y="0"/>
              <a:chExt cx="812800" cy="1235833"/>
            </a:xfrm>
          </p:grpSpPr>
          <p:sp>
            <p:nvSpPr>
              <p:cNvPr name="Freeform 21" id="21"/>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2" id="22"/>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3" id="23"/>
            <p:cNvGrpSpPr/>
            <p:nvPr/>
          </p:nvGrpSpPr>
          <p:grpSpPr>
            <a:xfrm rot="0">
              <a:off x="3558057" y="3198827"/>
              <a:ext cx="3558057" cy="6638885"/>
              <a:chOff x="0" y="0"/>
              <a:chExt cx="812800" cy="1516582"/>
            </a:xfrm>
          </p:grpSpPr>
          <p:sp>
            <p:nvSpPr>
              <p:cNvPr name="Freeform 24" id="24"/>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5" id="25"/>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6" id="26"/>
            <p:cNvGrpSpPr/>
            <p:nvPr/>
          </p:nvGrpSpPr>
          <p:grpSpPr>
            <a:xfrm rot="0">
              <a:off x="17783754" y="3198827"/>
              <a:ext cx="3558057" cy="6638885"/>
              <a:chOff x="0" y="0"/>
              <a:chExt cx="812800" cy="1516582"/>
            </a:xfrm>
          </p:grpSpPr>
          <p:sp>
            <p:nvSpPr>
              <p:cNvPr name="Freeform 27" id="27"/>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8" id="28"/>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9" id="29"/>
            <p:cNvGrpSpPr/>
            <p:nvPr/>
          </p:nvGrpSpPr>
          <p:grpSpPr>
            <a:xfrm rot="0">
              <a:off x="7116114" y="1874177"/>
              <a:ext cx="3558057" cy="7963534"/>
              <a:chOff x="0" y="0"/>
              <a:chExt cx="812800" cy="1819184"/>
            </a:xfrm>
          </p:grpSpPr>
          <p:sp>
            <p:nvSpPr>
              <p:cNvPr name="Freeform 30" id="30"/>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31" id="31"/>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32" id="32"/>
            <p:cNvGrpSpPr/>
            <p:nvPr/>
          </p:nvGrpSpPr>
          <p:grpSpPr>
            <a:xfrm rot="0">
              <a:off x="14232228" y="1874177"/>
              <a:ext cx="3558057" cy="7963534"/>
              <a:chOff x="0" y="0"/>
              <a:chExt cx="812800" cy="1819184"/>
            </a:xfrm>
          </p:grpSpPr>
          <p:sp>
            <p:nvSpPr>
              <p:cNvPr name="Freeform 33" id="33"/>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34" id="34"/>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35" id="35"/>
            <p:cNvGrpSpPr/>
            <p:nvPr/>
          </p:nvGrpSpPr>
          <p:grpSpPr>
            <a:xfrm rot="0">
              <a:off x="10674171" y="0"/>
              <a:ext cx="3558057" cy="9837711"/>
              <a:chOff x="0" y="0"/>
              <a:chExt cx="812800" cy="2247320"/>
            </a:xfrm>
          </p:grpSpPr>
          <p:sp>
            <p:nvSpPr>
              <p:cNvPr name="Freeform 36" id="36"/>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37" id="37"/>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grpSp>
        <p:nvGrpSpPr>
          <p:cNvPr name="Group 38" id="38"/>
          <p:cNvGrpSpPr/>
          <p:nvPr/>
        </p:nvGrpSpPr>
        <p:grpSpPr>
          <a:xfrm rot="0">
            <a:off x="14608384" y="1876277"/>
            <a:ext cx="3401913" cy="7157609"/>
            <a:chOff x="0" y="0"/>
            <a:chExt cx="352977" cy="742661"/>
          </a:xfrm>
        </p:grpSpPr>
        <p:sp>
          <p:nvSpPr>
            <p:cNvPr name="Freeform 39" id="39"/>
            <p:cNvSpPr/>
            <p:nvPr/>
          </p:nvSpPr>
          <p:spPr>
            <a:xfrm flipH="false" flipV="false" rot="0">
              <a:off x="0" y="0"/>
              <a:ext cx="352977" cy="742661"/>
            </a:xfrm>
            <a:custGeom>
              <a:avLst/>
              <a:gdLst/>
              <a:ahLst/>
              <a:cxnLst/>
              <a:rect r="r" b="b" t="t" l="l"/>
              <a:pathLst>
                <a:path h="742661" w="352977">
                  <a:moveTo>
                    <a:pt x="81927" y="0"/>
                  </a:moveTo>
                  <a:lnTo>
                    <a:pt x="271049" y="0"/>
                  </a:lnTo>
                  <a:cubicBezTo>
                    <a:pt x="292778" y="0"/>
                    <a:pt x="313616" y="8632"/>
                    <a:pt x="328981" y="23996"/>
                  </a:cubicBezTo>
                  <a:cubicBezTo>
                    <a:pt x="344345" y="39360"/>
                    <a:pt x="352977" y="60199"/>
                    <a:pt x="352977" y="81927"/>
                  </a:cubicBezTo>
                  <a:lnTo>
                    <a:pt x="352977" y="660734"/>
                  </a:lnTo>
                  <a:cubicBezTo>
                    <a:pt x="352977" y="682462"/>
                    <a:pt x="344345" y="703301"/>
                    <a:pt x="328981" y="718665"/>
                  </a:cubicBezTo>
                  <a:cubicBezTo>
                    <a:pt x="313616" y="734030"/>
                    <a:pt x="292778" y="742661"/>
                    <a:pt x="271049" y="742661"/>
                  </a:cubicBezTo>
                  <a:lnTo>
                    <a:pt x="81927" y="742661"/>
                  </a:lnTo>
                  <a:cubicBezTo>
                    <a:pt x="60199" y="742661"/>
                    <a:pt x="39360" y="734030"/>
                    <a:pt x="23996" y="718665"/>
                  </a:cubicBezTo>
                  <a:cubicBezTo>
                    <a:pt x="8632" y="703301"/>
                    <a:pt x="0" y="682462"/>
                    <a:pt x="0" y="660734"/>
                  </a:cubicBezTo>
                  <a:lnTo>
                    <a:pt x="0" y="81927"/>
                  </a:lnTo>
                  <a:cubicBezTo>
                    <a:pt x="0" y="60199"/>
                    <a:pt x="8632" y="39360"/>
                    <a:pt x="23996" y="23996"/>
                  </a:cubicBezTo>
                  <a:cubicBezTo>
                    <a:pt x="39360" y="8632"/>
                    <a:pt x="60199" y="0"/>
                    <a:pt x="81927" y="0"/>
                  </a:cubicBezTo>
                  <a:close/>
                </a:path>
              </a:pathLst>
            </a:custGeom>
            <a:blipFill>
              <a:blip r:embed="rId4">
                <a:alphaModFix amt="68000"/>
              </a:blip>
              <a:stretch>
                <a:fillRect l="-9963" t="0" r="-9963" b="0"/>
              </a:stretch>
            </a:blipFill>
            <a:ln w="9525" cap="rnd">
              <a:solidFill>
                <a:srgbClr val="0F042D">
                  <a:alpha val="67843"/>
                </a:srgbClr>
              </a:solidFill>
              <a:prstDash val="solid"/>
              <a:round/>
            </a:ln>
          </p:spPr>
        </p:sp>
      </p:grpSp>
      <p:grpSp>
        <p:nvGrpSpPr>
          <p:cNvPr name="Group 40" id="40"/>
          <p:cNvGrpSpPr/>
          <p:nvPr/>
        </p:nvGrpSpPr>
        <p:grpSpPr>
          <a:xfrm rot="0">
            <a:off x="9586510" y="1876277"/>
            <a:ext cx="3401913" cy="7157609"/>
            <a:chOff x="0" y="0"/>
            <a:chExt cx="352977" cy="742661"/>
          </a:xfrm>
        </p:grpSpPr>
        <p:sp>
          <p:nvSpPr>
            <p:cNvPr name="Freeform 41" id="41"/>
            <p:cNvSpPr/>
            <p:nvPr/>
          </p:nvSpPr>
          <p:spPr>
            <a:xfrm flipH="false" flipV="false" rot="0">
              <a:off x="0" y="0"/>
              <a:ext cx="352977" cy="742661"/>
            </a:xfrm>
            <a:custGeom>
              <a:avLst/>
              <a:gdLst/>
              <a:ahLst/>
              <a:cxnLst/>
              <a:rect r="r" b="b" t="t" l="l"/>
              <a:pathLst>
                <a:path h="742661" w="352977">
                  <a:moveTo>
                    <a:pt x="81927" y="0"/>
                  </a:moveTo>
                  <a:lnTo>
                    <a:pt x="271049" y="0"/>
                  </a:lnTo>
                  <a:cubicBezTo>
                    <a:pt x="292778" y="0"/>
                    <a:pt x="313616" y="8632"/>
                    <a:pt x="328981" y="23996"/>
                  </a:cubicBezTo>
                  <a:cubicBezTo>
                    <a:pt x="344345" y="39360"/>
                    <a:pt x="352977" y="60199"/>
                    <a:pt x="352977" y="81927"/>
                  </a:cubicBezTo>
                  <a:lnTo>
                    <a:pt x="352977" y="660734"/>
                  </a:lnTo>
                  <a:cubicBezTo>
                    <a:pt x="352977" y="682462"/>
                    <a:pt x="344345" y="703301"/>
                    <a:pt x="328981" y="718665"/>
                  </a:cubicBezTo>
                  <a:cubicBezTo>
                    <a:pt x="313616" y="734030"/>
                    <a:pt x="292778" y="742661"/>
                    <a:pt x="271049" y="742661"/>
                  </a:cubicBezTo>
                  <a:lnTo>
                    <a:pt x="81927" y="742661"/>
                  </a:lnTo>
                  <a:cubicBezTo>
                    <a:pt x="60199" y="742661"/>
                    <a:pt x="39360" y="734030"/>
                    <a:pt x="23996" y="718665"/>
                  </a:cubicBezTo>
                  <a:cubicBezTo>
                    <a:pt x="8632" y="703301"/>
                    <a:pt x="0" y="682462"/>
                    <a:pt x="0" y="660734"/>
                  </a:cubicBezTo>
                  <a:lnTo>
                    <a:pt x="0" y="81927"/>
                  </a:lnTo>
                  <a:cubicBezTo>
                    <a:pt x="0" y="60199"/>
                    <a:pt x="8632" y="39360"/>
                    <a:pt x="23996" y="23996"/>
                  </a:cubicBezTo>
                  <a:cubicBezTo>
                    <a:pt x="39360" y="8632"/>
                    <a:pt x="60199" y="0"/>
                    <a:pt x="81927" y="0"/>
                  </a:cubicBezTo>
                  <a:close/>
                </a:path>
              </a:pathLst>
            </a:custGeom>
            <a:blipFill>
              <a:blip r:embed="rId5">
                <a:alphaModFix amt="68000"/>
              </a:blip>
              <a:stretch>
                <a:fillRect l="-9963" t="0" r="-9963" b="0"/>
              </a:stretch>
            </a:blipFill>
            <a:ln w="9525" cap="rnd">
              <a:solidFill>
                <a:srgbClr val="0F042D">
                  <a:alpha val="67843"/>
                </a:srgbClr>
              </a:solidFill>
              <a:prstDash val="solid"/>
              <a:round/>
            </a:ln>
          </p:spPr>
        </p:sp>
      </p:grpSp>
      <p:grpSp>
        <p:nvGrpSpPr>
          <p:cNvPr name="Group 42" id="42"/>
          <p:cNvGrpSpPr/>
          <p:nvPr/>
        </p:nvGrpSpPr>
        <p:grpSpPr>
          <a:xfrm rot="0">
            <a:off x="10337507" y="1651862"/>
            <a:ext cx="6921793" cy="7606438"/>
            <a:chOff x="0" y="0"/>
            <a:chExt cx="675815" cy="742661"/>
          </a:xfrm>
        </p:grpSpPr>
        <p:sp>
          <p:nvSpPr>
            <p:cNvPr name="Freeform 43" id="43"/>
            <p:cNvSpPr/>
            <p:nvPr/>
          </p:nvSpPr>
          <p:spPr>
            <a:xfrm flipH="false" flipV="false" rot="0">
              <a:off x="0" y="0"/>
              <a:ext cx="675815" cy="742661"/>
            </a:xfrm>
            <a:custGeom>
              <a:avLst/>
              <a:gdLst/>
              <a:ahLst/>
              <a:cxnLst/>
              <a:rect r="r" b="b" t="t" l="l"/>
              <a:pathLst>
                <a:path h="742661" w="675815">
                  <a:moveTo>
                    <a:pt x="40265" y="0"/>
                  </a:moveTo>
                  <a:lnTo>
                    <a:pt x="635550" y="0"/>
                  </a:lnTo>
                  <a:cubicBezTo>
                    <a:pt x="646229" y="0"/>
                    <a:pt x="656471" y="4242"/>
                    <a:pt x="664022" y="11793"/>
                  </a:cubicBezTo>
                  <a:cubicBezTo>
                    <a:pt x="671573" y="19345"/>
                    <a:pt x="675815" y="29586"/>
                    <a:pt x="675815" y="40265"/>
                  </a:cubicBezTo>
                  <a:lnTo>
                    <a:pt x="675815" y="702396"/>
                  </a:lnTo>
                  <a:cubicBezTo>
                    <a:pt x="675815" y="713075"/>
                    <a:pt x="671573" y="723316"/>
                    <a:pt x="664022" y="730868"/>
                  </a:cubicBezTo>
                  <a:cubicBezTo>
                    <a:pt x="656471" y="738419"/>
                    <a:pt x="646229" y="742661"/>
                    <a:pt x="635550" y="742661"/>
                  </a:cubicBezTo>
                  <a:lnTo>
                    <a:pt x="40265" y="742661"/>
                  </a:lnTo>
                  <a:cubicBezTo>
                    <a:pt x="29586" y="742661"/>
                    <a:pt x="19345" y="738419"/>
                    <a:pt x="11793" y="730868"/>
                  </a:cubicBezTo>
                  <a:cubicBezTo>
                    <a:pt x="4242" y="723316"/>
                    <a:pt x="0" y="713075"/>
                    <a:pt x="0" y="702396"/>
                  </a:cubicBezTo>
                  <a:lnTo>
                    <a:pt x="0" y="40265"/>
                  </a:lnTo>
                  <a:cubicBezTo>
                    <a:pt x="0" y="29586"/>
                    <a:pt x="4242" y="19345"/>
                    <a:pt x="11793" y="11793"/>
                  </a:cubicBezTo>
                  <a:cubicBezTo>
                    <a:pt x="19345" y="4242"/>
                    <a:pt x="29586" y="0"/>
                    <a:pt x="40265" y="0"/>
                  </a:cubicBezTo>
                  <a:close/>
                </a:path>
              </a:pathLst>
            </a:custGeom>
            <a:blipFill>
              <a:blip r:embed="rId6"/>
              <a:stretch>
                <a:fillRect l="-4945" t="0" r="-4945" b="0"/>
              </a:stretch>
            </a:blipFill>
            <a:ln w="9525" cap="rnd">
              <a:solidFill>
                <a:srgbClr val="0F042D"/>
              </a:solidFill>
              <a:prstDash val="solid"/>
              <a:round/>
            </a:ln>
          </p:spPr>
        </p:sp>
      </p:grpSp>
      <p:sp>
        <p:nvSpPr>
          <p:cNvPr name="TextBox 44" id="44"/>
          <p:cNvSpPr txBox="true"/>
          <p:nvPr/>
        </p:nvSpPr>
        <p:spPr>
          <a:xfrm rot="0">
            <a:off x="1028700" y="1804262"/>
            <a:ext cx="8179830" cy="1302493"/>
          </a:xfrm>
          <a:prstGeom prst="rect">
            <a:avLst/>
          </a:prstGeom>
        </p:spPr>
        <p:txBody>
          <a:bodyPr anchor="t" rtlCol="false" tIns="0" lIns="0" bIns="0" rIns="0">
            <a:spAutoFit/>
          </a:bodyPr>
          <a:lstStyle/>
          <a:p>
            <a:pPr algn="l" marL="0" indent="0" lvl="0">
              <a:lnSpc>
                <a:spcPts val="9881"/>
              </a:lnSpc>
            </a:pPr>
            <a:r>
              <a:rPr lang="en-US" b="true" sz="9593" spc="-431">
                <a:solidFill>
                  <a:srgbClr val="0F042D"/>
                </a:solidFill>
                <a:latin typeface="Open Sauce Medium"/>
                <a:ea typeface="Open Sauce Medium"/>
                <a:cs typeface="Open Sauce Medium"/>
                <a:sym typeface="Open Sauce Medium"/>
              </a:rPr>
              <a:t>Misyonumuz</a:t>
            </a:r>
          </a:p>
        </p:txBody>
      </p:sp>
      <p:sp>
        <p:nvSpPr>
          <p:cNvPr name="TextBox 45" id="45"/>
          <p:cNvSpPr txBox="true"/>
          <p:nvPr/>
        </p:nvSpPr>
        <p:spPr>
          <a:xfrm rot="0">
            <a:off x="1093230" y="3477093"/>
            <a:ext cx="7189926" cy="1177306"/>
          </a:xfrm>
          <a:prstGeom prst="rect">
            <a:avLst/>
          </a:prstGeom>
        </p:spPr>
        <p:txBody>
          <a:bodyPr anchor="t" rtlCol="false" tIns="0" lIns="0" bIns="0" rIns="0">
            <a:spAutoFit/>
          </a:bodyPr>
          <a:lstStyle/>
          <a:p>
            <a:pPr algn="l" marL="0" indent="0" lvl="0">
              <a:lnSpc>
                <a:spcPts val="2338"/>
              </a:lnSpc>
            </a:pPr>
            <a:r>
              <a:rPr lang="en-US" sz="1798" spc="-57" strike="noStrike" u="none">
                <a:solidFill>
                  <a:srgbClr val="0F042D"/>
                </a:solidFill>
                <a:latin typeface="Aileron Light"/>
                <a:ea typeface="Aileron Light"/>
                <a:cs typeface="Aileron Light"/>
                <a:sym typeface="Aileron Light"/>
              </a:rPr>
              <a:t>Dynamic Stat-Driven Dialogue System, RPG türündeki oyunlarda oyuncu istatistiklerine duyarlı, modüler ve akıllı bir anlatı motoru sunmayı hedeflemektedir. Geleneksel çizgisel diyalog sistemlerinin sınırlarını aşarak, her oyuncuya özgü dinamik bir hikâye deneyimi yaratır.</a:t>
            </a:r>
          </a:p>
        </p:txBody>
      </p:sp>
      <p:grpSp>
        <p:nvGrpSpPr>
          <p:cNvPr name="Group 46" id="46"/>
          <p:cNvGrpSpPr/>
          <p:nvPr/>
        </p:nvGrpSpPr>
        <p:grpSpPr>
          <a:xfrm rot="0">
            <a:off x="6780503" y="6344592"/>
            <a:ext cx="4941681" cy="2622227"/>
            <a:chOff x="0" y="0"/>
            <a:chExt cx="1301513" cy="690628"/>
          </a:xfrm>
        </p:grpSpPr>
        <p:sp>
          <p:nvSpPr>
            <p:cNvPr name="Freeform 47" id="47"/>
            <p:cNvSpPr/>
            <p:nvPr/>
          </p:nvSpPr>
          <p:spPr>
            <a:xfrm flipH="false" flipV="false" rot="0">
              <a:off x="0" y="0"/>
              <a:ext cx="1301513" cy="690628"/>
            </a:xfrm>
            <a:custGeom>
              <a:avLst/>
              <a:gdLst/>
              <a:ahLst/>
              <a:cxnLst/>
              <a:rect r="r" b="b" t="t" l="l"/>
              <a:pathLst>
                <a:path h="690628" w="1301513">
                  <a:moveTo>
                    <a:pt x="56400" y="0"/>
                  </a:moveTo>
                  <a:lnTo>
                    <a:pt x="1245113" y="0"/>
                  </a:lnTo>
                  <a:cubicBezTo>
                    <a:pt x="1276262" y="0"/>
                    <a:pt x="1301513" y="25251"/>
                    <a:pt x="1301513" y="56400"/>
                  </a:cubicBezTo>
                  <a:lnTo>
                    <a:pt x="1301513" y="634228"/>
                  </a:lnTo>
                  <a:cubicBezTo>
                    <a:pt x="1301513" y="665377"/>
                    <a:pt x="1276262" y="690628"/>
                    <a:pt x="1245113" y="690628"/>
                  </a:cubicBezTo>
                  <a:lnTo>
                    <a:pt x="56400" y="690628"/>
                  </a:lnTo>
                  <a:cubicBezTo>
                    <a:pt x="25251" y="690628"/>
                    <a:pt x="0" y="665377"/>
                    <a:pt x="0" y="634228"/>
                  </a:cubicBezTo>
                  <a:lnTo>
                    <a:pt x="0" y="56400"/>
                  </a:lnTo>
                  <a:cubicBezTo>
                    <a:pt x="0" y="25251"/>
                    <a:pt x="25251" y="0"/>
                    <a:pt x="56400" y="0"/>
                  </a:cubicBezTo>
                  <a:close/>
                </a:path>
              </a:pathLst>
            </a:custGeom>
            <a:gradFill rotWithShape="true">
              <a:gsLst>
                <a:gs pos="0">
                  <a:srgbClr val="573F9D">
                    <a:alpha val="100000"/>
                  </a:srgbClr>
                </a:gs>
                <a:gs pos="50000">
                  <a:srgbClr val="332069">
                    <a:alpha val="100000"/>
                  </a:srgbClr>
                </a:gs>
                <a:gs pos="100000">
                  <a:srgbClr val="0F042D">
                    <a:alpha val="100000"/>
                  </a:srgbClr>
                </a:gs>
              </a:gsLst>
              <a:lin ang="2700000"/>
            </a:gradFill>
            <a:ln w="19050" cap="rnd">
              <a:solidFill>
                <a:srgbClr val="EFEFEF"/>
              </a:solidFill>
              <a:prstDash val="solid"/>
              <a:round/>
            </a:ln>
          </p:spPr>
        </p:sp>
        <p:sp>
          <p:nvSpPr>
            <p:cNvPr name="TextBox 48" id="48"/>
            <p:cNvSpPr txBox="true"/>
            <p:nvPr/>
          </p:nvSpPr>
          <p:spPr>
            <a:xfrm>
              <a:off x="0" y="0"/>
              <a:ext cx="1301513" cy="690628"/>
            </a:xfrm>
            <a:prstGeom prst="rect">
              <a:avLst/>
            </a:prstGeom>
          </p:spPr>
          <p:txBody>
            <a:bodyPr anchor="ctr" rtlCol="false" tIns="50800" lIns="50800" bIns="50800" rIns="50800"/>
            <a:lstStyle/>
            <a:p>
              <a:pPr algn="ctr" marL="0" indent="0" lvl="0">
                <a:lnSpc>
                  <a:spcPts val="2686"/>
                </a:lnSpc>
              </a:pPr>
            </a:p>
          </p:txBody>
        </p:sp>
      </p:grpSp>
      <p:grpSp>
        <p:nvGrpSpPr>
          <p:cNvPr name="Group 49" id="49"/>
          <p:cNvGrpSpPr/>
          <p:nvPr/>
        </p:nvGrpSpPr>
        <p:grpSpPr>
          <a:xfrm rot="0">
            <a:off x="1028700" y="6016340"/>
            <a:ext cx="4941681" cy="2477410"/>
            <a:chOff x="0" y="0"/>
            <a:chExt cx="1301513" cy="652487"/>
          </a:xfrm>
        </p:grpSpPr>
        <p:sp>
          <p:nvSpPr>
            <p:cNvPr name="Freeform 50" id="50"/>
            <p:cNvSpPr/>
            <p:nvPr/>
          </p:nvSpPr>
          <p:spPr>
            <a:xfrm flipH="false" flipV="false" rot="0">
              <a:off x="0" y="0"/>
              <a:ext cx="1301513" cy="652487"/>
            </a:xfrm>
            <a:custGeom>
              <a:avLst/>
              <a:gdLst/>
              <a:ahLst/>
              <a:cxnLst/>
              <a:rect r="r" b="b" t="t" l="l"/>
              <a:pathLst>
                <a:path h="652487" w="1301513">
                  <a:moveTo>
                    <a:pt x="56400" y="0"/>
                  </a:moveTo>
                  <a:lnTo>
                    <a:pt x="1245113" y="0"/>
                  </a:lnTo>
                  <a:cubicBezTo>
                    <a:pt x="1276262" y="0"/>
                    <a:pt x="1301513" y="25251"/>
                    <a:pt x="1301513" y="56400"/>
                  </a:cubicBezTo>
                  <a:lnTo>
                    <a:pt x="1301513" y="596087"/>
                  </a:lnTo>
                  <a:cubicBezTo>
                    <a:pt x="1301513" y="627236"/>
                    <a:pt x="1276262" y="652487"/>
                    <a:pt x="1245113" y="652487"/>
                  </a:cubicBezTo>
                  <a:lnTo>
                    <a:pt x="56400" y="652487"/>
                  </a:lnTo>
                  <a:cubicBezTo>
                    <a:pt x="25251" y="652487"/>
                    <a:pt x="0" y="627236"/>
                    <a:pt x="0" y="596087"/>
                  </a:cubicBezTo>
                  <a:lnTo>
                    <a:pt x="0" y="56400"/>
                  </a:lnTo>
                  <a:cubicBezTo>
                    <a:pt x="0" y="25251"/>
                    <a:pt x="25251" y="0"/>
                    <a:pt x="56400" y="0"/>
                  </a:cubicBezTo>
                  <a:close/>
                </a:path>
              </a:pathLst>
            </a:custGeom>
            <a:ln w="19050" cap="rnd">
              <a:solidFill>
                <a:srgbClr val="0F042D"/>
              </a:solidFill>
              <a:prstDash val="solid"/>
              <a:round/>
            </a:ln>
          </p:spPr>
        </p:sp>
        <p:sp>
          <p:nvSpPr>
            <p:cNvPr name="TextBox 51" id="51"/>
            <p:cNvSpPr txBox="true"/>
            <p:nvPr/>
          </p:nvSpPr>
          <p:spPr>
            <a:xfrm>
              <a:off x="0" y="0"/>
              <a:ext cx="1301513" cy="652487"/>
            </a:xfrm>
            <a:prstGeom prst="rect">
              <a:avLst/>
            </a:prstGeom>
          </p:spPr>
          <p:txBody>
            <a:bodyPr anchor="ctr" rtlCol="false" tIns="50800" lIns="50800" bIns="50800" rIns="50800"/>
            <a:lstStyle/>
            <a:p>
              <a:pPr algn="ctr" marL="0" indent="0" lvl="0">
                <a:lnSpc>
                  <a:spcPts val="2686"/>
                </a:lnSpc>
              </a:pPr>
            </a:p>
          </p:txBody>
        </p:sp>
      </p:grpSp>
      <p:sp>
        <p:nvSpPr>
          <p:cNvPr name="AutoShape 52" id="52"/>
          <p:cNvSpPr/>
          <p:nvPr/>
        </p:nvSpPr>
        <p:spPr>
          <a:xfrm flipV="true">
            <a:off x="7222075" y="6845715"/>
            <a:ext cx="4013712" cy="0"/>
          </a:xfrm>
          <a:prstGeom prst="line">
            <a:avLst/>
          </a:prstGeom>
          <a:ln cap="flat" w="19050">
            <a:solidFill>
              <a:srgbClr val="FFFFFF"/>
            </a:solidFill>
            <a:prstDash val="solid"/>
            <a:headEnd type="none" len="sm" w="sm"/>
            <a:tailEnd type="none" len="sm" w="sm"/>
          </a:ln>
        </p:spPr>
      </p:sp>
      <p:sp>
        <p:nvSpPr>
          <p:cNvPr name="AutoShape 53" id="53"/>
          <p:cNvSpPr/>
          <p:nvPr/>
        </p:nvSpPr>
        <p:spPr>
          <a:xfrm flipV="true">
            <a:off x="1479798" y="6344592"/>
            <a:ext cx="4013712" cy="0"/>
          </a:xfrm>
          <a:prstGeom prst="line">
            <a:avLst/>
          </a:prstGeom>
          <a:ln cap="flat" w="19050">
            <a:solidFill>
              <a:srgbClr val="0F042D"/>
            </a:solidFill>
            <a:prstDash val="solid"/>
            <a:headEnd type="none" len="sm" w="sm"/>
            <a:tailEnd type="none" len="sm" w="sm"/>
          </a:ln>
        </p:spPr>
      </p:sp>
      <p:sp>
        <p:nvSpPr>
          <p:cNvPr name="TextBox 54" id="54"/>
          <p:cNvSpPr txBox="true"/>
          <p:nvPr/>
        </p:nvSpPr>
        <p:spPr>
          <a:xfrm rot="0">
            <a:off x="7222075" y="7140990"/>
            <a:ext cx="4065016" cy="1284619"/>
          </a:xfrm>
          <a:prstGeom prst="rect">
            <a:avLst/>
          </a:prstGeom>
        </p:spPr>
        <p:txBody>
          <a:bodyPr anchor="t" rtlCol="false" tIns="0" lIns="0" bIns="0" rIns="0">
            <a:spAutoFit/>
          </a:bodyPr>
          <a:lstStyle/>
          <a:p>
            <a:pPr algn="l" marL="0" indent="0" lvl="0">
              <a:lnSpc>
                <a:spcPts val="2078"/>
              </a:lnSpc>
            </a:pPr>
            <a:r>
              <a:rPr lang="en-US" sz="1598" i="true" spc="-51">
                <a:solidFill>
                  <a:srgbClr val="EFEFEF"/>
                </a:solidFill>
                <a:latin typeface="Aileron Italics"/>
                <a:ea typeface="Aileron Italics"/>
                <a:cs typeface="Aileron Italics"/>
                <a:sym typeface="Aileron Italics"/>
              </a:rPr>
              <a:t>Modüler ve akıllı bir anlatı motoru sunmak. ScriptableObject mimarisi ve Adapter Pattern ile bağımsız stüdyoların kolayca entegre edebileceği, ölçeklenebilir ve sürdürülebilir bir altyapı geliştirmek.</a:t>
            </a:r>
          </a:p>
        </p:txBody>
      </p:sp>
      <p:sp>
        <p:nvSpPr>
          <p:cNvPr name="TextBox 55" id="55"/>
          <p:cNvSpPr txBox="true"/>
          <p:nvPr/>
        </p:nvSpPr>
        <p:spPr>
          <a:xfrm rot="0">
            <a:off x="1479798" y="6639867"/>
            <a:ext cx="4065016" cy="1284619"/>
          </a:xfrm>
          <a:prstGeom prst="rect">
            <a:avLst/>
          </a:prstGeom>
        </p:spPr>
        <p:txBody>
          <a:bodyPr anchor="t" rtlCol="false" tIns="0" lIns="0" bIns="0" rIns="0">
            <a:spAutoFit/>
          </a:bodyPr>
          <a:lstStyle/>
          <a:p>
            <a:pPr algn="l" marL="0" indent="0" lvl="0">
              <a:lnSpc>
                <a:spcPts val="2078"/>
              </a:lnSpc>
            </a:pPr>
            <a:r>
              <a:rPr lang="en-US" sz="1598" i="true" spc="-51">
                <a:solidFill>
                  <a:srgbClr val="696969"/>
                </a:solidFill>
                <a:latin typeface="Aileron Italics"/>
                <a:ea typeface="Aileron Italics"/>
                <a:cs typeface="Aileron Italics"/>
                <a:sym typeface="Aileron Italics"/>
              </a:rPr>
              <a:t>Geleneksel çizgisel diyalog sistemlerinin yerini almak. Oyuncunun Güç, Zeka ve Karizma istatistiklerine göre şekillenen, her seferinde farklı bir anlatı deneyimi sunan dinamik bir sistem inşa etmek.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F042D"/>
        </a:solidFill>
      </p:bgPr>
    </p:bg>
    <p:spTree>
      <p:nvGrpSpPr>
        <p:cNvPr id="1" name=""/>
        <p:cNvGrpSpPr/>
        <p:nvPr/>
      </p:nvGrpSpPr>
      <p:grpSpPr>
        <a:xfrm>
          <a:off x="0" y="0"/>
          <a:ext cx="0" cy="0"/>
          <a:chOff x="0" y="0"/>
          <a:chExt cx="0" cy="0"/>
        </a:xfrm>
      </p:grpSpPr>
      <p:grpSp>
        <p:nvGrpSpPr>
          <p:cNvPr name="Group 2" id="2"/>
          <p:cNvGrpSpPr/>
          <p:nvPr/>
        </p:nvGrpSpPr>
        <p:grpSpPr>
          <a:xfrm rot="-10800000">
            <a:off x="-193450" y="-924675"/>
            <a:ext cx="18674901" cy="7378284"/>
            <a:chOff x="0" y="0"/>
            <a:chExt cx="24899868" cy="9837711"/>
          </a:xfrm>
        </p:grpSpPr>
        <p:grpSp>
          <p:nvGrpSpPr>
            <p:cNvPr name="Group 3" id="3"/>
            <p:cNvGrpSpPr/>
            <p:nvPr/>
          </p:nvGrpSpPr>
          <p:grpSpPr>
            <a:xfrm rot="0">
              <a:off x="0" y="4427815"/>
              <a:ext cx="3558057" cy="5409897"/>
              <a:chOff x="0" y="0"/>
              <a:chExt cx="812800" cy="1235833"/>
            </a:xfrm>
          </p:grpSpPr>
          <p:sp>
            <p:nvSpPr>
              <p:cNvPr name="Freeform 4" id="4"/>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5" id="5"/>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pPr>
              </a:p>
            </p:txBody>
          </p:sp>
        </p:grpSp>
        <p:grpSp>
          <p:nvGrpSpPr>
            <p:cNvPr name="Group 6" id="6"/>
            <p:cNvGrpSpPr/>
            <p:nvPr/>
          </p:nvGrpSpPr>
          <p:grpSpPr>
            <a:xfrm rot="0">
              <a:off x="21341811" y="4427815"/>
              <a:ext cx="3558057" cy="5409897"/>
              <a:chOff x="0" y="0"/>
              <a:chExt cx="812800" cy="1235833"/>
            </a:xfrm>
          </p:grpSpPr>
          <p:sp>
            <p:nvSpPr>
              <p:cNvPr name="Freeform 7" id="7"/>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8" id="8"/>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pPr>
              </a:p>
            </p:txBody>
          </p:sp>
        </p:grpSp>
        <p:grpSp>
          <p:nvGrpSpPr>
            <p:cNvPr name="Group 9" id="9"/>
            <p:cNvGrpSpPr/>
            <p:nvPr/>
          </p:nvGrpSpPr>
          <p:grpSpPr>
            <a:xfrm rot="0">
              <a:off x="3558057" y="3198827"/>
              <a:ext cx="3558057" cy="6638885"/>
              <a:chOff x="0" y="0"/>
              <a:chExt cx="812800" cy="1516582"/>
            </a:xfrm>
          </p:grpSpPr>
          <p:sp>
            <p:nvSpPr>
              <p:cNvPr name="Freeform 10" id="10"/>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11" id="11"/>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pPr>
              </a:p>
            </p:txBody>
          </p:sp>
        </p:grpSp>
        <p:grpSp>
          <p:nvGrpSpPr>
            <p:cNvPr name="Group 12" id="12"/>
            <p:cNvGrpSpPr/>
            <p:nvPr/>
          </p:nvGrpSpPr>
          <p:grpSpPr>
            <a:xfrm rot="0">
              <a:off x="17783754" y="3198827"/>
              <a:ext cx="3558057" cy="6638885"/>
              <a:chOff x="0" y="0"/>
              <a:chExt cx="812800" cy="1516582"/>
            </a:xfrm>
          </p:grpSpPr>
          <p:sp>
            <p:nvSpPr>
              <p:cNvPr name="Freeform 13" id="13"/>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14" id="14"/>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pPr>
              </a:p>
            </p:txBody>
          </p:sp>
        </p:grpSp>
        <p:grpSp>
          <p:nvGrpSpPr>
            <p:cNvPr name="Group 15" id="15"/>
            <p:cNvGrpSpPr/>
            <p:nvPr/>
          </p:nvGrpSpPr>
          <p:grpSpPr>
            <a:xfrm rot="0">
              <a:off x="7116114" y="1874177"/>
              <a:ext cx="3558057" cy="7963534"/>
              <a:chOff x="0" y="0"/>
              <a:chExt cx="812800" cy="1819184"/>
            </a:xfrm>
          </p:grpSpPr>
          <p:sp>
            <p:nvSpPr>
              <p:cNvPr name="Freeform 16" id="16"/>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17" id="17"/>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pPr>
              </a:p>
            </p:txBody>
          </p:sp>
        </p:grpSp>
        <p:grpSp>
          <p:nvGrpSpPr>
            <p:cNvPr name="Group 18" id="18"/>
            <p:cNvGrpSpPr/>
            <p:nvPr/>
          </p:nvGrpSpPr>
          <p:grpSpPr>
            <a:xfrm rot="0">
              <a:off x="14232228" y="1874177"/>
              <a:ext cx="3558057" cy="7963534"/>
              <a:chOff x="0" y="0"/>
              <a:chExt cx="812800" cy="1819184"/>
            </a:xfrm>
          </p:grpSpPr>
          <p:sp>
            <p:nvSpPr>
              <p:cNvPr name="Freeform 19" id="19"/>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0" id="20"/>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pPr>
              </a:p>
            </p:txBody>
          </p:sp>
        </p:grpSp>
        <p:grpSp>
          <p:nvGrpSpPr>
            <p:cNvPr name="Group 21" id="21"/>
            <p:cNvGrpSpPr/>
            <p:nvPr/>
          </p:nvGrpSpPr>
          <p:grpSpPr>
            <a:xfrm rot="0">
              <a:off x="10674171" y="0"/>
              <a:ext cx="3558057" cy="9837711"/>
              <a:chOff x="0" y="0"/>
              <a:chExt cx="812800" cy="2247320"/>
            </a:xfrm>
          </p:grpSpPr>
          <p:sp>
            <p:nvSpPr>
              <p:cNvPr name="Freeform 22" id="22"/>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3" id="23"/>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grpSp>
        <p:nvGrpSpPr>
          <p:cNvPr name="Group 24" id="24"/>
          <p:cNvGrpSpPr/>
          <p:nvPr/>
        </p:nvGrpSpPr>
        <p:grpSpPr>
          <a:xfrm rot="0">
            <a:off x="9953770" y="505729"/>
            <a:ext cx="4279219" cy="502851"/>
            <a:chOff x="0" y="0"/>
            <a:chExt cx="3458428" cy="406400"/>
          </a:xfrm>
        </p:grpSpPr>
        <p:sp>
          <p:nvSpPr>
            <p:cNvPr name="Freeform 25" id="25"/>
            <p:cNvSpPr/>
            <p:nvPr/>
          </p:nvSpPr>
          <p:spPr>
            <a:xfrm flipH="false" flipV="false" rot="0">
              <a:off x="0" y="0"/>
              <a:ext cx="3458428" cy="406400"/>
            </a:xfrm>
            <a:custGeom>
              <a:avLst/>
              <a:gdLst/>
              <a:ahLst/>
              <a:cxnLst/>
              <a:rect r="r" b="b" t="t" l="l"/>
              <a:pathLst>
                <a:path h="406400" w="3458428">
                  <a:moveTo>
                    <a:pt x="3255228" y="0"/>
                  </a:moveTo>
                  <a:cubicBezTo>
                    <a:pt x="3367453" y="0"/>
                    <a:pt x="3458428" y="90976"/>
                    <a:pt x="3458428" y="203200"/>
                  </a:cubicBezTo>
                  <a:cubicBezTo>
                    <a:pt x="3458428" y="315424"/>
                    <a:pt x="3367453" y="406400"/>
                    <a:pt x="3255228" y="406400"/>
                  </a:cubicBezTo>
                  <a:lnTo>
                    <a:pt x="203200" y="406400"/>
                  </a:lnTo>
                  <a:cubicBezTo>
                    <a:pt x="90976" y="406400"/>
                    <a:pt x="0" y="315424"/>
                    <a:pt x="0" y="203200"/>
                  </a:cubicBezTo>
                  <a:cubicBezTo>
                    <a:pt x="0" y="90976"/>
                    <a:pt x="90976" y="0"/>
                    <a:pt x="203200" y="0"/>
                  </a:cubicBezTo>
                  <a:close/>
                </a:path>
              </a:pathLst>
            </a:custGeom>
            <a:solidFill>
              <a:srgbClr val="EFEFEF"/>
            </a:solidFill>
            <a:ln w="9525" cap="sq">
              <a:solidFill>
                <a:srgbClr val="EFEFEF"/>
              </a:solidFill>
              <a:prstDash val="solid"/>
              <a:miter/>
            </a:ln>
          </p:spPr>
        </p:sp>
        <p:sp>
          <p:nvSpPr>
            <p:cNvPr name="TextBox 26" id="26"/>
            <p:cNvSpPr txBox="true"/>
            <p:nvPr/>
          </p:nvSpPr>
          <p:spPr>
            <a:xfrm>
              <a:off x="0" y="0"/>
              <a:ext cx="3458428" cy="406400"/>
            </a:xfrm>
            <a:prstGeom prst="rect">
              <a:avLst/>
            </a:prstGeom>
          </p:spPr>
          <p:txBody>
            <a:bodyPr anchor="ctr" rtlCol="false" tIns="50800" lIns="50800" bIns="50800" rIns="50800"/>
            <a:lstStyle/>
            <a:p>
              <a:pPr algn="ctr" marL="0" indent="0" lvl="0">
                <a:lnSpc>
                  <a:spcPts val="2686"/>
                </a:lnSpc>
              </a:pPr>
            </a:p>
          </p:txBody>
        </p:sp>
      </p:grpSp>
      <p:grpSp>
        <p:nvGrpSpPr>
          <p:cNvPr name="Group 27" id="27"/>
          <p:cNvGrpSpPr/>
          <p:nvPr/>
        </p:nvGrpSpPr>
        <p:grpSpPr>
          <a:xfrm rot="0">
            <a:off x="7087567" y="505729"/>
            <a:ext cx="2732854" cy="502851"/>
            <a:chOff x="0" y="0"/>
            <a:chExt cx="2208669" cy="406400"/>
          </a:xfrm>
        </p:grpSpPr>
        <p:sp>
          <p:nvSpPr>
            <p:cNvPr name="Freeform 28" id="28"/>
            <p:cNvSpPr/>
            <p:nvPr/>
          </p:nvSpPr>
          <p:spPr>
            <a:xfrm flipH="false" flipV="false" rot="0">
              <a:off x="0" y="0"/>
              <a:ext cx="2208669" cy="406400"/>
            </a:xfrm>
            <a:custGeom>
              <a:avLst/>
              <a:gdLst/>
              <a:ahLst/>
              <a:cxnLst/>
              <a:rect r="r" b="b" t="t" l="l"/>
              <a:pathLst>
                <a:path h="406400" w="2208669">
                  <a:moveTo>
                    <a:pt x="2005469" y="0"/>
                  </a:moveTo>
                  <a:cubicBezTo>
                    <a:pt x="2117693" y="0"/>
                    <a:pt x="2208669" y="90976"/>
                    <a:pt x="2208669" y="203200"/>
                  </a:cubicBezTo>
                  <a:cubicBezTo>
                    <a:pt x="2208669" y="315424"/>
                    <a:pt x="2117693" y="406400"/>
                    <a:pt x="2005469" y="406400"/>
                  </a:cubicBezTo>
                  <a:lnTo>
                    <a:pt x="203200" y="406400"/>
                  </a:lnTo>
                  <a:cubicBezTo>
                    <a:pt x="90976" y="406400"/>
                    <a:pt x="0" y="315424"/>
                    <a:pt x="0" y="203200"/>
                  </a:cubicBezTo>
                  <a:cubicBezTo>
                    <a:pt x="0" y="90976"/>
                    <a:pt x="90976" y="0"/>
                    <a:pt x="203200" y="0"/>
                  </a:cubicBezTo>
                  <a:close/>
                </a:path>
              </a:pathLst>
            </a:custGeom>
            <a:solidFill>
              <a:srgbClr val="EFEFEF"/>
            </a:solidFill>
            <a:ln w="9525" cap="sq">
              <a:solidFill>
                <a:srgbClr val="EFEFEF"/>
              </a:solidFill>
              <a:prstDash val="solid"/>
              <a:miter/>
            </a:ln>
          </p:spPr>
        </p:sp>
        <p:sp>
          <p:nvSpPr>
            <p:cNvPr name="TextBox 29" id="29"/>
            <p:cNvSpPr txBox="true"/>
            <p:nvPr/>
          </p:nvSpPr>
          <p:spPr>
            <a:xfrm>
              <a:off x="0" y="0"/>
              <a:ext cx="2208669" cy="406400"/>
            </a:xfrm>
            <a:prstGeom prst="rect">
              <a:avLst/>
            </a:prstGeom>
          </p:spPr>
          <p:txBody>
            <a:bodyPr anchor="ctr" rtlCol="false" tIns="50800" lIns="50800" bIns="50800" rIns="50800"/>
            <a:lstStyle/>
            <a:p>
              <a:pPr algn="ctr" marL="0" indent="0" lvl="0">
                <a:lnSpc>
                  <a:spcPts val="2686"/>
                </a:lnSpc>
              </a:pPr>
            </a:p>
          </p:txBody>
        </p:sp>
      </p:grpSp>
      <p:grpSp>
        <p:nvGrpSpPr>
          <p:cNvPr name="Group 30" id="30"/>
          <p:cNvGrpSpPr/>
          <p:nvPr/>
        </p:nvGrpSpPr>
        <p:grpSpPr>
          <a:xfrm rot="0">
            <a:off x="4657277" y="505729"/>
            <a:ext cx="3625880" cy="502851"/>
            <a:chOff x="0" y="0"/>
            <a:chExt cx="2930405" cy="406400"/>
          </a:xfrm>
        </p:grpSpPr>
        <p:sp>
          <p:nvSpPr>
            <p:cNvPr name="Freeform 31" id="31"/>
            <p:cNvSpPr/>
            <p:nvPr/>
          </p:nvSpPr>
          <p:spPr>
            <a:xfrm flipH="false" flipV="false" rot="0">
              <a:off x="0" y="0"/>
              <a:ext cx="2930405" cy="406400"/>
            </a:xfrm>
            <a:custGeom>
              <a:avLst/>
              <a:gdLst/>
              <a:ahLst/>
              <a:cxnLst/>
              <a:rect r="r" b="b" t="t" l="l"/>
              <a:pathLst>
                <a:path h="406400" w="2930405">
                  <a:moveTo>
                    <a:pt x="2727205" y="0"/>
                  </a:moveTo>
                  <a:cubicBezTo>
                    <a:pt x="2839429" y="0"/>
                    <a:pt x="2930405" y="90976"/>
                    <a:pt x="2930405" y="203200"/>
                  </a:cubicBezTo>
                  <a:cubicBezTo>
                    <a:pt x="2930405" y="315424"/>
                    <a:pt x="2839429" y="406400"/>
                    <a:pt x="2727205" y="406400"/>
                  </a:cubicBezTo>
                  <a:lnTo>
                    <a:pt x="203200" y="406400"/>
                  </a:lnTo>
                  <a:cubicBezTo>
                    <a:pt x="90976" y="406400"/>
                    <a:pt x="0" y="315424"/>
                    <a:pt x="0" y="203200"/>
                  </a:cubicBezTo>
                  <a:cubicBezTo>
                    <a:pt x="0" y="90976"/>
                    <a:pt x="90976" y="0"/>
                    <a:pt x="203200" y="0"/>
                  </a:cubicBezTo>
                  <a:close/>
                </a:path>
              </a:pathLst>
            </a:custGeom>
            <a:ln w="9525" cap="sq">
              <a:solidFill>
                <a:srgbClr val="EFEFEF"/>
              </a:solidFill>
              <a:prstDash val="solid"/>
              <a:miter/>
            </a:ln>
          </p:spPr>
        </p:sp>
        <p:sp>
          <p:nvSpPr>
            <p:cNvPr name="TextBox 32" id="32"/>
            <p:cNvSpPr txBox="true"/>
            <p:nvPr/>
          </p:nvSpPr>
          <p:spPr>
            <a:xfrm>
              <a:off x="0" y="0"/>
              <a:ext cx="2930405" cy="406400"/>
            </a:xfrm>
            <a:prstGeom prst="rect">
              <a:avLst/>
            </a:prstGeom>
          </p:spPr>
          <p:txBody>
            <a:bodyPr anchor="ctr" rtlCol="false" tIns="50800" lIns="50800" bIns="50800" rIns="50800"/>
            <a:lstStyle/>
            <a:p>
              <a:pPr algn="ctr" marL="0" indent="0" lvl="0">
                <a:lnSpc>
                  <a:spcPts val="2686"/>
                </a:lnSpc>
              </a:pPr>
            </a:p>
          </p:txBody>
        </p:sp>
      </p:grpSp>
      <p:sp>
        <p:nvSpPr>
          <p:cNvPr name="Freeform 33" id="33"/>
          <p:cNvSpPr/>
          <p:nvPr/>
        </p:nvSpPr>
        <p:spPr>
          <a:xfrm flipH="false" flipV="false" rot="0">
            <a:off x="1090400" y="559187"/>
            <a:ext cx="422594" cy="364968"/>
          </a:xfrm>
          <a:custGeom>
            <a:avLst/>
            <a:gdLst/>
            <a:ahLst/>
            <a:cxnLst/>
            <a:rect r="r" b="b" t="t" l="l"/>
            <a:pathLst>
              <a:path h="364968" w="422594">
                <a:moveTo>
                  <a:pt x="0" y="0"/>
                </a:moveTo>
                <a:lnTo>
                  <a:pt x="422594" y="0"/>
                </a:lnTo>
                <a:lnTo>
                  <a:pt x="422594" y="364968"/>
                </a:lnTo>
                <a:lnTo>
                  <a:pt x="0" y="364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4" id="34"/>
          <p:cNvSpPr txBox="true"/>
          <p:nvPr/>
        </p:nvSpPr>
        <p:spPr>
          <a:xfrm rot="0">
            <a:off x="1746751" y="635054"/>
            <a:ext cx="3737193" cy="229109"/>
          </a:xfrm>
          <a:prstGeom prst="rect">
            <a:avLst/>
          </a:prstGeom>
        </p:spPr>
        <p:txBody>
          <a:bodyPr anchor="t" rtlCol="false" tIns="0" lIns="0" bIns="0" rIns="0">
            <a:spAutoFit/>
          </a:bodyPr>
          <a:lstStyle/>
          <a:p>
            <a:pPr algn="l" marL="0" indent="0" lvl="0">
              <a:lnSpc>
                <a:spcPts val="1661"/>
              </a:lnSpc>
            </a:pPr>
            <a:r>
              <a:rPr lang="en-US" b="true" sz="1887" spc="-84">
                <a:solidFill>
                  <a:srgbClr val="EFEFEF"/>
                </a:solidFill>
                <a:latin typeface="Open Sauce Medium"/>
                <a:ea typeface="Open Sauce Medium"/>
                <a:cs typeface="Open Sauce Medium"/>
                <a:sym typeface="Open Sauce Medium"/>
              </a:rPr>
              <a:t>Hüseyin Asan</a:t>
            </a:r>
          </a:p>
        </p:txBody>
      </p:sp>
      <p:sp>
        <p:nvSpPr>
          <p:cNvPr name="TextBox 35" id="35"/>
          <p:cNvSpPr txBox="true"/>
          <p:nvPr/>
        </p:nvSpPr>
        <p:spPr>
          <a:xfrm rot="0">
            <a:off x="4742541" y="668191"/>
            <a:ext cx="2345025" cy="186587"/>
          </a:xfrm>
          <a:prstGeom prst="rect">
            <a:avLst/>
          </a:prstGeom>
        </p:spPr>
        <p:txBody>
          <a:bodyPr anchor="t" rtlCol="false" tIns="0" lIns="0" bIns="0" rIns="0">
            <a:spAutoFit/>
          </a:bodyPr>
          <a:lstStyle/>
          <a:p>
            <a:pPr algn="ctr" marL="0" indent="0" lvl="0">
              <a:lnSpc>
                <a:spcPts val="1359"/>
              </a:lnSpc>
            </a:pPr>
            <a:r>
              <a:rPr lang="en-US" b="true" sz="1544" spc="-69">
                <a:solidFill>
                  <a:srgbClr val="EFEFEF"/>
                </a:solidFill>
                <a:latin typeface="Open Sauce Medium"/>
                <a:ea typeface="Open Sauce Medium"/>
                <a:cs typeface="Open Sauce Medium"/>
                <a:sym typeface="Open Sauce Medium"/>
              </a:rPr>
              <a:t>Game Dev Project</a:t>
            </a:r>
          </a:p>
        </p:txBody>
      </p:sp>
      <p:sp>
        <p:nvSpPr>
          <p:cNvPr name="TextBox 36" id="36"/>
          <p:cNvSpPr txBox="true"/>
          <p:nvPr/>
        </p:nvSpPr>
        <p:spPr>
          <a:xfrm rot="0">
            <a:off x="9953770" y="668191"/>
            <a:ext cx="4279219" cy="186587"/>
          </a:xfrm>
          <a:prstGeom prst="rect">
            <a:avLst/>
          </a:prstGeom>
        </p:spPr>
        <p:txBody>
          <a:bodyPr anchor="t" rtlCol="false" tIns="0" lIns="0" bIns="0" rIns="0">
            <a:spAutoFit/>
          </a:bodyPr>
          <a:lstStyle/>
          <a:p>
            <a:pPr algn="ctr" marL="0" indent="0" lvl="0">
              <a:lnSpc>
                <a:spcPts val="1359"/>
              </a:lnSpc>
            </a:pPr>
            <a:r>
              <a:rPr lang="en-US" b="true" sz="1544" spc="-69">
                <a:solidFill>
                  <a:srgbClr val="0F042D"/>
                </a:solidFill>
                <a:latin typeface="Open Sauce Medium"/>
                <a:ea typeface="Open Sauce Medium"/>
                <a:cs typeface="Open Sauce Medium"/>
                <a:sym typeface="Open Sauce Medium"/>
              </a:rPr>
              <a:t>Presented by : Hüseyin Asan</a:t>
            </a:r>
          </a:p>
        </p:txBody>
      </p:sp>
      <p:sp>
        <p:nvSpPr>
          <p:cNvPr name="TextBox 37" id="37"/>
          <p:cNvSpPr txBox="true"/>
          <p:nvPr/>
        </p:nvSpPr>
        <p:spPr>
          <a:xfrm rot="0">
            <a:off x="7145539" y="668191"/>
            <a:ext cx="2674881" cy="186587"/>
          </a:xfrm>
          <a:prstGeom prst="rect">
            <a:avLst/>
          </a:prstGeom>
        </p:spPr>
        <p:txBody>
          <a:bodyPr anchor="t" rtlCol="false" tIns="0" lIns="0" bIns="0" rIns="0">
            <a:spAutoFit/>
          </a:bodyPr>
          <a:lstStyle/>
          <a:p>
            <a:pPr algn="ctr" marL="0" indent="0" lvl="0">
              <a:lnSpc>
                <a:spcPts val="1359"/>
              </a:lnSpc>
            </a:pPr>
            <a:r>
              <a:rPr lang="en-US" b="true" sz="1544" spc="-69">
                <a:solidFill>
                  <a:srgbClr val="0F042D"/>
                </a:solidFill>
                <a:latin typeface="Open Sauce Medium"/>
                <a:ea typeface="Open Sauce Medium"/>
                <a:cs typeface="Open Sauce Medium"/>
                <a:sym typeface="Open Sauce Medium"/>
              </a:rPr>
              <a:t>Investor Pitch</a:t>
            </a:r>
          </a:p>
        </p:txBody>
      </p:sp>
      <p:sp>
        <p:nvSpPr>
          <p:cNvPr name="TextBox 38" id="38"/>
          <p:cNvSpPr txBox="true"/>
          <p:nvPr/>
        </p:nvSpPr>
        <p:spPr>
          <a:xfrm rot="0">
            <a:off x="8137263" y="1937612"/>
            <a:ext cx="9122037" cy="1170920"/>
          </a:xfrm>
          <a:prstGeom prst="rect">
            <a:avLst/>
          </a:prstGeom>
        </p:spPr>
        <p:txBody>
          <a:bodyPr anchor="t" rtlCol="false" tIns="0" lIns="0" bIns="0" rIns="0">
            <a:spAutoFit/>
          </a:bodyPr>
          <a:lstStyle/>
          <a:p>
            <a:pPr algn="l" marL="0" indent="0" lvl="0">
              <a:lnSpc>
                <a:spcPts val="8442"/>
              </a:lnSpc>
            </a:pPr>
            <a:r>
              <a:rPr lang="en-US" b="true" sz="9593" spc="-431">
                <a:solidFill>
                  <a:srgbClr val="EFEFEF"/>
                </a:solidFill>
                <a:latin typeface="Open Sauce Medium"/>
                <a:ea typeface="Open Sauce Medium"/>
                <a:cs typeface="Open Sauce Medium"/>
                <a:sym typeface="Open Sauce Medium"/>
              </a:rPr>
              <a:t>Tem</a:t>
            </a:r>
            <a:r>
              <a:rPr lang="en-US" b="true" sz="9593" spc="-431">
                <a:solidFill>
                  <a:srgbClr val="EFEFEF"/>
                </a:solidFill>
                <a:latin typeface="Open Sauce Medium"/>
                <a:ea typeface="Open Sauce Medium"/>
                <a:cs typeface="Open Sauce Medium"/>
                <a:sym typeface="Open Sauce Medium"/>
              </a:rPr>
              <a:t>el Özellikler</a:t>
            </a:r>
          </a:p>
        </p:txBody>
      </p:sp>
      <p:grpSp>
        <p:nvGrpSpPr>
          <p:cNvPr name="Group 39" id="39"/>
          <p:cNvGrpSpPr/>
          <p:nvPr/>
        </p:nvGrpSpPr>
        <p:grpSpPr>
          <a:xfrm rot="0">
            <a:off x="1028700" y="1564651"/>
            <a:ext cx="5022268" cy="6236705"/>
            <a:chOff x="0" y="0"/>
            <a:chExt cx="666980" cy="828263"/>
          </a:xfrm>
        </p:grpSpPr>
        <p:sp>
          <p:nvSpPr>
            <p:cNvPr name="Freeform 40" id="40"/>
            <p:cNvSpPr/>
            <p:nvPr/>
          </p:nvSpPr>
          <p:spPr>
            <a:xfrm flipH="false" flipV="false" rot="0">
              <a:off x="0" y="0"/>
              <a:ext cx="666980" cy="828263"/>
            </a:xfrm>
            <a:custGeom>
              <a:avLst/>
              <a:gdLst/>
              <a:ahLst/>
              <a:cxnLst/>
              <a:rect r="r" b="b" t="t" l="l"/>
              <a:pathLst>
                <a:path h="828263" w="666980">
                  <a:moveTo>
                    <a:pt x="55495" y="0"/>
                  </a:moveTo>
                  <a:lnTo>
                    <a:pt x="611486" y="0"/>
                  </a:lnTo>
                  <a:cubicBezTo>
                    <a:pt x="642135" y="0"/>
                    <a:pt x="666980" y="24846"/>
                    <a:pt x="666980" y="55495"/>
                  </a:cubicBezTo>
                  <a:lnTo>
                    <a:pt x="666980" y="772769"/>
                  </a:lnTo>
                  <a:cubicBezTo>
                    <a:pt x="666980" y="787487"/>
                    <a:pt x="661134" y="801602"/>
                    <a:pt x="650726" y="812009"/>
                  </a:cubicBezTo>
                  <a:cubicBezTo>
                    <a:pt x="640319" y="822417"/>
                    <a:pt x="626204" y="828263"/>
                    <a:pt x="611486" y="828263"/>
                  </a:cubicBezTo>
                  <a:lnTo>
                    <a:pt x="55495" y="828263"/>
                  </a:lnTo>
                  <a:cubicBezTo>
                    <a:pt x="40777" y="828263"/>
                    <a:pt x="26661" y="822417"/>
                    <a:pt x="16254" y="812009"/>
                  </a:cubicBezTo>
                  <a:cubicBezTo>
                    <a:pt x="5847" y="801602"/>
                    <a:pt x="0" y="787487"/>
                    <a:pt x="0" y="772769"/>
                  </a:cubicBezTo>
                  <a:lnTo>
                    <a:pt x="0" y="55495"/>
                  </a:lnTo>
                  <a:cubicBezTo>
                    <a:pt x="0" y="40777"/>
                    <a:pt x="5847" y="26661"/>
                    <a:pt x="16254" y="16254"/>
                  </a:cubicBezTo>
                  <a:cubicBezTo>
                    <a:pt x="26661" y="5847"/>
                    <a:pt x="40777" y="0"/>
                    <a:pt x="55495" y="0"/>
                  </a:cubicBezTo>
                  <a:close/>
                </a:path>
              </a:pathLst>
            </a:custGeom>
            <a:blipFill>
              <a:blip r:embed="rId4"/>
              <a:stretch>
                <a:fillRect l="-215" t="0" r="-215" b="0"/>
              </a:stretch>
            </a:blipFill>
            <a:ln w="9525" cap="rnd">
              <a:solidFill>
                <a:srgbClr val="EFEFEF"/>
              </a:solidFill>
              <a:prstDash val="solid"/>
              <a:round/>
            </a:ln>
          </p:spPr>
        </p:sp>
      </p:grpSp>
      <p:grpSp>
        <p:nvGrpSpPr>
          <p:cNvPr name="Group 41" id="41"/>
          <p:cNvGrpSpPr/>
          <p:nvPr/>
        </p:nvGrpSpPr>
        <p:grpSpPr>
          <a:xfrm rot="0">
            <a:off x="3615347" y="4683004"/>
            <a:ext cx="4066331" cy="4617752"/>
            <a:chOff x="0" y="0"/>
            <a:chExt cx="666980" cy="757427"/>
          </a:xfrm>
        </p:grpSpPr>
        <p:sp>
          <p:nvSpPr>
            <p:cNvPr name="Freeform 42" id="42"/>
            <p:cNvSpPr/>
            <p:nvPr/>
          </p:nvSpPr>
          <p:spPr>
            <a:xfrm flipH="false" flipV="false" rot="0">
              <a:off x="0" y="0"/>
              <a:ext cx="666980" cy="757427"/>
            </a:xfrm>
            <a:custGeom>
              <a:avLst/>
              <a:gdLst/>
              <a:ahLst/>
              <a:cxnLst/>
              <a:rect r="r" b="b" t="t" l="l"/>
              <a:pathLst>
                <a:path h="757427" w="666980">
                  <a:moveTo>
                    <a:pt x="68541" y="0"/>
                  </a:moveTo>
                  <a:lnTo>
                    <a:pt x="598440" y="0"/>
                  </a:lnTo>
                  <a:cubicBezTo>
                    <a:pt x="636294" y="0"/>
                    <a:pt x="666980" y="30687"/>
                    <a:pt x="666980" y="68541"/>
                  </a:cubicBezTo>
                  <a:lnTo>
                    <a:pt x="666980" y="688887"/>
                  </a:lnTo>
                  <a:cubicBezTo>
                    <a:pt x="666980" y="707065"/>
                    <a:pt x="659759" y="724498"/>
                    <a:pt x="646905" y="737352"/>
                  </a:cubicBezTo>
                  <a:cubicBezTo>
                    <a:pt x="634051" y="750206"/>
                    <a:pt x="616618" y="757427"/>
                    <a:pt x="598440" y="757427"/>
                  </a:cubicBezTo>
                  <a:lnTo>
                    <a:pt x="68541" y="757427"/>
                  </a:lnTo>
                  <a:cubicBezTo>
                    <a:pt x="50363" y="757427"/>
                    <a:pt x="32929" y="750206"/>
                    <a:pt x="20075" y="737352"/>
                  </a:cubicBezTo>
                  <a:cubicBezTo>
                    <a:pt x="7221" y="724498"/>
                    <a:pt x="0" y="707065"/>
                    <a:pt x="0" y="688887"/>
                  </a:cubicBezTo>
                  <a:lnTo>
                    <a:pt x="0" y="68541"/>
                  </a:lnTo>
                  <a:cubicBezTo>
                    <a:pt x="0" y="50363"/>
                    <a:pt x="7221" y="32929"/>
                    <a:pt x="20075" y="20075"/>
                  </a:cubicBezTo>
                  <a:cubicBezTo>
                    <a:pt x="32929" y="7221"/>
                    <a:pt x="50363" y="0"/>
                    <a:pt x="68541" y="0"/>
                  </a:cubicBezTo>
                  <a:close/>
                </a:path>
              </a:pathLst>
            </a:custGeom>
            <a:blipFill>
              <a:blip r:embed="rId5"/>
              <a:stretch>
                <a:fillRect l="0" t="-4441" r="0" b="-4441"/>
              </a:stretch>
            </a:blipFill>
            <a:ln w="9525" cap="rnd">
              <a:solidFill>
                <a:srgbClr val="EFEFEF"/>
              </a:solidFill>
              <a:prstDash val="solid"/>
              <a:round/>
            </a:ln>
          </p:spPr>
        </p:sp>
      </p:grpSp>
      <p:grpSp>
        <p:nvGrpSpPr>
          <p:cNvPr name="Group 43" id="43"/>
          <p:cNvGrpSpPr/>
          <p:nvPr/>
        </p:nvGrpSpPr>
        <p:grpSpPr>
          <a:xfrm rot="0">
            <a:off x="6890014" y="5456291"/>
            <a:ext cx="4941681" cy="3350250"/>
            <a:chOff x="0" y="0"/>
            <a:chExt cx="1301513" cy="882370"/>
          </a:xfrm>
        </p:grpSpPr>
        <p:sp>
          <p:nvSpPr>
            <p:cNvPr name="Freeform 44" id="44"/>
            <p:cNvSpPr/>
            <p:nvPr/>
          </p:nvSpPr>
          <p:spPr>
            <a:xfrm flipH="false" flipV="false" rot="0">
              <a:off x="0" y="0"/>
              <a:ext cx="1301513" cy="882370"/>
            </a:xfrm>
            <a:custGeom>
              <a:avLst/>
              <a:gdLst/>
              <a:ahLst/>
              <a:cxnLst/>
              <a:rect r="r" b="b" t="t" l="l"/>
              <a:pathLst>
                <a:path h="882370" w="1301513">
                  <a:moveTo>
                    <a:pt x="56400" y="0"/>
                  </a:moveTo>
                  <a:lnTo>
                    <a:pt x="1245113" y="0"/>
                  </a:lnTo>
                  <a:cubicBezTo>
                    <a:pt x="1276262" y="0"/>
                    <a:pt x="1301513" y="25251"/>
                    <a:pt x="1301513" y="56400"/>
                  </a:cubicBezTo>
                  <a:lnTo>
                    <a:pt x="1301513" y="825971"/>
                  </a:lnTo>
                  <a:cubicBezTo>
                    <a:pt x="1301513" y="857119"/>
                    <a:pt x="1276262" y="882370"/>
                    <a:pt x="1245113" y="882370"/>
                  </a:cubicBezTo>
                  <a:lnTo>
                    <a:pt x="56400" y="882370"/>
                  </a:lnTo>
                  <a:cubicBezTo>
                    <a:pt x="25251" y="882370"/>
                    <a:pt x="0" y="857119"/>
                    <a:pt x="0" y="825971"/>
                  </a:cubicBezTo>
                  <a:lnTo>
                    <a:pt x="0" y="56400"/>
                  </a:lnTo>
                  <a:cubicBezTo>
                    <a:pt x="0" y="25251"/>
                    <a:pt x="25251" y="0"/>
                    <a:pt x="56400" y="0"/>
                  </a:cubicBezTo>
                  <a:close/>
                </a:path>
              </a:pathLst>
            </a:custGeom>
            <a:solidFill>
              <a:srgbClr val="EFEFEF"/>
            </a:solidFill>
            <a:ln w="19050" cap="rnd">
              <a:gradFill>
                <a:gsLst>
                  <a:gs pos="0">
                    <a:srgbClr val="573F9D">
                      <a:alpha val="100000"/>
                    </a:srgbClr>
                  </a:gs>
                  <a:gs pos="50000">
                    <a:srgbClr val="332069">
                      <a:alpha val="100000"/>
                    </a:srgbClr>
                  </a:gs>
                  <a:gs pos="100000">
                    <a:srgbClr val="0F042D">
                      <a:alpha val="100000"/>
                    </a:srgbClr>
                  </a:gs>
                </a:gsLst>
                <a:lin ang="2700000"/>
              </a:gradFill>
              <a:prstDash val="solid"/>
              <a:round/>
            </a:ln>
          </p:spPr>
        </p:sp>
        <p:sp>
          <p:nvSpPr>
            <p:cNvPr name="TextBox 45" id="45"/>
            <p:cNvSpPr txBox="true"/>
            <p:nvPr/>
          </p:nvSpPr>
          <p:spPr>
            <a:xfrm>
              <a:off x="0" y="0"/>
              <a:ext cx="1301513" cy="882370"/>
            </a:xfrm>
            <a:prstGeom prst="rect">
              <a:avLst/>
            </a:prstGeom>
          </p:spPr>
          <p:txBody>
            <a:bodyPr anchor="ctr" rtlCol="false" tIns="50800" lIns="50800" bIns="50800" rIns="50800"/>
            <a:lstStyle/>
            <a:p>
              <a:pPr algn="ctr" marL="0" indent="0" lvl="0">
                <a:lnSpc>
                  <a:spcPts val="2686"/>
                </a:lnSpc>
              </a:pPr>
            </a:p>
          </p:txBody>
        </p:sp>
      </p:grpSp>
      <p:grpSp>
        <p:nvGrpSpPr>
          <p:cNvPr name="Group 46" id="46"/>
          <p:cNvGrpSpPr/>
          <p:nvPr/>
        </p:nvGrpSpPr>
        <p:grpSpPr>
          <a:xfrm rot="0">
            <a:off x="12317619" y="5908050"/>
            <a:ext cx="4941681" cy="3350250"/>
            <a:chOff x="0" y="0"/>
            <a:chExt cx="1301513" cy="882370"/>
          </a:xfrm>
        </p:grpSpPr>
        <p:sp>
          <p:nvSpPr>
            <p:cNvPr name="Freeform 47" id="47"/>
            <p:cNvSpPr/>
            <p:nvPr/>
          </p:nvSpPr>
          <p:spPr>
            <a:xfrm flipH="false" flipV="false" rot="0">
              <a:off x="0" y="0"/>
              <a:ext cx="1301513" cy="882370"/>
            </a:xfrm>
            <a:custGeom>
              <a:avLst/>
              <a:gdLst/>
              <a:ahLst/>
              <a:cxnLst/>
              <a:rect r="r" b="b" t="t" l="l"/>
              <a:pathLst>
                <a:path h="882370" w="1301513">
                  <a:moveTo>
                    <a:pt x="56400" y="0"/>
                  </a:moveTo>
                  <a:lnTo>
                    <a:pt x="1245113" y="0"/>
                  </a:lnTo>
                  <a:cubicBezTo>
                    <a:pt x="1276262" y="0"/>
                    <a:pt x="1301513" y="25251"/>
                    <a:pt x="1301513" y="56400"/>
                  </a:cubicBezTo>
                  <a:lnTo>
                    <a:pt x="1301513" y="825971"/>
                  </a:lnTo>
                  <a:cubicBezTo>
                    <a:pt x="1301513" y="857119"/>
                    <a:pt x="1276262" y="882370"/>
                    <a:pt x="1245113" y="882370"/>
                  </a:cubicBezTo>
                  <a:lnTo>
                    <a:pt x="56400" y="882370"/>
                  </a:lnTo>
                  <a:cubicBezTo>
                    <a:pt x="25251" y="882370"/>
                    <a:pt x="0" y="857119"/>
                    <a:pt x="0" y="825971"/>
                  </a:cubicBezTo>
                  <a:lnTo>
                    <a:pt x="0" y="56400"/>
                  </a:lnTo>
                  <a:cubicBezTo>
                    <a:pt x="0" y="25251"/>
                    <a:pt x="25251" y="0"/>
                    <a:pt x="56400" y="0"/>
                  </a:cubicBezTo>
                  <a:close/>
                </a:path>
              </a:pathLst>
            </a:custGeom>
            <a:ln w="19050" cap="rnd">
              <a:solidFill>
                <a:srgbClr val="EFEFEF"/>
              </a:solidFill>
              <a:prstDash val="solid"/>
              <a:round/>
            </a:ln>
          </p:spPr>
        </p:sp>
        <p:sp>
          <p:nvSpPr>
            <p:cNvPr name="TextBox 48" id="48"/>
            <p:cNvSpPr txBox="true"/>
            <p:nvPr/>
          </p:nvSpPr>
          <p:spPr>
            <a:xfrm>
              <a:off x="0" y="0"/>
              <a:ext cx="1301513" cy="882370"/>
            </a:xfrm>
            <a:prstGeom prst="rect">
              <a:avLst/>
            </a:prstGeom>
          </p:spPr>
          <p:txBody>
            <a:bodyPr anchor="ctr" rtlCol="false" tIns="50800" lIns="50800" bIns="50800" rIns="50800"/>
            <a:lstStyle/>
            <a:p>
              <a:pPr algn="ctr" marL="0" indent="0" lvl="0">
                <a:lnSpc>
                  <a:spcPts val="2686"/>
                </a:lnSpc>
              </a:pPr>
            </a:p>
          </p:txBody>
        </p:sp>
      </p:grpSp>
      <p:sp>
        <p:nvSpPr>
          <p:cNvPr name="TextBox 49" id="49"/>
          <p:cNvSpPr txBox="true"/>
          <p:nvPr/>
        </p:nvSpPr>
        <p:spPr>
          <a:xfrm rot="0">
            <a:off x="7315581" y="5866982"/>
            <a:ext cx="4090547" cy="459910"/>
          </a:xfrm>
          <a:prstGeom prst="rect">
            <a:avLst/>
          </a:prstGeom>
        </p:spPr>
        <p:txBody>
          <a:bodyPr anchor="t" rtlCol="false" tIns="0" lIns="0" bIns="0" rIns="0">
            <a:spAutoFit/>
          </a:bodyPr>
          <a:lstStyle/>
          <a:p>
            <a:pPr algn="l" marL="0" indent="0" lvl="0">
              <a:lnSpc>
                <a:spcPts val="3494"/>
              </a:lnSpc>
            </a:pPr>
            <a:r>
              <a:rPr lang="en-US" b="true" sz="3393" spc="-152">
                <a:solidFill>
                  <a:srgbClr val="0F042D"/>
                </a:solidFill>
                <a:latin typeface="Open Sauce Medium"/>
                <a:ea typeface="Open Sauce Medium"/>
                <a:cs typeface="Open Sauce Medium"/>
                <a:sym typeface="Open Sauce Medium"/>
              </a:rPr>
              <a:t>Stat Tabanlı Diyalog</a:t>
            </a:r>
          </a:p>
        </p:txBody>
      </p:sp>
      <p:sp>
        <p:nvSpPr>
          <p:cNvPr name="AutoShape 50" id="50"/>
          <p:cNvSpPr/>
          <p:nvPr/>
        </p:nvSpPr>
        <p:spPr>
          <a:xfrm flipV="true">
            <a:off x="7341112" y="6689297"/>
            <a:ext cx="4013712" cy="0"/>
          </a:xfrm>
          <a:prstGeom prst="line">
            <a:avLst/>
          </a:prstGeom>
          <a:ln cap="flat" w="19050">
            <a:solidFill>
              <a:srgbClr val="0F042D"/>
            </a:solidFill>
            <a:prstDash val="solid"/>
            <a:headEnd type="none" len="sm" w="sm"/>
            <a:tailEnd type="none" len="sm" w="sm"/>
          </a:ln>
        </p:spPr>
      </p:sp>
      <p:sp>
        <p:nvSpPr>
          <p:cNvPr name="TextBox 51" id="51"/>
          <p:cNvSpPr txBox="true"/>
          <p:nvPr/>
        </p:nvSpPr>
        <p:spPr>
          <a:xfrm rot="0">
            <a:off x="7341112" y="6994097"/>
            <a:ext cx="4065016" cy="1306541"/>
          </a:xfrm>
          <a:prstGeom prst="rect">
            <a:avLst/>
          </a:prstGeom>
        </p:spPr>
        <p:txBody>
          <a:bodyPr anchor="t" rtlCol="false" tIns="0" lIns="0" bIns="0" rIns="0">
            <a:spAutoFit/>
          </a:bodyPr>
          <a:lstStyle/>
          <a:p>
            <a:pPr algn="l" marL="0" indent="0" lvl="0">
              <a:lnSpc>
                <a:spcPts val="1784"/>
              </a:lnSpc>
            </a:pPr>
            <a:r>
              <a:rPr lang="en-US" sz="1372" i="true" spc="-43">
                <a:solidFill>
                  <a:srgbClr val="696969"/>
                </a:solidFill>
                <a:latin typeface="Aileron Italics"/>
                <a:ea typeface="Aileron Italics"/>
                <a:cs typeface="Aileron Italics"/>
                <a:sym typeface="Aileron Italics"/>
              </a:rPr>
              <a:t>Diyaloglar oyuncunun istatistiklerine — Güç, Zeka, Karizma — dinamik olarak uyum sağlayarak benzersiz hikaye dallarının kilidini açar. Oyuncu seçimleri ve karakter gelişimi her konuşmaya doğrudan yansıyarak gerçek anlamda tepkisel (reaktif) bir hikaye anlatımı deneyimi yaratır.</a:t>
            </a:r>
          </a:p>
        </p:txBody>
      </p:sp>
      <p:sp>
        <p:nvSpPr>
          <p:cNvPr name="TextBox 52" id="52"/>
          <p:cNvSpPr txBox="true"/>
          <p:nvPr/>
        </p:nvSpPr>
        <p:spPr>
          <a:xfrm rot="0">
            <a:off x="12752711" y="6337672"/>
            <a:ext cx="4090547" cy="459910"/>
          </a:xfrm>
          <a:prstGeom prst="rect">
            <a:avLst/>
          </a:prstGeom>
        </p:spPr>
        <p:txBody>
          <a:bodyPr anchor="t" rtlCol="false" tIns="0" lIns="0" bIns="0" rIns="0">
            <a:spAutoFit/>
          </a:bodyPr>
          <a:lstStyle/>
          <a:p>
            <a:pPr algn="l" marL="0" indent="0" lvl="0">
              <a:lnSpc>
                <a:spcPts val="3494"/>
              </a:lnSpc>
            </a:pPr>
            <a:r>
              <a:rPr lang="en-US" b="true" sz="3393" spc="-152">
                <a:solidFill>
                  <a:srgbClr val="EFEFEF"/>
                </a:solidFill>
                <a:latin typeface="Open Sauce Medium"/>
                <a:ea typeface="Open Sauce Medium"/>
                <a:cs typeface="Open Sauce Medium"/>
                <a:sym typeface="Open Sauce Medium"/>
              </a:rPr>
              <a:t>Modüler Mimari</a:t>
            </a:r>
          </a:p>
        </p:txBody>
      </p:sp>
      <p:sp>
        <p:nvSpPr>
          <p:cNvPr name="AutoShape 53" id="53"/>
          <p:cNvSpPr/>
          <p:nvPr/>
        </p:nvSpPr>
        <p:spPr>
          <a:xfrm flipV="true">
            <a:off x="12778242" y="7159986"/>
            <a:ext cx="4013712" cy="0"/>
          </a:xfrm>
          <a:prstGeom prst="line">
            <a:avLst/>
          </a:prstGeom>
          <a:ln cap="flat" w="19050">
            <a:solidFill>
              <a:srgbClr val="FFFFFF"/>
            </a:solidFill>
            <a:prstDash val="solid"/>
            <a:headEnd type="none" len="sm" w="sm"/>
            <a:tailEnd type="none" len="sm" w="sm"/>
          </a:ln>
        </p:spPr>
      </p:sp>
      <p:sp>
        <p:nvSpPr>
          <p:cNvPr name="TextBox 54" id="54"/>
          <p:cNvSpPr txBox="true"/>
          <p:nvPr/>
        </p:nvSpPr>
        <p:spPr>
          <a:xfrm rot="0">
            <a:off x="12778242" y="7464786"/>
            <a:ext cx="4065016" cy="1306541"/>
          </a:xfrm>
          <a:prstGeom prst="rect">
            <a:avLst/>
          </a:prstGeom>
        </p:spPr>
        <p:txBody>
          <a:bodyPr anchor="t" rtlCol="false" tIns="0" lIns="0" bIns="0" rIns="0">
            <a:spAutoFit/>
          </a:bodyPr>
          <a:lstStyle/>
          <a:p>
            <a:pPr algn="l" marL="0" indent="0" lvl="0">
              <a:lnSpc>
                <a:spcPts val="1784"/>
              </a:lnSpc>
            </a:pPr>
            <a:r>
              <a:rPr lang="en-US" sz="1372" i="true" spc="-43">
                <a:solidFill>
                  <a:srgbClr val="B8B8B8"/>
                </a:solidFill>
                <a:latin typeface="Aileron Italics"/>
                <a:ea typeface="Aileron Italics"/>
                <a:cs typeface="Aileron Italics"/>
                <a:sym typeface="Aileron Italics"/>
              </a:rPr>
              <a:t>Adapter </a:t>
            </a:r>
            <a:r>
              <a:rPr lang="en-US" sz="1372" i="true" spc="-43">
                <a:solidFill>
                  <a:srgbClr val="B8B8B8"/>
                </a:solidFill>
                <a:latin typeface="Aileron Italics"/>
                <a:ea typeface="Aileron Italics"/>
                <a:cs typeface="Aileron Italics"/>
                <a:sym typeface="Aileron Italics"/>
              </a:rPr>
              <a:t>Pattern entegrasyonuna sahip tak-çalıştır (plug-and-play) ScriptableObject mimarisi. Sıfır teknik bağımlılık, sistemin farklı Unity projelerine sorunsuz bir şekilde uyarlanmasını garanti ederek bağımsız stüdyoların sistemi minimum kurulum ve maksimum esneklikle entegre etmesine olanak tanır.</a:t>
            </a:r>
          </a:p>
        </p:txBody>
      </p:sp>
      <p:sp>
        <p:nvSpPr>
          <p:cNvPr name="TextBox 55" id="55"/>
          <p:cNvSpPr txBox="true"/>
          <p:nvPr/>
        </p:nvSpPr>
        <p:spPr>
          <a:xfrm rot="0">
            <a:off x="8137263" y="3384118"/>
            <a:ext cx="9115594" cy="751912"/>
          </a:xfrm>
          <a:prstGeom prst="rect">
            <a:avLst/>
          </a:prstGeom>
        </p:spPr>
        <p:txBody>
          <a:bodyPr anchor="t" rtlCol="false" tIns="0" lIns="0" bIns="0" rIns="0">
            <a:spAutoFit/>
          </a:bodyPr>
          <a:lstStyle/>
          <a:p>
            <a:pPr algn="l" marL="0" indent="0" lvl="0">
              <a:lnSpc>
                <a:spcPts val="2007"/>
              </a:lnSpc>
            </a:pPr>
            <a:r>
              <a:rPr lang="en-US" sz="1544" i="true" spc="-49" strike="noStrike" u="none">
                <a:solidFill>
                  <a:srgbClr val="B8B8B8"/>
                </a:solidFill>
                <a:latin typeface="Aileron Light Italics"/>
                <a:ea typeface="Aileron Light Italics"/>
                <a:cs typeface="Aileron Light Italics"/>
                <a:sym typeface="Aileron Light Italics"/>
              </a:rPr>
              <a:t>Dinamik Stat Tabanlı Diyalog Sistemi dört güçlü temel üzerine inşa edilmiştir — her biri bağımsız (indie) RPG geliştiricilerine Unity için modüler, ölçeklenebilir ve performansı optimize edilmiş bir anlatı motoru sunmak üzere tasarlanmıştır.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F042D"/>
        </a:solidFill>
      </p:bgPr>
    </p:bg>
    <p:spTree>
      <p:nvGrpSpPr>
        <p:cNvPr id="1" name=""/>
        <p:cNvGrpSpPr/>
        <p:nvPr/>
      </p:nvGrpSpPr>
      <p:grpSpPr>
        <a:xfrm>
          <a:off x="0" y="0"/>
          <a:ext cx="0" cy="0"/>
          <a:chOff x="0" y="0"/>
          <a:chExt cx="0" cy="0"/>
        </a:xfrm>
      </p:grpSpPr>
      <p:grpSp>
        <p:nvGrpSpPr>
          <p:cNvPr name="Group 2" id="2"/>
          <p:cNvGrpSpPr/>
          <p:nvPr/>
        </p:nvGrpSpPr>
        <p:grpSpPr>
          <a:xfrm rot="0">
            <a:off x="9953770" y="505729"/>
            <a:ext cx="4279219" cy="502851"/>
            <a:chOff x="0" y="0"/>
            <a:chExt cx="3458428" cy="406400"/>
          </a:xfrm>
        </p:grpSpPr>
        <p:sp>
          <p:nvSpPr>
            <p:cNvPr name="Freeform 3" id="3"/>
            <p:cNvSpPr/>
            <p:nvPr/>
          </p:nvSpPr>
          <p:spPr>
            <a:xfrm flipH="false" flipV="false" rot="0">
              <a:off x="0" y="0"/>
              <a:ext cx="3458428" cy="406400"/>
            </a:xfrm>
            <a:custGeom>
              <a:avLst/>
              <a:gdLst/>
              <a:ahLst/>
              <a:cxnLst/>
              <a:rect r="r" b="b" t="t" l="l"/>
              <a:pathLst>
                <a:path h="406400" w="3458428">
                  <a:moveTo>
                    <a:pt x="3255228" y="0"/>
                  </a:moveTo>
                  <a:cubicBezTo>
                    <a:pt x="3367453" y="0"/>
                    <a:pt x="3458428" y="90976"/>
                    <a:pt x="3458428" y="203200"/>
                  </a:cubicBezTo>
                  <a:cubicBezTo>
                    <a:pt x="3458428" y="315424"/>
                    <a:pt x="3367453" y="406400"/>
                    <a:pt x="3255228" y="406400"/>
                  </a:cubicBezTo>
                  <a:lnTo>
                    <a:pt x="203200" y="406400"/>
                  </a:lnTo>
                  <a:cubicBezTo>
                    <a:pt x="90976" y="406400"/>
                    <a:pt x="0" y="315424"/>
                    <a:pt x="0" y="203200"/>
                  </a:cubicBezTo>
                  <a:cubicBezTo>
                    <a:pt x="0" y="90976"/>
                    <a:pt x="90976" y="0"/>
                    <a:pt x="203200" y="0"/>
                  </a:cubicBezTo>
                  <a:close/>
                </a:path>
              </a:pathLst>
            </a:custGeom>
            <a:solidFill>
              <a:srgbClr val="EFEFEF"/>
            </a:solidFill>
            <a:ln w="9525" cap="sq">
              <a:solidFill>
                <a:srgbClr val="EFEFEF"/>
              </a:solidFill>
              <a:prstDash val="solid"/>
              <a:miter/>
            </a:ln>
          </p:spPr>
        </p:sp>
        <p:sp>
          <p:nvSpPr>
            <p:cNvPr name="TextBox 4" id="4"/>
            <p:cNvSpPr txBox="true"/>
            <p:nvPr/>
          </p:nvSpPr>
          <p:spPr>
            <a:xfrm>
              <a:off x="0" y="0"/>
              <a:ext cx="3458428" cy="406400"/>
            </a:xfrm>
            <a:prstGeom prst="rect">
              <a:avLst/>
            </a:prstGeom>
          </p:spPr>
          <p:txBody>
            <a:bodyPr anchor="ctr" rtlCol="false" tIns="50800" lIns="50800" bIns="50800" rIns="50800"/>
            <a:lstStyle/>
            <a:p>
              <a:pPr algn="ctr" marL="0" indent="0" lvl="0">
                <a:lnSpc>
                  <a:spcPts val="2686"/>
                </a:lnSpc>
              </a:pPr>
            </a:p>
          </p:txBody>
        </p:sp>
      </p:grpSp>
      <p:grpSp>
        <p:nvGrpSpPr>
          <p:cNvPr name="Group 5" id="5"/>
          <p:cNvGrpSpPr/>
          <p:nvPr/>
        </p:nvGrpSpPr>
        <p:grpSpPr>
          <a:xfrm rot="0">
            <a:off x="7087567" y="505729"/>
            <a:ext cx="2732854" cy="502851"/>
            <a:chOff x="0" y="0"/>
            <a:chExt cx="2208669" cy="406400"/>
          </a:xfrm>
        </p:grpSpPr>
        <p:sp>
          <p:nvSpPr>
            <p:cNvPr name="Freeform 6" id="6"/>
            <p:cNvSpPr/>
            <p:nvPr/>
          </p:nvSpPr>
          <p:spPr>
            <a:xfrm flipH="false" flipV="false" rot="0">
              <a:off x="0" y="0"/>
              <a:ext cx="2208669" cy="406400"/>
            </a:xfrm>
            <a:custGeom>
              <a:avLst/>
              <a:gdLst/>
              <a:ahLst/>
              <a:cxnLst/>
              <a:rect r="r" b="b" t="t" l="l"/>
              <a:pathLst>
                <a:path h="406400" w="2208669">
                  <a:moveTo>
                    <a:pt x="2005469" y="0"/>
                  </a:moveTo>
                  <a:cubicBezTo>
                    <a:pt x="2117693" y="0"/>
                    <a:pt x="2208669" y="90976"/>
                    <a:pt x="2208669" y="203200"/>
                  </a:cubicBezTo>
                  <a:cubicBezTo>
                    <a:pt x="2208669" y="315424"/>
                    <a:pt x="2117693" y="406400"/>
                    <a:pt x="2005469" y="406400"/>
                  </a:cubicBezTo>
                  <a:lnTo>
                    <a:pt x="203200" y="406400"/>
                  </a:lnTo>
                  <a:cubicBezTo>
                    <a:pt x="90976" y="406400"/>
                    <a:pt x="0" y="315424"/>
                    <a:pt x="0" y="203200"/>
                  </a:cubicBezTo>
                  <a:cubicBezTo>
                    <a:pt x="0" y="90976"/>
                    <a:pt x="90976" y="0"/>
                    <a:pt x="203200" y="0"/>
                  </a:cubicBezTo>
                  <a:close/>
                </a:path>
              </a:pathLst>
            </a:custGeom>
            <a:solidFill>
              <a:srgbClr val="EFEFEF"/>
            </a:solidFill>
            <a:ln w="9525" cap="sq">
              <a:solidFill>
                <a:srgbClr val="EFEFEF"/>
              </a:solidFill>
              <a:prstDash val="solid"/>
              <a:miter/>
            </a:ln>
          </p:spPr>
        </p:sp>
        <p:sp>
          <p:nvSpPr>
            <p:cNvPr name="TextBox 7" id="7"/>
            <p:cNvSpPr txBox="true"/>
            <p:nvPr/>
          </p:nvSpPr>
          <p:spPr>
            <a:xfrm>
              <a:off x="0" y="0"/>
              <a:ext cx="2208669" cy="406400"/>
            </a:xfrm>
            <a:prstGeom prst="rect">
              <a:avLst/>
            </a:prstGeom>
          </p:spPr>
          <p:txBody>
            <a:bodyPr anchor="ctr" rtlCol="false" tIns="50800" lIns="50800" bIns="50800" rIns="50800"/>
            <a:lstStyle/>
            <a:p>
              <a:pPr algn="ctr" marL="0" indent="0" lvl="0">
                <a:lnSpc>
                  <a:spcPts val="2686"/>
                </a:lnSpc>
              </a:pPr>
            </a:p>
          </p:txBody>
        </p:sp>
      </p:grpSp>
      <p:grpSp>
        <p:nvGrpSpPr>
          <p:cNvPr name="Group 8" id="8"/>
          <p:cNvGrpSpPr/>
          <p:nvPr/>
        </p:nvGrpSpPr>
        <p:grpSpPr>
          <a:xfrm rot="0">
            <a:off x="4657277" y="505729"/>
            <a:ext cx="3625880" cy="502851"/>
            <a:chOff x="0" y="0"/>
            <a:chExt cx="2930405" cy="406400"/>
          </a:xfrm>
        </p:grpSpPr>
        <p:sp>
          <p:nvSpPr>
            <p:cNvPr name="Freeform 9" id="9"/>
            <p:cNvSpPr/>
            <p:nvPr/>
          </p:nvSpPr>
          <p:spPr>
            <a:xfrm flipH="false" flipV="false" rot="0">
              <a:off x="0" y="0"/>
              <a:ext cx="2930405" cy="406400"/>
            </a:xfrm>
            <a:custGeom>
              <a:avLst/>
              <a:gdLst/>
              <a:ahLst/>
              <a:cxnLst/>
              <a:rect r="r" b="b" t="t" l="l"/>
              <a:pathLst>
                <a:path h="406400" w="2930405">
                  <a:moveTo>
                    <a:pt x="2727205" y="0"/>
                  </a:moveTo>
                  <a:cubicBezTo>
                    <a:pt x="2839429" y="0"/>
                    <a:pt x="2930405" y="90976"/>
                    <a:pt x="2930405" y="203200"/>
                  </a:cubicBezTo>
                  <a:cubicBezTo>
                    <a:pt x="2930405" y="315424"/>
                    <a:pt x="2839429" y="406400"/>
                    <a:pt x="2727205" y="406400"/>
                  </a:cubicBezTo>
                  <a:lnTo>
                    <a:pt x="203200" y="406400"/>
                  </a:lnTo>
                  <a:cubicBezTo>
                    <a:pt x="90976" y="406400"/>
                    <a:pt x="0" y="315424"/>
                    <a:pt x="0" y="203200"/>
                  </a:cubicBezTo>
                  <a:cubicBezTo>
                    <a:pt x="0" y="90976"/>
                    <a:pt x="90976" y="0"/>
                    <a:pt x="203200" y="0"/>
                  </a:cubicBezTo>
                  <a:close/>
                </a:path>
              </a:pathLst>
            </a:custGeom>
            <a:ln w="9525" cap="sq">
              <a:solidFill>
                <a:srgbClr val="EFEFEF"/>
              </a:solidFill>
              <a:prstDash val="solid"/>
              <a:miter/>
            </a:ln>
          </p:spPr>
        </p:sp>
        <p:sp>
          <p:nvSpPr>
            <p:cNvPr name="TextBox 10" id="10"/>
            <p:cNvSpPr txBox="true"/>
            <p:nvPr/>
          </p:nvSpPr>
          <p:spPr>
            <a:xfrm>
              <a:off x="0" y="0"/>
              <a:ext cx="2930405" cy="406400"/>
            </a:xfrm>
            <a:prstGeom prst="rect">
              <a:avLst/>
            </a:prstGeom>
          </p:spPr>
          <p:txBody>
            <a:bodyPr anchor="ctr" rtlCol="false" tIns="50800" lIns="50800" bIns="50800" rIns="50800"/>
            <a:lstStyle/>
            <a:p>
              <a:pPr algn="ctr" marL="0" indent="0" lvl="0">
                <a:lnSpc>
                  <a:spcPts val="2686"/>
                </a:lnSpc>
              </a:pPr>
            </a:p>
          </p:txBody>
        </p:sp>
      </p:grpSp>
      <p:sp>
        <p:nvSpPr>
          <p:cNvPr name="Freeform 11" id="11"/>
          <p:cNvSpPr/>
          <p:nvPr/>
        </p:nvSpPr>
        <p:spPr>
          <a:xfrm flipH="false" flipV="false" rot="0">
            <a:off x="1090400" y="559187"/>
            <a:ext cx="422594" cy="364968"/>
          </a:xfrm>
          <a:custGeom>
            <a:avLst/>
            <a:gdLst/>
            <a:ahLst/>
            <a:cxnLst/>
            <a:rect r="r" b="b" t="t" l="l"/>
            <a:pathLst>
              <a:path h="364968" w="422594">
                <a:moveTo>
                  <a:pt x="0" y="0"/>
                </a:moveTo>
                <a:lnTo>
                  <a:pt x="422594" y="0"/>
                </a:lnTo>
                <a:lnTo>
                  <a:pt x="422594" y="364968"/>
                </a:lnTo>
                <a:lnTo>
                  <a:pt x="0" y="364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746751" y="635054"/>
            <a:ext cx="3737193" cy="255647"/>
          </a:xfrm>
          <a:prstGeom prst="rect">
            <a:avLst/>
          </a:prstGeom>
        </p:spPr>
        <p:txBody>
          <a:bodyPr anchor="t" rtlCol="false" tIns="0" lIns="0" bIns="0" rIns="0">
            <a:spAutoFit/>
          </a:bodyPr>
          <a:lstStyle/>
          <a:p>
            <a:pPr algn="l" marL="0" indent="0" lvl="0">
              <a:lnSpc>
                <a:spcPts val="1823"/>
              </a:lnSpc>
            </a:pPr>
            <a:r>
              <a:rPr lang="en-US" b="true" sz="2071" spc="-93">
                <a:solidFill>
                  <a:srgbClr val="EFEFEF"/>
                </a:solidFill>
                <a:latin typeface="Open Sauce Medium"/>
                <a:ea typeface="Open Sauce Medium"/>
                <a:cs typeface="Open Sauce Medium"/>
                <a:sym typeface="Open Sauce Medium"/>
              </a:rPr>
              <a:t>Dynamic Stat-Driven</a:t>
            </a:r>
          </a:p>
        </p:txBody>
      </p:sp>
      <p:sp>
        <p:nvSpPr>
          <p:cNvPr name="TextBox 13" id="13"/>
          <p:cNvSpPr txBox="true"/>
          <p:nvPr/>
        </p:nvSpPr>
        <p:spPr>
          <a:xfrm rot="0">
            <a:off x="4742541" y="677716"/>
            <a:ext cx="2345025" cy="192714"/>
          </a:xfrm>
          <a:prstGeom prst="rect">
            <a:avLst/>
          </a:prstGeom>
        </p:spPr>
        <p:txBody>
          <a:bodyPr anchor="t" rtlCol="false" tIns="0" lIns="0" bIns="0" rIns="0">
            <a:spAutoFit/>
          </a:bodyPr>
          <a:lstStyle/>
          <a:p>
            <a:pPr algn="ctr" marL="0" indent="0" lvl="0">
              <a:lnSpc>
                <a:spcPts val="1491"/>
              </a:lnSpc>
            </a:pPr>
            <a:r>
              <a:rPr lang="en-US" b="true" sz="1695" spc="-76">
                <a:solidFill>
                  <a:srgbClr val="EFEFEF"/>
                </a:solidFill>
                <a:latin typeface="Open Sauce Medium"/>
                <a:ea typeface="Open Sauce Medium"/>
                <a:cs typeface="Open Sauce Medium"/>
                <a:sym typeface="Open Sauce Medium"/>
              </a:rPr>
              <a:t>Game Dev Project</a:t>
            </a:r>
          </a:p>
        </p:txBody>
      </p:sp>
      <p:sp>
        <p:nvSpPr>
          <p:cNvPr name="TextBox 14" id="14"/>
          <p:cNvSpPr txBox="true"/>
          <p:nvPr/>
        </p:nvSpPr>
        <p:spPr>
          <a:xfrm rot="0">
            <a:off x="9953770" y="677716"/>
            <a:ext cx="4279219" cy="192714"/>
          </a:xfrm>
          <a:prstGeom prst="rect">
            <a:avLst/>
          </a:prstGeom>
        </p:spPr>
        <p:txBody>
          <a:bodyPr anchor="t" rtlCol="false" tIns="0" lIns="0" bIns="0" rIns="0">
            <a:spAutoFit/>
          </a:bodyPr>
          <a:lstStyle/>
          <a:p>
            <a:pPr algn="ctr" marL="0" indent="0" lvl="0">
              <a:lnSpc>
                <a:spcPts val="1491"/>
              </a:lnSpc>
            </a:pPr>
            <a:r>
              <a:rPr lang="en-US" b="true" sz="1695" spc="-76">
                <a:solidFill>
                  <a:srgbClr val="0F042D"/>
                </a:solidFill>
                <a:latin typeface="Open Sauce Medium"/>
                <a:ea typeface="Open Sauce Medium"/>
                <a:cs typeface="Open Sauce Medium"/>
                <a:sym typeface="Open Sauce Medium"/>
              </a:rPr>
              <a:t>Presented by : Hüseyin Asan</a:t>
            </a:r>
          </a:p>
        </p:txBody>
      </p:sp>
      <p:sp>
        <p:nvSpPr>
          <p:cNvPr name="TextBox 15" id="15"/>
          <p:cNvSpPr txBox="true"/>
          <p:nvPr/>
        </p:nvSpPr>
        <p:spPr>
          <a:xfrm rot="0">
            <a:off x="7145539" y="677716"/>
            <a:ext cx="2674881" cy="192714"/>
          </a:xfrm>
          <a:prstGeom prst="rect">
            <a:avLst/>
          </a:prstGeom>
        </p:spPr>
        <p:txBody>
          <a:bodyPr anchor="t" rtlCol="false" tIns="0" lIns="0" bIns="0" rIns="0">
            <a:spAutoFit/>
          </a:bodyPr>
          <a:lstStyle/>
          <a:p>
            <a:pPr algn="ctr" marL="0" indent="0" lvl="0">
              <a:lnSpc>
                <a:spcPts val="1491"/>
              </a:lnSpc>
            </a:pPr>
            <a:r>
              <a:rPr lang="en-US" b="true" sz="1695" spc="-76">
                <a:solidFill>
                  <a:srgbClr val="0F042D"/>
                </a:solidFill>
                <a:latin typeface="Open Sauce Medium"/>
                <a:ea typeface="Open Sauce Medium"/>
                <a:cs typeface="Open Sauce Medium"/>
                <a:sym typeface="Open Sauce Medium"/>
              </a:rPr>
              <a:t>Investor Pitch</a:t>
            </a:r>
          </a:p>
        </p:txBody>
      </p:sp>
      <p:sp>
        <p:nvSpPr>
          <p:cNvPr name="TextBox 16" id="16"/>
          <p:cNvSpPr txBox="true"/>
          <p:nvPr/>
        </p:nvSpPr>
        <p:spPr>
          <a:xfrm rot="0">
            <a:off x="1028700" y="1937612"/>
            <a:ext cx="16230600" cy="1170920"/>
          </a:xfrm>
          <a:prstGeom prst="rect">
            <a:avLst/>
          </a:prstGeom>
        </p:spPr>
        <p:txBody>
          <a:bodyPr anchor="t" rtlCol="false" tIns="0" lIns="0" bIns="0" rIns="0">
            <a:spAutoFit/>
          </a:bodyPr>
          <a:lstStyle/>
          <a:p>
            <a:pPr algn="ctr" marL="0" indent="0" lvl="0">
              <a:lnSpc>
                <a:spcPts val="8442"/>
              </a:lnSpc>
            </a:pPr>
            <a:r>
              <a:rPr lang="en-US" b="true" sz="9593" spc="-431">
                <a:solidFill>
                  <a:srgbClr val="EFEFEF"/>
                </a:solidFill>
                <a:latin typeface="Open Sauce Medium"/>
                <a:ea typeface="Open Sauce Medium"/>
                <a:cs typeface="Open Sauce Medium"/>
                <a:sym typeface="Open Sauce Medium"/>
              </a:rPr>
              <a:t>Teknik Mimari</a:t>
            </a:r>
          </a:p>
        </p:txBody>
      </p:sp>
      <p:grpSp>
        <p:nvGrpSpPr>
          <p:cNvPr name="Group 17" id="17"/>
          <p:cNvGrpSpPr/>
          <p:nvPr/>
        </p:nvGrpSpPr>
        <p:grpSpPr>
          <a:xfrm rot="0">
            <a:off x="-193450" y="3196155"/>
            <a:ext cx="18674901" cy="7378284"/>
            <a:chOff x="0" y="0"/>
            <a:chExt cx="24899868" cy="9837711"/>
          </a:xfrm>
        </p:grpSpPr>
        <p:grpSp>
          <p:nvGrpSpPr>
            <p:cNvPr name="Group 18" id="18"/>
            <p:cNvGrpSpPr/>
            <p:nvPr/>
          </p:nvGrpSpPr>
          <p:grpSpPr>
            <a:xfrm rot="0">
              <a:off x="0" y="4427815"/>
              <a:ext cx="3558057" cy="5409897"/>
              <a:chOff x="0" y="0"/>
              <a:chExt cx="812800" cy="1235833"/>
            </a:xfrm>
          </p:grpSpPr>
          <p:sp>
            <p:nvSpPr>
              <p:cNvPr name="Freeform 19" id="19"/>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0" id="20"/>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pPr>
              </a:p>
            </p:txBody>
          </p:sp>
        </p:grpSp>
        <p:grpSp>
          <p:nvGrpSpPr>
            <p:cNvPr name="Group 21" id="21"/>
            <p:cNvGrpSpPr/>
            <p:nvPr/>
          </p:nvGrpSpPr>
          <p:grpSpPr>
            <a:xfrm rot="0">
              <a:off x="21341811" y="4427815"/>
              <a:ext cx="3558057" cy="5409897"/>
              <a:chOff x="0" y="0"/>
              <a:chExt cx="812800" cy="1235833"/>
            </a:xfrm>
          </p:grpSpPr>
          <p:sp>
            <p:nvSpPr>
              <p:cNvPr name="Freeform 22" id="22"/>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3" id="23"/>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pPr>
              </a:p>
            </p:txBody>
          </p:sp>
        </p:grpSp>
        <p:grpSp>
          <p:nvGrpSpPr>
            <p:cNvPr name="Group 24" id="24"/>
            <p:cNvGrpSpPr/>
            <p:nvPr/>
          </p:nvGrpSpPr>
          <p:grpSpPr>
            <a:xfrm rot="0">
              <a:off x="3558057" y="3198827"/>
              <a:ext cx="3558057" cy="6638885"/>
              <a:chOff x="0" y="0"/>
              <a:chExt cx="812800" cy="1516582"/>
            </a:xfrm>
          </p:grpSpPr>
          <p:sp>
            <p:nvSpPr>
              <p:cNvPr name="Freeform 25" id="25"/>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6" id="26"/>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pPr>
              </a:p>
            </p:txBody>
          </p:sp>
        </p:grpSp>
        <p:grpSp>
          <p:nvGrpSpPr>
            <p:cNvPr name="Group 27" id="27"/>
            <p:cNvGrpSpPr/>
            <p:nvPr/>
          </p:nvGrpSpPr>
          <p:grpSpPr>
            <a:xfrm rot="0">
              <a:off x="17783754" y="3198827"/>
              <a:ext cx="3558057" cy="6638885"/>
              <a:chOff x="0" y="0"/>
              <a:chExt cx="812800" cy="1516582"/>
            </a:xfrm>
          </p:grpSpPr>
          <p:sp>
            <p:nvSpPr>
              <p:cNvPr name="Freeform 28" id="28"/>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29" id="29"/>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pPr>
              </a:p>
            </p:txBody>
          </p:sp>
        </p:grpSp>
        <p:grpSp>
          <p:nvGrpSpPr>
            <p:cNvPr name="Group 30" id="30"/>
            <p:cNvGrpSpPr/>
            <p:nvPr/>
          </p:nvGrpSpPr>
          <p:grpSpPr>
            <a:xfrm rot="0">
              <a:off x="7116114" y="1874177"/>
              <a:ext cx="3558057" cy="7963534"/>
              <a:chOff x="0" y="0"/>
              <a:chExt cx="812800" cy="1819184"/>
            </a:xfrm>
          </p:grpSpPr>
          <p:sp>
            <p:nvSpPr>
              <p:cNvPr name="Freeform 31" id="31"/>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32" id="32"/>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pPr>
              </a:p>
            </p:txBody>
          </p:sp>
        </p:grpSp>
        <p:grpSp>
          <p:nvGrpSpPr>
            <p:cNvPr name="Group 33" id="33"/>
            <p:cNvGrpSpPr/>
            <p:nvPr/>
          </p:nvGrpSpPr>
          <p:grpSpPr>
            <a:xfrm rot="0">
              <a:off x="14232228" y="1874177"/>
              <a:ext cx="3558057" cy="7963534"/>
              <a:chOff x="0" y="0"/>
              <a:chExt cx="812800" cy="1819184"/>
            </a:xfrm>
          </p:grpSpPr>
          <p:sp>
            <p:nvSpPr>
              <p:cNvPr name="Freeform 34" id="34"/>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35" id="35"/>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pPr>
              </a:p>
            </p:txBody>
          </p:sp>
        </p:grpSp>
        <p:grpSp>
          <p:nvGrpSpPr>
            <p:cNvPr name="Group 36" id="36"/>
            <p:cNvGrpSpPr/>
            <p:nvPr/>
          </p:nvGrpSpPr>
          <p:grpSpPr>
            <a:xfrm rot="0">
              <a:off x="10674171" y="0"/>
              <a:ext cx="3558057" cy="9837711"/>
              <a:chOff x="0" y="0"/>
              <a:chExt cx="812800" cy="2247320"/>
            </a:xfrm>
          </p:grpSpPr>
          <p:sp>
            <p:nvSpPr>
              <p:cNvPr name="Freeform 37" id="37"/>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EFEFEF">
                      <a:alpha val="0"/>
                    </a:srgbClr>
                  </a:gs>
                  <a:gs pos="50000">
                    <a:srgbClr val="EFEFEF">
                      <a:alpha val="7500"/>
                    </a:srgbClr>
                  </a:gs>
                  <a:gs pos="100000">
                    <a:srgbClr val="EFEFEF">
                      <a:alpha val="20000"/>
                    </a:srgbClr>
                  </a:gs>
                </a:gsLst>
                <a:lin ang="5400000"/>
              </a:gradFill>
            </p:spPr>
          </p:sp>
          <p:sp>
            <p:nvSpPr>
              <p:cNvPr name="TextBox 38" id="38"/>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sp>
        <p:nvSpPr>
          <p:cNvPr name="TextBox 39" id="39"/>
          <p:cNvSpPr txBox="true"/>
          <p:nvPr/>
        </p:nvSpPr>
        <p:spPr>
          <a:xfrm rot="0">
            <a:off x="2923471" y="3384118"/>
            <a:ext cx="12441059" cy="559497"/>
          </a:xfrm>
          <a:prstGeom prst="rect">
            <a:avLst/>
          </a:prstGeom>
        </p:spPr>
        <p:txBody>
          <a:bodyPr anchor="t" rtlCol="false" tIns="0" lIns="0" bIns="0" rIns="0">
            <a:spAutoFit/>
          </a:bodyPr>
          <a:lstStyle/>
          <a:p>
            <a:pPr algn="ctr" marL="0" indent="0" lvl="0">
              <a:lnSpc>
                <a:spcPts val="2203"/>
              </a:lnSpc>
            </a:pPr>
            <a:r>
              <a:rPr lang="en-US" sz="1695" spc="-54" strike="noStrike" u="none">
                <a:solidFill>
                  <a:srgbClr val="B8B8B8"/>
                </a:solidFill>
                <a:latin typeface="Aileron Light"/>
                <a:ea typeface="Aileron Light"/>
                <a:cs typeface="Aileron Light"/>
                <a:sym typeface="Aileron Light"/>
              </a:rPr>
              <a:t>ScriptableObject mimarisi ve Adapter Pattern (Bağdaştırıcı Desen) ile inşa edilmiş, Unity tabanlı modüler diyalog motoru — spagetti kodu ortadan kaldırırken, sıfır teknik bağımlılıkla herhangi bir RPG projesine kusursuz entegrasyon sağlar.</a:t>
            </a:r>
          </a:p>
        </p:txBody>
      </p:sp>
      <p:grpSp>
        <p:nvGrpSpPr>
          <p:cNvPr name="Group 40" id="40"/>
          <p:cNvGrpSpPr/>
          <p:nvPr/>
        </p:nvGrpSpPr>
        <p:grpSpPr>
          <a:xfrm rot="0">
            <a:off x="5392913" y="4907568"/>
            <a:ext cx="3540615" cy="4388665"/>
            <a:chOff x="0" y="0"/>
            <a:chExt cx="617628" cy="765563"/>
          </a:xfrm>
        </p:grpSpPr>
        <p:sp>
          <p:nvSpPr>
            <p:cNvPr name="Freeform 41" id="41"/>
            <p:cNvSpPr/>
            <p:nvPr/>
          </p:nvSpPr>
          <p:spPr>
            <a:xfrm flipH="false" flipV="false" rot="0">
              <a:off x="0" y="0"/>
              <a:ext cx="617628" cy="765563"/>
            </a:xfrm>
            <a:custGeom>
              <a:avLst/>
              <a:gdLst/>
              <a:ahLst/>
              <a:cxnLst/>
              <a:rect r="r" b="b" t="t" l="l"/>
              <a:pathLst>
                <a:path h="765563" w="617628">
                  <a:moveTo>
                    <a:pt x="78718" y="0"/>
                  </a:moveTo>
                  <a:lnTo>
                    <a:pt x="538911" y="0"/>
                  </a:lnTo>
                  <a:cubicBezTo>
                    <a:pt x="559788" y="0"/>
                    <a:pt x="579810" y="8293"/>
                    <a:pt x="594572" y="23056"/>
                  </a:cubicBezTo>
                  <a:cubicBezTo>
                    <a:pt x="609335" y="37818"/>
                    <a:pt x="617628" y="57840"/>
                    <a:pt x="617628" y="78718"/>
                  </a:cubicBezTo>
                  <a:lnTo>
                    <a:pt x="617628" y="686845"/>
                  </a:lnTo>
                  <a:cubicBezTo>
                    <a:pt x="617628" y="730320"/>
                    <a:pt x="582385" y="765563"/>
                    <a:pt x="538911" y="765563"/>
                  </a:cubicBezTo>
                  <a:lnTo>
                    <a:pt x="78718" y="765563"/>
                  </a:lnTo>
                  <a:cubicBezTo>
                    <a:pt x="57840" y="765563"/>
                    <a:pt x="37818" y="757270"/>
                    <a:pt x="23056" y="742507"/>
                  </a:cubicBezTo>
                  <a:cubicBezTo>
                    <a:pt x="8293" y="727745"/>
                    <a:pt x="0" y="707723"/>
                    <a:pt x="0" y="686845"/>
                  </a:cubicBezTo>
                  <a:lnTo>
                    <a:pt x="0" y="78718"/>
                  </a:lnTo>
                  <a:cubicBezTo>
                    <a:pt x="0" y="57840"/>
                    <a:pt x="8293" y="37818"/>
                    <a:pt x="23056" y="23056"/>
                  </a:cubicBezTo>
                  <a:cubicBezTo>
                    <a:pt x="37818" y="8293"/>
                    <a:pt x="57840" y="0"/>
                    <a:pt x="78718" y="0"/>
                  </a:cubicBezTo>
                  <a:close/>
                </a:path>
              </a:pathLst>
            </a:custGeom>
            <a:blipFill>
              <a:blip r:embed="rId4">
                <a:alphaModFix amt="31000"/>
              </a:blip>
              <a:stretch>
                <a:fillRect l="-123" t="0" r="-123" b="0"/>
              </a:stretch>
            </a:blipFill>
            <a:ln w="9525" cap="rnd">
              <a:solidFill>
                <a:srgbClr val="EFEFEF">
                  <a:alpha val="30980"/>
                </a:srgbClr>
              </a:solidFill>
              <a:prstDash val="solid"/>
              <a:round/>
            </a:ln>
          </p:spPr>
        </p:sp>
      </p:grpSp>
      <p:grpSp>
        <p:nvGrpSpPr>
          <p:cNvPr name="Group 42" id="42"/>
          <p:cNvGrpSpPr/>
          <p:nvPr/>
        </p:nvGrpSpPr>
        <p:grpSpPr>
          <a:xfrm rot="0">
            <a:off x="9354472" y="4907568"/>
            <a:ext cx="3540615" cy="4388665"/>
            <a:chOff x="0" y="0"/>
            <a:chExt cx="617628" cy="765563"/>
          </a:xfrm>
        </p:grpSpPr>
        <p:sp>
          <p:nvSpPr>
            <p:cNvPr name="Freeform 43" id="43"/>
            <p:cNvSpPr/>
            <p:nvPr/>
          </p:nvSpPr>
          <p:spPr>
            <a:xfrm flipH="false" flipV="false" rot="0">
              <a:off x="0" y="0"/>
              <a:ext cx="617628" cy="765563"/>
            </a:xfrm>
            <a:custGeom>
              <a:avLst/>
              <a:gdLst/>
              <a:ahLst/>
              <a:cxnLst/>
              <a:rect r="r" b="b" t="t" l="l"/>
              <a:pathLst>
                <a:path h="765563" w="617628">
                  <a:moveTo>
                    <a:pt x="78718" y="0"/>
                  </a:moveTo>
                  <a:lnTo>
                    <a:pt x="538911" y="0"/>
                  </a:lnTo>
                  <a:cubicBezTo>
                    <a:pt x="559788" y="0"/>
                    <a:pt x="579810" y="8293"/>
                    <a:pt x="594572" y="23056"/>
                  </a:cubicBezTo>
                  <a:cubicBezTo>
                    <a:pt x="609335" y="37818"/>
                    <a:pt x="617628" y="57840"/>
                    <a:pt x="617628" y="78718"/>
                  </a:cubicBezTo>
                  <a:lnTo>
                    <a:pt x="617628" y="686845"/>
                  </a:lnTo>
                  <a:cubicBezTo>
                    <a:pt x="617628" y="730320"/>
                    <a:pt x="582385" y="765563"/>
                    <a:pt x="538911" y="765563"/>
                  </a:cubicBezTo>
                  <a:lnTo>
                    <a:pt x="78718" y="765563"/>
                  </a:lnTo>
                  <a:cubicBezTo>
                    <a:pt x="57840" y="765563"/>
                    <a:pt x="37818" y="757270"/>
                    <a:pt x="23056" y="742507"/>
                  </a:cubicBezTo>
                  <a:cubicBezTo>
                    <a:pt x="8293" y="727745"/>
                    <a:pt x="0" y="707723"/>
                    <a:pt x="0" y="686845"/>
                  </a:cubicBezTo>
                  <a:lnTo>
                    <a:pt x="0" y="78718"/>
                  </a:lnTo>
                  <a:cubicBezTo>
                    <a:pt x="0" y="57840"/>
                    <a:pt x="8293" y="37818"/>
                    <a:pt x="23056" y="23056"/>
                  </a:cubicBezTo>
                  <a:cubicBezTo>
                    <a:pt x="37818" y="8293"/>
                    <a:pt x="57840" y="0"/>
                    <a:pt x="78718" y="0"/>
                  </a:cubicBezTo>
                  <a:close/>
                </a:path>
              </a:pathLst>
            </a:custGeom>
            <a:blipFill>
              <a:blip r:embed="rId5">
                <a:alphaModFix amt="31000"/>
              </a:blip>
              <a:stretch>
                <a:fillRect l="-123" t="0" r="-123" b="0"/>
              </a:stretch>
            </a:blipFill>
            <a:ln w="9525" cap="rnd">
              <a:solidFill>
                <a:srgbClr val="EFEFEF">
                  <a:alpha val="30980"/>
                </a:srgbClr>
              </a:solidFill>
              <a:prstDash val="solid"/>
              <a:round/>
            </a:ln>
          </p:spPr>
        </p:sp>
      </p:grpSp>
      <p:grpSp>
        <p:nvGrpSpPr>
          <p:cNvPr name="Group 44" id="44"/>
          <p:cNvGrpSpPr/>
          <p:nvPr/>
        </p:nvGrpSpPr>
        <p:grpSpPr>
          <a:xfrm rot="0">
            <a:off x="6420641" y="4742383"/>
            <a:ext cx="5446718" cy="4719034"/>
            <a:chOff x="0" y="0"/>
            <a:chExt cx="843839" cy="731102"/>
          </a:xfrm>
        </p:grpSpPr>
        <p:sp>
          <p:nvSpPr>
            <p:cNvPr name="Freeform 45" id="45"/>
            <p:cNvSpPr/>
            <p:nvPr/>
          </p:nvSpPr>
          <p:spPr>
            <a:xfrm flipH="false" flipV="false" rot="0">
              <a:off x="0" y="0"/>
              <a:ext cx="843839" cy="731102"/>
            </a:xfrm>
            <a:custGeom>
              <a:avLst/>
              <a:gdLst/>
              <a:ahLst/>
              <a:cxnLst/>
              <a:rect r="r" b="b" t="t" l="l"/>
              <a:pathLst>
                <a:path h="731102" w="843839">
                  <a:moveTo>
                    <a:pt x="51170" y="0"/>
                  </a:moveTo>
                  <a:lnTo>
                    <a:pt x="792669" y="0"/>
                  </a:lnTo>
                  <a:cubicBezTo>
                    <a:pt x="820929" y="0"/>
                    <a:pt x="843839" y="22910"/>
                    <a:pt x="843839" y="51170"/>
                  </a:cubicBezTo>
                  <a:lnTo>
                    <a:pt x="843839" y="679932"/>
                  </a:lnTo>
                  <a:cubicBezTo>
                    <a:pt x="843839" y="708192"/>
                    <a:pt x="820929" y="731102"/>
                    <a:pt x="792669" y="731102"/>
                  </a:cubicBezTo>
                  <a:lnTo>
                    <a:pt x="51170" y="731102"/>
                  </a:lnTo>
                  <a:cubicBezTo>
                    <a:pt x="22910" y="731102"/>
                    <a:pt x="0" y="708192"/>
                    <a:pt x="0" y="679932"/>
                  </a:cubicBezTo>
                  <a:lnTo>
                    <a:pt x="0" y="51170"/>
                  </a:lnTo>
                  <a:cubicBezTo>
                    <a:pt x="0" y="22910"/>
                    <a:pt x="22910" y="0"/>
                    <a:pt x="51170" y="0"/>
                  </a:cubicBezTo>
                  <a:close/>
                </a:path>
              </a:pathLst>
            </a:custGeom>
            <a:blipFill>
              <a:blip r:embed="rId6"/>
              <a:stretch>
                <a:fillRect l="-3564" t="0" r="-3564" b="0"/>
              </a:stretch>
            </a:blipFill>
            <a:ln w="9525" cap="rnd">
              <a:solidFill>
                <a:srgbClr val="EFEFEF"/>
              </a:solidFill>
              <a:prstDash val="solid"/>
              <a:round/>
            </a:ln>
          </p:spPr>
        </p:sp>
      </p:grpSp>
      <p:grpSp>
        <p:nvGrpSpPr>
          <p:cNvPr name="Group 46" id="46"/>
          <p:cNvGrpSpPr/>
          <p:nvPr/>
        </p:nvGrpSpPr>
        <p:grpSpPr>
          <a:xfrm rot="0">
            <a:off x="836322" y="5456291"/>
            <a:ext cx="4941681" cy="3350250"/>
            <a:chOff x="0" y="0"/>
            <a:chExt cx="1301513" cy="882370"/>
          </a:xfrm>
        </p:grpSpPr>
        <p:sp>
          <p:nvSpPr>
            <p:cNvPr name="Freeform 47" id="47"/>
            <p:cNvSpPr/>
            <p:nvPr/>
          </p:nvSpPr>
          <p:spPr>
            <a:xfrm flipH="false" flipV="false" rot="0">
              <a:off x="0" y="0"/>
              <a:ext cx="1301513" cy="882370"/>
            </a:xfrm>
            <a:custGeom>
              <a:avLst/>
              <a:gdLst/>
              <a:ahLst/>
              <a:cxnLst/>
              <a:rect r="r" b="b" t="t" l="l"/>
              <a:pathLst>
                <a:path h="882370" w="1301513">
                  <a:moveTo>
                    <a:pt x="56400" y="0"/>
                  </a:moveTo>
                  <a:lnTo>
                    <a:pt x="1245113" y="0"/>
                  </a:lnTo>
                  <a:cubicBezTo>
                    <a:pt x="1276262" y="0"/>
                    <a:pt x="1301513" y="25251"/>
                    <a:pt x="1301513" y="56400"/>
                  </a:cubicBezTo>
                  <a:lnTo>
                    <a:pt x="1301513" y="825971"/>
                  </a:lnTo>
                  <a:cubicBezTo>
                    <a:pt x="1301513" y="857119"/>
                    <a:pt x="1276262" y="882370"/>
                    <a:pt x="1245113" y="882370"/>
                  </a:cubicBezTo>
                  <a:lnTo>
                    <a:pt x="56400" y="882370"/>
                  </a:lnTo>
                  <a:cubicBezTo>
                    <a:pt x="25251" y="882370"/>
                    <a:pt x="0" y="857119"/>
                    <a:pt x="0" y="825971"/>
                  </a:cubicBezTo>
                  <a:lnTo>
                    <a:pt x="0" y="56400"/>
                  </a:lnTo>
                  <a:cubicBezTo>
                    <a:pt x="0" y="25251"/>
                    <a:pt x="25251" y="0"/>
                    <a:pt x="56400" y="0"/>
                  </a:cubicBezTo>
                  <a:close/>
                </a:path>
              </a:pathLst>
            </a:custGeom>
            <a:solidFill>
              <a:srgbClr val="EFEFEF"/>
            </a:solidFill>
            <a:ln w="19050" cap="rnd">
              <a:gradFill>
                <a:gsLst>
                  <a:gs pos="0">
                    <a:srgbClr val="573F9D">
                      <a:alpha val="100000"/>
                    </a:srgbClr>
                  </a:gs>
                  <a:gs pos="50000">
                    <a:srgbClr val="332069">
                      <a:alpha val="100000"/>
                    </a:srgbClr>
                  </a:gs>
                  <a:gs pos="100000">
                    <a:srgbClr val="0F042D">
                      <a:alpha val="100000"/>
                    </a:srgbClr>
                  </a:gs>
                </a:gsLst>
                <a:lin ang="2700000"/>
              </a:gradFill>
              <a:prstDash val="solid"/>
              <a:round/>
            </a:ln>
          </p:spPr>
        </p:sp>
        <p:sp>
          <p:nvSpPr>
            <p:cNvPr name="TextBox 48" id="48"/>
            <p:cNvSpPr txBox="true"/>
            <p:nvPr/>
          </p:nvSpPr>
          <p:spPr>
            <a:xfrm>
              <a:off x="0" y="0"/>
              <a:ext cx="1301513" cy="882370"/>
            </a:xfrm>
            <a:prstGeom prst="rect">
              <a:avLst/>
            </a:prstGeom>
          </p:spPr>
          <p:txBody>
            <a:bodyPr anchor="ctr" rtlCol="false" tIns="50800" lIns="50800" bIns="50800" rIns="50800"/>
            <a:lstStyle/>
            <a:p>
              <a:pPr algn="ctr" marL="0" indent="0" lvl="0">
                <a:lnSpc>
                  <a:spcPts val="2686"/>
                </a:lnSpc>
              </a:pPr>
            </a:p>
          </p:txBody>
        </p:sp>
      </p:grpSp>
      <p:sp>
        <p:nvSpPr>
          <p:cNvPr name="TextBox 49" id="49"/>
          <p:cNvSpPr txBox="true"/>
          <p:nvPr/>
        </p:nvSpPr>
        <p:spPr>
          <a:xfrm rot="0">
            <a:off x="1261889" y="5847932"/>
            <a:ext cx="4090547" cy="778669"/>
          </a:xfrm>
          <a:prstGeom prst="rect">
            <a:avLst/>
          </a:prstGeom>
        </p:spPr>
        <p:txBody>
          <a:bodyPr anchor="t" rtlCol="false" tIns="0" lIns="0" bIns="0" rIns="0">
            <a:spAutoFit/>
          </a:bodyPr>
          <a:lstStyle/>
          <a:p>
            <a:pPr algn="l" marL="0" indent="0" lvl="0">
              <a:lnSpc>
                <a:spcPts val="2972"/>
              </a:lnSpc>
            </a:pPr>
            <a:r>
              <a:rPr lang="en-US" b="true" sz="2885" spc="-129">
                <a:solidFill>
                  <a:srgbClr val="0F042D"/>
                </a:solidFill>
                <a:latin typeface="Open Sauce Medium"/>
                <a:ea typeface="Open Sauce Medium"/>
                <a:cs typeface="Open Sauce Medium"/>
                <a:sym typeface="Open Sauce Medium"/>
              </a:rPr>
              <a:t>Node (Düğüm) Grafiği Sistemi</a:t>
            </a:r>
          </a:p>
        </p:txBody>
      </p:sp>
      <p:sp>
        <p:nvSpPr>
          <p:cNvPr name="AutoShape 50" id="50"/>
          <p:cNvSpPr/>
          <p:nvPr/>
        </p:nvSpPr>
        <p:spPr>
          <a:xfrm flipV="true">
            <a:off x="1287420" y="6689297"/>
            <a:ext cx="4013712" cy="0"/>
          </a:xfrm>
          <a:prstGeom prst="line">
            <a:avLst/>
          </a:prstGeom>
          <a:ln cap="flat" w="19050">
            <a:solidFill>
              <a:srgbClr val="0F042D"/>
            </a:solidFill>
            <a:prstDash val="solid"/>
            <a:headEnd type="none" len="sm" w="sm"/>
            <a:tailEnd type="none" len="sm" w="sm"/>
          </a:ln>
        </p:spPr>
      </p:sp>
      <p:sp>
        <p:nvSpPr>
          <p:cNvPr name="TextBox 51" id="51"/>
          <p:cNvSpPr txBox="true"/>
          <p:nvPr/>
        </p:nvSpPr>
        <p:spPr>
          <a:xfrm rot="0">
            <a:off x="1287420" y="6984572"/>
            <a:ext cx="4065016" cy="1733464"/>
          </a:xfrm>
          <a:prstGeom prst="rect">
            <a:avLst/>
          </a:prstGeom>
        </p:spPr>
        <p:txBody>
          <a:bodyPr anchor="t" rtlCol="false" tIns="0" lIns="0" bIns="0" rIns="0">
            <a:spAutoFit/>
          </a:bodyPr>
          <a:lstStyle/>
          <a:p>
            <a:pPr algn="l" marL="0" indent="0" lvl="0">
              <a:lnSpc>
                <a:spcPts val="1958"/>
              </a:lnSpc>
            </a:pPr>
            <a:r>
              <a:rPr lang="en-US" sz="1506" i="true" spc="-48">
                <a:solidFill>
                  <a:srgbClr val="696969"/>
                </a:solidFill>
                <a:latin typeface="Aileron Italics"/>
                <a:ea typeface="Aileron Italics"/>
                <a:cs typeface="Aileron Italics"/>
                <a:sym typeface="Aileron Italics"/>
              </a:rPr>
              <a:t>Gör</a:t>
            </a:r>
            <a:r>
              <a:rPr lang="en-US" sz="1506" i="true" spc="-48">
                <a:solidFill>
                  <a:srgbClr val="696969"/>
                </a:solidFill>
                <a:latin typeface="Aileron Italics"/>
                <a:ea typeface="Aileron Italics"/>
                <a:cs typeface="Aileron Italics"/>
                <a:sym typeface="Aileron Italics"/>
              </a:rPr>
              <a:t>sel düğüm tabanlı diyalog yönetimi, geliştiricilerin stat güdümlü ve dallanan (branching) konuşmaları sezgisel olarak haritalandırmasına olanak tanır. Her düğüm, diyalog yollarını ve sonuçlarını belirlemek için oyuncu istatistiklerini (Güç, Zeka, Karizma) gerçek zamanlı olarak değerlendirir.</a:t>
            </a:r>
          </a:p>
        </p:txBody>
      </p:sp>
      <p:grpSp>
        <p:nvGrpSpPr>
          <p:cNvPr name="Group 52" id="52"/>
          <p:cNvGrpSpPr/>
          <p:nvPr/>
        </p:nvGrpSpPr>
        <p:grpSpPr>
          <a:xfrm rot="0">
            <a:off x="12466408" y="5456291"/>
            <a:ext cx="4941681" cy="3350250"/>
            <a:chOff x="0" y="0"/>
            <a:chExt cx="1301513" cy="882370"/>
          </a:xfrm>
        </p:grpSpPr>
        <p:sp>
          <p:nvSpPr>
            <p:cNvPr name="Freeform 53" id="53"/>
            <p:cNvSpPr/>
            <p:nvPr/>
          </p:nvSpPr>
          <p:spPr>
            <a:xfrm flipH="false" flipV="false" rot="0">
              <a:off x="0" y="0"/>
              <a:ext cx="1301513" cy="882370"/>
            </a:xfrm>
            <a:custGeom>
              <a:avLst/>
              <a:gdLst/>
              <a:ahLst/>
              <a:cxnLst/>
              <a:rect r="r" b="b" t="t" l="l"/>
              <a:pathLst>
                <a:path h="882370" w="1301513">
                  <a:moveTo>
                    <a:pt x="56400" y="0"/>
                  </a:moveTo>
                  <a:lnTo>
                    <a:pt x="1245113" y="0"/>
                  </a:lnTo>
                  <a:cubicBezTo>
                    <a:pt x="1276262" y="0"/>
                    <a:pt x="1301513" y="25251"/>
                    <a:pt x="1301513" y="56400"/>
                  </a:cubicBezTo>
                  <a:lnTo>
                    <a:pt x="1301513" y="825971"/>
                  </a:lnTo>
                  <a:cubicBezTo>
                    <a:pt x="1301513" y="857119"/>
                    <a:pt x="1276262" y="882370"/>
                    <a:pt x="1245113" y="882370"/>
                  </a:cubicBezTo>
                  <a:lnTo>
                    <a:pt x="56400" y="882370"/>
                  </a:lnTo>
                  <a:cubicBezTo>
                    <a:pt x="25251" y="882370"/>
                    <a:pt x="0" y="857119"/>
                    <a:pt x="0" y="825971"/>
                  </a:cubicBezTo>
                  <a:lnTo>
                    <a:pt x="0" y="56400"/>
                  </a:lnTo>
                  <a:cubicBezTo>
                    <a:pt x="0" y="25251"/>
                    <a:pt x="25251" y="0"/>
                    <a:pt x="56400" y="0"/>
                  </a:cubicBezTo>
                  <a:close/>
                </a:path>
              </a:pathLst>
            </a:custGeom>
            <a:gradFill rotWithShape="true">
              <a:gsLst>
                <a:gs pos="0">
                  <a:srgbClr val="573F9D">
                    <a:alpha val="100000"/>
                  </a:srgbClr>
                </a:gs>
                <a:gs pos="50000">
                  <a:srgbClr val="332069">
                    <a:alpha val="100000"/>
                  </a:srgbClr>
                </a:gs>
                <a:gs pos="100000">
                  <a:srgbClr val="0F042D">
                    <a:alpha val="100000"/>
                  </a:srgbClr>
                </a:gs>
              </a:gsLst>
              <a:lin ang="2700000"/>
            </a:gradFill>
            <a:ln w="19050" cap="rnd">
              <a:solidFill>
                <a:srgbClr val="EFEFEF"/>
              </a:solidFill>
              <a:prstDash val="solid"/>
              <a:round/>
            </a:ln>
          </p:spPr>
        </p:sp>
        <p:sp>
          <p:nvSpPr>
            <p:cNvPr name="TextBox 54" id="54"/>
            <p:cNvSpPr txBox="true"/>
            <p:nvPr/>
          </p:nvSpPr>
          <p:spPr>
            <a:xfrm>
              <a:off x="0" y="0"/>
              <a:ext cx="1301513" cy="882370"/>
            </a:xfrm>
            <a:prstGeom prst="rect">
              <a:avLst/>
            </a:prstGeom>
          </p:spPr>
          <p:txBody>
            <a:bodyPr anchor="ctr" rtlCol="false" tIns="50800" lIns="50800" bIns="50800" rIns="50800"/>
            <a:lstStyle/>
            <a:p>
              <a:pPr algn="ctr" marL="0" indent="0" lvl="0">
                <a:lnSpc>
                  <a:spcPts val="2686"/>
                </a:lnSpc>
              </a:pPr>
            </a:p>
          </p:txBody>
        </p:sp>
      </p:grpSp>
      <p:sp>
        <p:nvSpPr>
          <p:cNvPr name="TextBox 55" id="55"/>
          <p:cNvSpPr txBox="true"/>
          <p:nvPr/>
        </p:nvSpPr>
        <p:spPr>
          <a:xfrm rot="0">
            <a:off x="12901500" y="5866863"/>
            <a:ext cx="4090547" cy="778669"/>
          </a:xfrm>
          <a:prstGeom prst="rect">
            <a:avLst/>
          </a:prstGeom>
        </p:spPr>
        <p:txBody>
          <a:bodyPr anchor="t" rtlCol="false" tIns="0" lIns="0" bIns="0" rIns="0">
            <a:spAutoFit/>
          </a:bodyPr>
          <a:lstStyle/>
          <a:p>
            <a:pPr algn="l" marL="0" indent="0" lvl="0">
              <a:lnSpc>
                <a:spcPts val="2972"/>
              </a:lnSpc>
            </a:pPr>
            <a:r>
              <a:rPr lang="en-US" b="true" sz="2885" spc="-129">
                <a:solidFill>
                  <a:srgbClr val="EFEFEF"/>
                </a:solidFill>
                <a:latin typeface="Open Sauce Medium"/>
                <a:ea typeface="Open Sauce Medium"/>
                <a:cs typeface="Open Sauce Medium"/>
                <a:sym typeface="Open Sauce Medium"/>
              </a:rPr>
              <a:t>Temiz Kod Mimarisi (</a:t>
            </a:r>
            <a:r>
              <a:rPr lang="en-US" b="true" sz="2885" spc="-129">
                <a:solidFill>
                  <a:srgbClr val="EFEFEF"/>
                </a:solidFill>
                <a:latin typeface="Open Sauce Medium"/>
                <a:ea typeface="Open Sauce Medium"/>
                <a:cs typeface="Open Sauce Medium"/>
                <a:sym typeface="Open Sauce Medium"/>
              </a:rPr>
              <a:t>Clean Code)</a:t>
            </a:r>
          </a:p>
        </p:txBody>
      </p:sp>
      <p:sp>
        <p:nvSpPr>
          <p:cNvPr name="AutoShape 56" id="56"/>
          <p:cNvSpPr/>
          <p:nvPr/>
        </p:nvSpPr>
        <p:spPr>
          <a:xfrm flipV="true">
            <a:off x="12927031" y="6708227"/>
            <a:ext cx="4013712" cy="0"/>
          </a:xfrm>
          <a:prstGeom prst="line">
            <a:avLst/>
          </a:prstGeom>
          <a:ln cap="flat" w="19050">
            <a:solidFill>
              <a:srgbClr val="FFFFFF"/>
            </a:solidFill>
            <a:prstDash val="solid"/>
            <a:headEnd type="none" len="sm" w="sm"/>
            <a:tailEnd type="none" len="sm" w="sm"/>
          </a:ln>
        </p:spPr>
      </p:sp>
      <p:sp>
        <p:nvSpPr>
          <p:cNvPr name="TextBox 57" id="57"/>
          <p:cNvSpPr txBox="true"/>
          <p:nvPr/>
        </p:nvSpPr>
        <p:spPr>
          <a:xfrm rot="0">
            <a:off x="12927031" y="7003502"/>
            <a:ext cx="4065016" cy="1485814"/>
          </a:xfrm>
          <a:prstGeom prst="rect">
            <a:avLst/>
          </a:prstGeom>
        </p:spPr>
        <p:txBody>
          <a:bodyPr anchor="t" rtlCol="false" tIns="0" lIns="0" bIns="0" rIns="0">
            <a:spAutoFit/>
          </a:bodyPr>
          <a:lstStyle/>
          <a:p>
            <a:pPr algn="l" marL="0" indent="0" lvl="0">
              <a:lnSpc>
                <a:spcPts val="1958"/>
              </a:lnSpc>
            </a:pPr>
            <a:r>
              <a:rPr lang="en-US" sz="1506" i="true" spc="-48">
                <a:solidFill>
                  <a:srgbClr val="B8B8B8"/>
                </a:solidFill>
                <a:latin typeface="Aileron Italics"/>
                <a:ea typeface="Aileron Italics"/>
                <a:cs typeface="Aileron Italics"/>
                <a:sym typeface="Aileron Italics"/>
              </a:rPr>
              <a:t>Adapter Pattern ile birleştirilmiş </a:t>
            </a:r>
            <a:r>
              <a:rPr lang="en-US" sz="1506" i="true" spc="-48">
                <a:solidFill>
                  <a:srgbClr val="B8B8B8"/>
                </a:solidFill>
                <a:latin typeface="Aileron Italics"/>
                <a:ea typeface="Aileron Italics"/>
                <a:cs typeface="Aileron Italics"/>
                <a:sym typeface="Aileron Italics"/>
              </a:rPr>
              <a:t>ScriptableObject veri yönetimi, modüller arasında sıfır bağlaşıklık (zero coupling) sağlar. Bağımsız stüdyolar için tam ölçeklenebilir tak-çalıştır (plug-and-play) entegrasyonu — eski sistem bağımlılıkları (legacy) yok, spagetti kod yok, maksimum performans.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10800000">
            <a:off x="-193450" y="-318232"/>
            <a:ext cx="18674901" cy="7378284"/>
            <a:chOff x="0" y="0"/>
            <a:chExt cx="24899868" cy="9837711"/>
          </a:xfrm>
        </p:grpSpPr>
        <p:grpSp>
          <p:nvGrpSpPr>
            <p:cNvPr name="Group 3" id="3"/>
            <p:cNvGrpSpPr/>
            <p:nvPr/>
          </p:nvGrpSpPr>
          <p:grpSpPr>
            <a:xfrm rot="0">
              <a:off x="0" y="4427815"/>
              <a:ext cx="3558057" cy="5409897"/>
              <a:chOff x="0" y="0"/>
              <a:chExt cx="812800" cy="1235833"/>
            </a:xfrm>
          </p:grpSpPr>
          <p:sp>
            <p:nvSpPr>
              <p:cNvPr name="Freeform 4" id="4"/>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5" id="5"/>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6" id="6"/>
            <p:cNvGrpSpPr/>
            <p:nvPr/>
          </p:nvGrpSpPr>
          <p:grpSpPr>
            <a:xfrm rot="0">
              <a:off x="21341811" y="4427815"/>
              <a:ext cx="3558057" cy="5409897"/>
              <a:chOff x="0" y="0"/>
              <a:chExt cx="812800" cy="1235833"/>
            </a:xfrm>
          </p:grpSpPr>
          <p:sp>
            <p:nvSpPr>
              <p:cNvPr name="Freeform 7" id="7"/>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8" id="8"/>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9" id="9"/>
            <p:cNvGrpSpPr/>
            <p:nvPr/>
          </p:nvGrpSpPr>
          <p:grpSpPr>
            <a:xfrm rot="0">
              <a:off x="3558057" y="3198827"/>
              <a:ext cx="3558057" cy="6638885"/>
              <a:chOff x="0" y="0"/>
              <a:chExt cx="812800" cy="1516582"/>
            </a:xfrm>
          </p:grpSpPr>
          <p:sp>
            <p:nvSpPr>
              <p:cNvPr name="Freeform 10" id="10"/>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1" id="11"/>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2" id="12"/>
            <p:cNvGrpSpPr/>
            <p:nvPr/>
          </p:nvGrpSpPr>
          <p:grpSpPr>
            <a:xfrm rot="0">
              <a:off x="17783754" y="3198827"/>
              <a:ext cx="3558057" cy="6638885"/>
              <a:chOff x="0" y="0"/>
              <a:chExt cx="812800" cy="1516582"/>
            </a:xfrm>
          </p:grpSpPr>
          <p:sp>
            <p:nvSpPr>
              <p:cNvPr name="Freeform 13" id="13"/>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4" id="14"/>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5" id="15"/>
            <p:cNvGrpSpPr/>
            <p:nvPr/>
          </p:nvGrpSpPr>
          <p:grpSpPr>
            <a:xfrm rot="0">
              <a:off x="7116114" y="1874177"/>
              <a:ext cx="3558057" cy="7963534"/>
              <a:chOff x="0" y="0"/>
              <a:chExt cx="812800" cy="1819184"/>
            </a:xfrm>
          </p:grpSpPr>
          <p:sp>
            <p:nvSpPr>
              <p:cNvPr name="Freeform 16" id="16"/>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7" id="17"/>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8" id="18"/>
            <p:cNvGrpSpPr/>
            <p:nvPr/>
          </p:nvGrpSpPr>
          <p:grpSpPr>
            <a:xfrm rot="0">
              <a:off x="14232228" y="1874177"/>
              <a:ext cx="3558057" cy="7963534"/>
              <a:chOff x="0" y="0"/>
              <a:chExt cx="812800" cy="1819184"/>
            </a:xfrm>
          </p:grpSpPr>
          <p:sp>
            <p:nvSpPr>
              <p:cNvPr name="Freeform 19" id="19"/>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0" id="20"/>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1" id="21"/>
            <p:cNvGrpSpPr/>
            <p:nvPr/>
          </p:nvGrpSpPr>
          <p:grpSpPr>
            <a:xfrm rot="0">
              <a:off x="10674171" y="0"/>
              <a:ext cx="3558057" cy="9837711"/>
              <a:chOff x="0" y="0"/>
              <a:chExt cx="812800" cy="2247320"/>
            </a:xfrm>
          </p:grpSpPr>
          <p:sp>
            <p:nvSpPr>
              <p:cNvPr name="Freeform 22" id="22"/>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3" id="23"/>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grpSp>
        <p:nvGrpSpPr>
          <p:cNvPr name="Group 24" id="24"/>
          <p:cNvGrpSpPr/>
          <p:nvPr/>
        </p:nvGrpSpPr>
        <p:grpSpPr>
          <a:xfrm rot="0">
            <a:off x="9953770" y="505729"/>
            <a:ext cx="4279219" cy="502851"/>
            <a:chOff x="0" y="0"/>
            <a:chExt cx="3458428" cy="406400"/>
          </a:xfrm>
        </p:grpSpPr>
        <p:sp>
          <p:nvSpPr>
            <p:cNvPr name="Freeform 25" id="25"/>
            <p:cNvSpPr/>
            <p:nvPr/>
          </p:nvSpPr>
          <p:spPr>
            <a:xfrm flipH="false" flipV="false" rot="0">
              <a:off x="0" y="0"/>
              <a:ext cx="3458428" cy="406400"/>
            </a:xfrm>
            <a:custGeom>
              <a:avLst/>
              <a:gdLst/>
              <a:ahLst/>
              <a:cxnLst/>
              <a:rect r="r" b="b" t="t" l="l"/>
              <a:pathLst>
                <a:path h="406400" w="3458428">
                  <a:moveTo>
                    <a:pt x="3255228" y="0"/>
                  </a:moveTo>
                  <a:cubicBezTo>
                    <a:pt x="3367453" y="0"/>
                    <a:pt x="3458428" y="90976"/>
                    <a:pt x="3458428" y="203200"/>
                  </a:cubicBezTo>
                  <a:cubicBezTo>
                    <a:pt x="3458428" y="315424"/>
                    <a:pt x="3367453" y="406400"/>
                    <a:pt x="3255228"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26" id="26"/>
            <p:cNvSpPr txBox="true"/>
            <p:nvPr/>
          </p:nvSpPr>
          <p:spPr>
            <a:xfrm>
              <a:off x="0" y="0"/>
              <a:ext cx="3458428" cy="406400"/>
            </a:xfrm>
            <a:prstGeom prst="rect">
              <a:avLst/>
            </a:prstGeom>
          </p:spPr>
          <p:txBody>
            <a:bodyPr anchor="ctr" rtlCol="false" tIns="50800" lIns="50800" bIns="50800" rIns="50800"/>
            <a:lstStyle/>
            <a:p>
              <a:pPr algn="ctr" marL="0" indent="0" lvl="0">
                <a:lnSpc>
                  <a:spcPts val="2686"/>
                </a:lnSpc>
              </a:pPr>
            </a:p>
          </p:txBody>
        </p:sp>
      </p:grpSp>
      <p:grpSp>
        <p:nvGrpSpPr>
          <p:cNvPr name="Group 27" id="27"/>
          <p:cNvGrpSpPr/>
          <p:nvPr/>
        </p:nvGrpSpPr>
        <p:grpSpPr>
          <a:xfrm rot="0">
            <a:off x="7087567" y="505729"/>
            <a:ext cx="2732854" cy="502851"/>
            <a:chOff x="0" y="0"/>
            <a:chExt cx="2208669" cy="406400"/>
          </a:xfrm>
        </p:grpSpPr>
        <p:sp>
          <p:nvSpPr>
            <p:cNvPr name="Freeform 28" id="28"/>
            <p:cNvSpPr/>
            <p:nvPr/>
          </p:nvSpPr>
          <p:spPr>
            <a:xfrm flipH="false" flipV="false" rot="0">
              <a:off x="0" y="0"/>
              <a:ext cx="2208669" cy="406400"/>
            </a:xfrm>
            <a:custGeom>
              <a:avLst/>
              <a:gdLst/>
              <a:ahLst/>
              <a:cxnLst/>
              <a:rect r="r" b="b" t="t" l="l"/>
              <a:pathLst>
                <a:path h="406400" w="2208669">
                  <a:moveTo>
                    <a:pt x="2005469" y="0"/>
                  </a:moveTo>
                  <a:cubicBezTo>
                    <a:pt x="2117693" y="0"/>
                    <a:pt x="2208669" y="90976"/>
                    <a:pt x="2208669" y="203200"/>
                  </a:cubicBezTo>
                  <a:cubicBezTo>
                    <a:pt x="2208669" y="315424"/>
                    <a:pt x="2117693" y="406400"/>
                    <a:pt x="2005469"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29" id="29"/>
            <p:cNvSpPr txBox="true"/>
            <p:nvPr/>
          </p:nvSpPr>
          <p:spPr>
            <a:xfrm>
              <a:off x="0" y="0"/>
              <a:ext cx="2208669" cy="406400"/>
            </a:xfrm>
            <a:prstGeom prst="rect">
              <a:avLst/>
            </a:prstGeom>
          </p:spPr>
          <p:txBody>
            <a:bodyPr anchor="ctr" rtlCol="false" tIns="50800" lIns="50800" bIns="50800" rIns="50800"/>
            <a:lstStyle/>
            <a:p>
              <a:pPr algn="ctr" marL="0" indent="0" lvl="0">
                <a:lnSpc>
                  <a:spcPts val="2686"/>
                </a:lnSpc>
              </a:pPr>
            </a:p>
          </p:txBody>
        </p:sp>
      </p:grpSp>
      <p:grpSp>
        <p:nvGrpSpPr>
          <p:cNvPr name="Group 30" id="30"/>
          <p:cNvGrpSpPr/>
          <p:nvPr/>
        </p:nvGrpSpPr>
        <p:grpSpPr>
          <a:xfrm rot="0">
            <a:off x="4657277" y="505729"/>
            <a:ext cx="3625880" cy="502851"/>
            <a:chOff x="0" y="0"/>
            <a:chExt cx="2930405" cy="406400"/>
          </a:xfrm>
        </p:grpSpPr>
        <p:sp>
          <p:nvSpPr>
            <p:cNvPr name="Freeform 31" id="31"/>
            <p:cNvSpPr/>
            <p:nvPr/>
          </p:nvSpPr>
          <p:spPr>
            <a:xfrm flipH="false" flipV="false" rot="0">
              <a:off x="0" y="0"/>
              <a:ext cx="2930405" cy="406400"/>
            </a:xfrm>
            <a:custGeom>
              <a:avLst/>
              <a:gdLst/>
              <a:ahLst/>
              <a:cxnLst/>
              <a:rect r="r" b="b" t="t" l="l"/>
              <a:pathLst>
                <a:path h="406400" w="2930405">
                  <a:moveTo>
                    <a:pt x="2727205" y="0"/>
                  </a:moveTo>
                  <a:cubicBezTo>
                    <a:pt x="2839429" y="0"/>
                    <a:pt x="2930405" y="90976"/>
                    <a:pt x="2930405" y="203200"/>
                  </a:cubicBezTo>
                  <a:cubicBezTo>
                    <a:pt x="2930405" y="315424"/>
                    <a:pt x="2839429" y="406400"/>
                    <a:pt x="2727205" y="406400"/>
                  </a:cubicBezTo>
                  <a:lnTo>
                    <a:pt x="203200" y="406400"/>
                  </a:lnTo>
                  <a:cubicBezTo>
                    <a:pt x="90976" y="406400"/>
                    <a:pt x="0" y="315424"/>
                    <a:pt x="0" y="203200"/>
                  </a:cubicBezTo>
                  <a:cubicBezTo>
                    <a:pt x="0" y="90976"/>
                    <a:pt x="90976" y="0"/>
                    <a:pt x="203200" y="0"/>
                  </a:cubicBezTo>
                  <a:close/>
                </a:path>
              </a:pathLst>
            </a:custGeom>
            <a:ln w="9525" cap="sq">
              <a:solidFill>
                <a:srgbClr val="0F042D"/>
              </a:solidFill>
              <a:prstDash val="solid"/>
              <a:miter/>
            </a:ln>
          </p:spPr>
        </p:sp>
        <p:sp>
          <p:nvSpPr>
            <p:cNvPr name="TextBox 32" id="32"/>
            <p:cNvSpPr txBox="true"/>
            <p:nvPr/>
          </p:nvSpPr>
          <p:spPr>
            <a:xfrm>
              <a:off x="0" y="0"/>
              <a:ext cx="2930405" cy="406400"/>
            </a:xfrm>
            <a:prstGeom prst="rect">
              <a:avLst/>
            </a:prstGeom>
          </p:spPr>
          <p:txBody>
            <a:bodyPr anchor="ctr" rtlCol="false" tIns="50800" lIns="50800" bIns="50800" rIns="50800"/>
            <a:lstStyle/>
            <a:p>
              <a:pPr algn="ctr" marL="0" indent="0" lvl="0">
                <a:lnSpc>
                  <a:spcPts val="2686"/>
                </a:lnSpc>
              </a:pPr>
            </a:p>
          </p:txBody>
        </p:sp>
      </p:grpSp>
      <p:sp>
        <p:nvSpPr>
          <p:cNvPr name="Freeform 33" id="33"/>
          <p:cNvSpPr/>
          <p:nvPr/>
        </p:nvSpPr>
        <p:spPr>
          <a:xfrm flipH="false" flipV="false" rot="0">
            <a:off x="1090400" y="559187"/>
            <a:ext cx="422594" cy="364968"/>
          </a:xfrm>
          <a:custGeom>
            <a:avLst/>
            <a:gdLst/>
            <a:ahLst/>
            <a:cxnLst/>
            <a:rect r="r" b="b" t="t" l="l"/>
            <a:pathLst>
              <a:path h="364968" w="422594">
                <a:moveTo>
                  <a:pt x="0" y="0"/>
                </a:moveTo>
                <a:lnTo>
                  <a:pt x="422594" y="0"/>
                </a:lnTo>
                <a:lnTo>
                  <a:pt x="422594" y="364968"/>
                </a:lnTo>
                <a:lnTo>
                  <a:pt x="0" y="364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4" id="34"/>
          <p:cNvSpPr txBox="true"/>
          <p:nvPr/>
        </p:nvSpPr>
        <p:spPr>
          <a:xfrm rot="0">
            <a:off x="1746751" y="644579"/>
            <a:ext cx="3737193" cy="260795"/>
          </a:xfrm>
          <a:prstGeom prst="rect">
            <a:avLst/>
          </a:prstGeom>
        </p:spPr>
        <p:txBody>
          <a:bodyPr anchor="t" rtlCol="false" tIns="0" lIns="0" bIns="0" rIns="0">
            <a:spAutoFit/>
          </a:bodyPr>
          <a:lstStyle/>
          <a:p>
            <a:pPr algn="l" marL="0" indent="0" lvl="0">
              <a:lnSpc>
                <a:spcPts val="1934"/>
              </a:lnSpc>
            </a:pPr>
            <a:r>
              <a:rPr lang="en-US" b="true" sz="2198" spc="-98">
                <a:solidFill>
                  <a:srgbClr val="0F042D"/>
                </a:solidFill>
                <a:latin typeface="Open Sauce Medium"/>
                <a:ea typeface="Open Sauce Medium"/>
                <a:cs typeface="Open Sauce Medium"/>
                <a:sym typeface="Open Sauce Medium"/>
              </a:rPr>
              <a:t>Hüseyin Asan</a:t>
            </a:r>
          </a:p>
        </p:txBody>
      </p:sp>
      <p:sp>
        <p:nvSpPr>
          <p:cNvPr name="TextBox 35" id="35"/>
          <p:cNvSpPr txBox="true"/>
          <p:nvPr/>
        </p:nvSpPr>
        <p:spPr>
          <a:xfrm rot="0">
            <a:off x="4742541" y="677716"/>
            <a:ext cx="2345025" cy="215975"/>
          </a:xfrm>
          <a:prstGeom prst="rect">
            <a:avLst/>
          </a:prstGeom>
        </p:spPr>
        <p:txBody>
          <a:bodyPr anchor="t" rtlCol="false" tIns="0" lIns="0" bIns="0" rIns="0">
            <a:spAutoFit/>
          </a:bodyPr>
          <a:lstStyle/>
          <a:p>
            <a:pPr algn="ctr" marL="0" indent="0" lvl="0">
              <a:lnSpc>
                <a:spcPts val="1582"/>
              </a:lnSpc>
            </a:pPr>
            <a:r>
              <a:rPr lang="en-US" b="true" sz="1798" spc="-80">
                <a:solidFill>
                  <a:srgbClr val="0F042D"/>
                </a:solidFill>
                <a:latin typeface="Open Sauce Medium"/>
                <a:ea typeface="Open Sauce Medium"/>
                <a:cs typeface="Open Sauce Medium"/>
                <a:sym typeface="Open Sauce Medium"/>
              </a:rPr>
              <a:t>Investor Pitch Deck</a:t>
            </a:r>
          </a:p>
        </p:txBody>
      </p:sp>
      <p:sp>
        <p:nvSpPr>
          <p:cNvPr name="TextBox 36" id="36"/>
          <p:cNvSpPr txBox="true"/>
          <p:nvPr/>
        </p:nvSpPr>
        <p:spPr>
          <a:xfrm rot="0">
            <a:off x="9953770" y="677716"/>
            <a:ext cx="4279219" cy="215975"/>
          </a:xfrm>
          <a:prstGeom prst="rect">
            <a:avLst/>
          </a:prstGeom>
        </p:spPr>
        <p:txBody>
          <a:bodyPr anchor="t" rtlCol="false" tIns="0" lIns="0" bIns="0" rIns="0">
            <a:spAutoFit/>
          </a:bodyPr>
          <a:lstStyle/>
          <a:p>
            <a:pPr algn="ctr" marL="0" indent="0" lvl="0">
              <a:lnSpc>
                <a:spcPts val="1582"/>
              </a:lnSpc>
            </a:pPr>
            <a:r>
              <a:rPr lang="en-US" b="true" sz="1798" spc="-80">
                <a:solidFill>
                  <a:srgbClr val="EFEFEF"/>
                </a:solidFill>
                <a:latin typeface="Open Sauce Medium"/>
                <a:ea typeface="Open Sauce Medium"/>
                <a:cs typeface="Open Sauce Medium"/>
                <a:sym typeface="Open Sauce Medium"/>
              </a:rPr>
              <a:t>Presented by : Hüseyin Asan</a:t>
            </a:r>
          </a:p>
        </p:txBody>
      </p:sp>
      <p:sp>
        <p:nvSpPr>
          <p:cNvPr name="TextBox 37" id="37"/>
          <p:cNvSpPr txBox="true"/>
          <p:nvPr/>
        </p:nvSpPr>
        <p:spPr>
          <a:xfrm rot="0">
            <a:off x="7145539" y="677716"/>
            <a:ext cx="2674881" cy="215975"/>
          </a:xfrm>
          <a:prstGeom prst="rect">
            <a:avLst/>
          </a:prstGeom>
        </p:spPr>
        <p:txBody>
          <a:bodyPr anchor="t" rtlCol="false" tIns="0" lIns="0" bIns="0" rIns="0">
            <a:spAutoFit/>
          </a:bodyPr>
          <a:lstStyle/>
          <a:p>
            <a:pPr algn="ctr" marL="0" indent="0" lvl="0">
              <a:lnSpc>
                <a:spcPts val="1582"/>
              </a:lnSpc>
            </a:pPr>
            <a:r>
              <a:rPr lang="en-US" b="true" sz="1798" spc="-80">
                <a:solidFill>
                  <a:srgbClr val="EFEFEF"/>
                </a:solidFill>
                <a:latin typeface="Open Sauce Medium"/>
                <a:ea typeface="Open Sauce Medium"/>
                <a:cs typeface="Open Sauce Medium"/>
                <a:sym typeface="Open Sauce Medium"/>
              </a:rPr>
              <a:t>Game Development</a:t>
            </a:r>
          </a:p>
        </p:txBody>
      </p:sp>
      <p:grpSp>
        <p:nvGrpSpPr>
          <p:cNvPr name="Group 38" id="38"/>
          <p:cNvGrpSpPr/>
          <p:nvPr/>
        </p:nvGrpSpPr>
        <p:grpSpPr>
          <a:xfrm rot="0">
            <a:off x="5419632" y="1876277"/>
            <a:ext cx="3401913" cy="7157609"/>
            <a:chOff x="0" y="0"/>
            <a:chExt cx="352977" cy="742661"/>
          </a:xfrm>
        </p:grpSpPr>
        <p:sp>
          <p:nvSpPr>
            <p:cNvPr name="Freeform 39" id="39"/>
            <p:cNvSpPr/>
            <p:nvPr/>
          </p:nvSpPr>
          <p:spPr>
            <a:xfrm flipH="false" flipV="false" rot="0">
              <a:off x="0" y="0"/>
              <a:ext cx="352977" cy="742661"/>
            </a:xfrm>
            <a:custGeom>
              <a:avLst/>
              <a:gdLst/>
              <a:ahLst/>
              <a:cxnLst/>
              <a:rect r="r" b="b" t="t" l="l"/>
              <a:pathLst>
                <a:path h="742661" w="352977">
                  <a:moveTo>
                    <a:pt x="81927" y="0"/>
                  </a:moveTo>
                  <a:lnTo>
                    <a:pt x="271049" y="0"/>
                  </a:lnTo>
                  <a:cubicBezTo>
                    <a:pt x="292778" y="0"/>
                    <a:pt x="313616" y="8632"/>
                    <a:pt x="328981" y="23996"/>
                  </a:cubicBezTo>
                  <a:cubicBezTo>
                    <a:pt x="344345" y="39360"/>
                    <a:pt x="352977" y="60199"/>
                    <a:pt x="352977" y="81927"/>
                  </a:cubicBezTo>
                  <a:lnTo>
                    <a:pt x="352977" y="660734"/>
                  </a:lnTo>
                  <a:cubicBezTo>
                    <a:pt x="352977" y="682462"/>
                    <a:pt x="344345" y="703301"/>
                    <a:pt x="328981" y="718665"/>
                  </a:cubicBezTo>
                  <a:cubicBezTo>
                    <a:pt x="313616" y="734030"/>
                    <a:pt x="292778" y="742661"/>
                    <a:pt x="271049" y="742661"/>
                  </a:cubicBezTo>
                  <a:lnTo>
                    <a:pt x="81927" y="742661"/>
                  </a:lnTo>
                  <a:cubicBezTo>
                    <a:pt x="60199" y="742661"/>
                    <a:pt x="39360" y="734030"/>
                    <a:pt x="23996" y="718665"/>
                  </a:cubicBezTo>
                  <a:cubicBezTo>
                    <a:pt x="8632" y="703301"/>
                    <a:pt x="0" y="682462"/>
                    <a:pt x="0" y="660734"/>
                  </a:cubicBezTo>
                  <a:lnTo>
                    <a:pt x="0" y="81927"/>
                  </a:lnTo>
                  <a:cubicBezTo>
                    <a:pt x="0" y="60199"/>
                    <a:pt x="8632" y="39360"/>
                    <a:pt x="23996" y="23996"/>
                  </a:cubicBezTo>
                  <a:cubicBezTo>
                    <a:pt x="39360" y="8632"/>
                    <a:pt x="60199" y="0"/>
                    <a:pt x="81927" y="0"/>
                  </a:cubicBezTo>
                  <a:close/>
                </a:path>
              </a:pathLst>
            </a:custGeom>
            <a:blipFill>
              <a:blip r:embed="rId4">
                <a:alphaModFix amt="68000"/>
              </a:blip>
              <a:stretch>
                <a:fillRect l="-9963" t="0" r="-9963" b="0"/>
              </a:stretch>
            </a:blipFill>
            <a:ln w="9525" cap="rnd">
              <a:solidFill>
                <a:srgbClr val="0F042D">
                  <a:alpha val="67843"/>
                </a:srgbClr>
              </a:solidFill>
              <a:prstDash val="solid"/>
              <a:round/>
            </a:ln>
          </p:spPr>
        </p:sp>
      </p:grpSp>
      <p:grpSp>
        <p:nvGrpSpPr>
          <p:cNvPr name="Group 40" id="40"/>
          <p:cNvGrpSpPr/>
          <p:nvPr/>
        </p:nvGrpSpPr>
        <p:grpSpPr>
          <a:xfrm rot="0">
            <a:off x="397759" y="1876277"/>
            <a:ext cx="3401913" cy="7157609"/>
            <a:chOff x="0" y="0"/>
            <a:chExt cx="352977" cy="742661"/>
          </a:xfrm>
        </p:grpSpPr>
        <p:sp>
          <p:nvSpPr>
            <p:cNvPr name="Freeform 41" id="41"/>
            <p:cNvSpPr/>
            <p:nvPr/>
          </p:nvSpPr>
          <p:spPr>
            <a:xfrm flipH="false" flipV="false" rot="0">
              <a:off x="0" y="0"/>
              <a:ext cx="352977" cy="742661"/>
            </a:xfrm>
            <a:custGeom>
              <a:avLst/>
              <a:gdLst/>
              <a:ahLst/>
              <a:cxnLst/>
              <a:rect r="r" b="b" t="t" l="l"/>
              <a:pathLst>
                <a:path h="742661" w="352977">
                  <a:moveTo>
                    <a:pt x="81927" y="0"/>
                  </a:moveTo>
                  <a:lnTo>
                    <a:pt x="271049" y="0"/>
                  </a:lnTo>
                  <a:cubicBezTo>
                    <a:pt x="292778" y="0"/>
                    <a:pt x="313616" y="8632"/>
                    <a:pt x="328981" y="23996"/>
                  </a:cubicBezTo>
                  <a:cubicBezTo>
                    <a:pt x="344345" y="39360"/>
                    <a:pt x="352977" y="60199"/>
                    <a:pt x="352977" y="81927"/>
                  </a:cubicBezTo>
                  <a:lnTo>
                    <a:pt x="352977" y="660734"/>
                  </a:lnTo>
                  <a:cubicBezTo>
                    <a:pt x="352977" y="682462"/>
                    <a:pt x="344345" y="703301"/>
                    <a:pt x="328981" y="718665"/>
                  </a:cubicBezTo>
                  <a:cubicBezTo>
                    <a:pt x="313616" y="734030"/>
                    <a:pt x="292778" y="742661"/>
                    <a:pt x="271049" y="742661"/>
                  </a:cubicBezTo>
                  <a:lnTo>
                    <a:pt x="81927" y="742661"/>
                  </a:lnTo>
                  <a:cubicBezTo>
                    <a:pt x="60199" y="742661"/>
                    <a:pt x="39360" y="734030"/>
                    <a:pt x="23996" y="718665"/>
                  </a:cubicBezTo>
                  <a:cubicBezTo>
                    <a:pt x="8632" y="703301"/>
                    <a:pt x="0" y="682462"/>
                    <a:pt x="0" y="660734"/>
                  </a:cubicBezTo>
                  <a:lnTo>
                    <a:pt x="0" y="81927"/>
                  </a:lnTo>
                  <a:cubicBezTo>
                    <a:pt x="0" y="60199"/>
                    <a:pt x="8632" y="39360"/>
                    <a:pt x="23996" y="23996"/>
                  </a:cubicBezTo>
                  <a:cubicBezTo>
                    <a:pt x="39360" y="8632"/>
                    <a:pt x="60199" y="0"/>
                    <a:pt x="81927" y="0"/>
                  </a:cubicBezTo>
                  <a:close/>
                </a:path>
              </a:pathLst>
            </a:custGeom>
            <a:blipFill>
              <a:blip r:embed="rId5">
                <a:alphaModFix amt="68000"/>
              </a:blip>
              <a:stretch>
                <a:fillRect l="-9963" t="0" r="-9963" b="0"/>
              </a:stretch>
            </a:blipFill>
            <a:ln w="9525" cap="rnd">
              <a:solidFill>
                <a:srgbClr val="0F042D">
                  <a:alpha val="67843"/>
                </a:srgbClr>
              </a:solidFill>
              <a:prstDash val="solid"/>
              <a:round/>
            </a:ln>
          </p:spPr>
        </p:sp>
      </p:grpSp>
      <p:grpSp>
        <p:nvGrpSpPr>
          <p:cNvPr name="Group 42" id="42"/>
          <p:cNvGrpSpPr/>
          <p:nvPr/>
        </p:nvGrpSpPr>
        <p:grpSpPr>
          <a:xfrm rot="0">
            <a:off x="1028700" y="1651862"/>
            <a:ext cx="6921793" cy="7606438"/>
            <a:chOff x="0" y="0"/>
            <a:chExt cx="675815" cy="742661"/>
          </a:xfrm>
        </p:grpSpPr>
        <p:sp>
          <p:nvSpPr>
            <p:cNvPr name="Freeform 43" id="43"/>
            <p:cNvSpPr/>
            <p:nvPr/>
          </p:nvSpPr>
          <p:spPr>
            <a:xfrm flipH="false" flipV="false" rot="0">
              <a:off x="0" y="0"/>
              <a:ext cx="675815" cy="742661"/>
            </a:xfrm>
            <a:custGeom>
              <a:avLst/>
              <a:gdLst/>
              <a:ahLst/>
              <a:cxnLst/>
              <a:rect r="r" b="b" t="t" l="l"/>
              <a:pathLst>
                <a:path h="742661" w="675815">
                  <a:moveTo>
                    <a:pt x="40265" y="0"/>
                  </a:moveTo>
                  <a:lnTo>
                    <a:pt x="635550" y="0"/>
                  </a:lnTo>
                  <a:cubicBezTo>
                    <a:pt x="646229" y="0"/>
                    <a:pt x="656471" y="4242"/>
                    <a:pt x="664022" y="11793"/>
                  </a:cubicBezTo>
                  <a:cubicBezTo>
                    <a:pt x="671573" y="19345"/>
                    <a:pt x="675815" y="29586"/>
                    <a:pt x="675815" y="40265"/>
                  </a:cubicBezTo>
                  <a:lnTo>
                    <a:pt x="675815" y="702396"/>
                  </a:lnTo>
                  <a:cubicBezTo>
                    <a:pt x="675815" y="713075"/>
                    <a:pt x="671573" y="723316"/>
                    <a:pt x="664022" y="730868"/>
                  </a:cubicBezTo>
                  <a:cubicBezTo>
                    <a:pt x="656471" y="738419"/>
                    <a:pt x="646229" y="742661"/>
                    <a:pt x="635550" y="742661"/>
                  </a:cubicBezTo>
                  <a:lnTo>
                    <a:pt x="40265" y="742661"/>
                  </a:lnTo>
                  <a:cubicBezTo>
                    <a:pt x="29586" y="742661"/>
                    <a:pt x="19345" y="738419"/>
                    <a:pt x="11793" y="730868"/>
                  </a:cubicBezTo>
                  <a:cubicBezTo>
                    <a:pt x="4242" y="723316"/>
                    <a:pt x="0" y="713075"/>
                    <a:pt x="0" y="702396"/>
                  </a:cubicBezTo>
                  <a:lnTo>
                    <a:pt x="0" y="40265"/>
                  </a:lnTo>
                  <a:cubicBezTo>
                    <a:pt x="0" y="29586"/>
                    <a:pt x="4242" y="19345"/>
                    <a:pt x="11793" y="11793"/>
                  </a:cubicBezTo>
                  <a:cubicBezTo>
                    <a:pt x="19345" y="4242"/>
                    <a:pt x="29586" y="0"/>
                    <a:pt x="40265" y="0"/>
                  </a:cubicBezTo>
                  <a:close/>
                </a:path>
              </a:pathLst>
            </a:custGeom>
            <a:blipFill>
              <a:blip r:embed="rId6"/>
              <a:stretch>
                <a:fillRect l="-4945" t="0" r="-4945" b="0"/>
              </a:stretch>
            </a:blipFill>
            <a:ln w="9525" cap="rnd">
              <a:solidFill>
                <a:srgbClr val="0F042D"/>
              </a:solidFill>
              <a:prstDash val="solid"/>
              <a:round/>
            </a:ln>
          </p:spPr>
        </p:sp>
      </p:grpSp>
      <p:sp>
        <p:nvSpPr>
          <p:cNvPr name="TextBox 44" id="44"/>
          <p:cNvSpPr txBox="true"/>
          <p:nvPr/>
        </p:nvSpPr>
        <p:spPr>
          <a:xfrm rot="0">
            <a:off x="10098837" y="1794737"/>
            <a:ext cx="7160463" cy="1233409"/>
          </a:xfrm>
          <a:prstGeom prst="rect">
            <a:avLst/>
          </a:prstGeom>
        </p:spPr>
        <p:txBody>
          <a:bodyPr anchor="t" rtlCol="false" tIns="0" lIns="0" bIns="0" rIns="0">
            <a:spAutoFit/>
          </a:bodyPr>
          <a:lstStyle/>
          <a:p>
            <a:pPr algn="l" marL="0" indent="0" lvl="0">
              <a:lnSpc>
                <a:spcPts val="9311"/>
              </a:lnSpc>
            </a:pPr>
            <a:r>
              <a:rPr lang="en-US" b="true" sz="9040" spc="-406">
                <a:solidFill>
                  <a:srgbClr val="0F042D"/>
                </a:solidFill>
                <a:latin typeface="Open Sauce Medium"/>
                <a:ea typeface="Open Sauce Medium"/>
                <a:cs typeface="Open Sauce Medium"/>
                <a:sym typeface="Open Sauce Medium"/>
              </a:rPr>
              <a:t>Hedef Pazar</a:t>
            </a:r>
          </a:p>
        </p:txBody>
      </p:sp>
      <p:sp>
        <p:nvSpPr>
          <p:cNvPr name="TextBox 45" id="45"/>
          <p:cNvSpPr txBox="true"/>
          <p:nvPr/>
        </p:nvSpPr>
        <p:spPr>
          <a:xfrm rot="0">
            <a:off x="10098837" y="3477093"/>
            <a:ext cx="7160463" cy="882031"/>
          </a:xfrm>
          <a:prstGeom prst="rect">
            <a:avLst/>
          </a:prstGeom>
        </p:spPr>
        <p:txBody>
          <a:bodyPr anchor="t" rtlCol="false" tIns="0" lIns="0" bIns="0" rIns="0">
            <a:spAutoFit/>
          </a:bodyPr>
          <a:lstStyle/>
          <a:p>
            <a:pPr algn="l" marL="0" indent="0" lvl="0">
              <a:lnSpc>
                <a:spcPts val="2338"/>
              </a:lnSpc>
            </a:pPr>
            <a:r>
              <a:rPr lang="en-US" sz="1798" spc="-57" strike="noStrike" u="none">
                <a:solidFill>
                  <a:srgbClr val="0F042D"/>
                </a:solidFill>
                <a:latin typeface="Aileron Light"/>
                <a:ea typeface="Aileron Light"/>
                <a:cs typeface="Aileron Light"/>
                <a:sym typeface="Aileron Light"/>
              </a:rPr>
              <a:t>RPG ve hikâye tabanlı oyunlara olan küresel talep hızla artıyor. Unity Asset Store'da anlatı sistemleri kategorisi büyümeye devam ederken, indie geliştiriciler modüler ve ölçeklenebilir araçlara her zamankinden daha fazla ihtiyaç duyuyor.</a:t>
            </a:r>
          </a:p>
        </p:txBody>
      </p:sp>
      <p:grpSp>
        <p:nvGrpSpPr>
          <p:cNvPr name="Group 46" id="46"/>
          <p:cNvGrpSpPr/>
          <p:nvPr/>
        </p:nvGrpSpPr>
        <p:grpSpPr>
          <a:xfrm rot="0">
            <a:off x="6780503" y="5143500"/>
            <a:ext cx="4941681" cy="3350250"/>
            <a:chOff x="0" y="0"/>
            <a:chExt cx="1301513" cy="882370"/>
          </a:xfrm>
        </p:grpSpPr>
        <p:sp>
          <p:nvSpPr>
            <p:cNvPr name="Freeform 47" id="47"/>
            <p:cNvSpPr/>
            <p:nvPr/>
          </p:nvSpPr>
          <p:spPr>
            <a:xfrm flipH="false" flipV="false" rot="0">
              <a:off x="0" y="0"/>
              <a:ext cx="1301513" cy="882370"/>
            </a:xfrm>
            <a:custGeom>
              <a:avLst/>
              <a:gdLst/>
              <a:ahLst/>
              <a:cxnLst/>
              <a:rect r="r" b="b" t="t" l="l"/>
              <a:pathLst>
                <a:path h="882370" w="1301513">
                  <a:moveTo>
                    <a:pt x="56400" y="0"/>
                  </a:moveTo>
                  <a:lnTo>
                    <a:pt x="1245113" y="0"/>
                  </a:lnTo>
                  <a:cubicBezTo>
                    <a:pt x="1276262" y="0"/>
                    <a:pt x="1301513" y="25251"/>
                    <a:pt x="1301513" y="56400"/>
                  </a:cubicBezTo>
                  <a:lnTo>
                    <a:pt x="1301513" y="825971"/>
                  </a:lnTo>
                  <a:cubicBezTo>
                    <a:pt x="1301513" y="857119"/>
                    <a:pt x="1276262" y="882370"/>
                    <a:pt x="1245113" y="882370"/>
                  </a:cubicBezTo>
                  <a:lnTo>
                    <a:pt x="56400" y="882370"/>
                  </a:lnTo>
                  <a:cubicBezTo>
                    <a:pt x="25251" y="882370"/>
                    <a:pt x="0" y="857119"/>
                    <a:pt x="0" y="825971"/>
                  </a:cubicBezTo>
                  <a:lnTo>
                    <a:pt x="0" y="56400"/>
                  </a:lnTo>
                  <a:cubicBezTo>
                    <a:pt x="0" y="25251"/>
                    <a:pt x="25251" y="0"/>
                    <a:pt x="56400" y="0"/>
                  </a:cubicBezTo>
                  <a:close/>
                </a:path>
              </a:pathLst>
            </a:custGeom>
            <a:gradFill rotWithShape="true">
              <a:gsLst>
                <a:gs pos="0">
                  <a:srgbClr val="573F9D">
                    <a:alpha val="100000"/>
                  </a:srgbClr>
                </a:gs>
                <a:gs pos="50000">
                  <a:srgbClr val="332069">
                    <a:alpha val="100000"/>
                  </a:srgbClr>
                </a:gs>
                <a:gs pos="100000">
                  <a:srgbClr val="0F042D">
                    <a:alpha val="100000"/>
                  </a:srgbClr>
                </a:gs>
              </a:gsLst>
              <a:lin ang="2700000"/>
            </a:gradFill>
            <a:ln w="19050" cap="rnd">
              <a:solidFill>
                <a:srgbClr val="EFEFEF"/>
              </a:solidFill>
              <a:prstDash val="solid"/>
              <a:round/>
            </a:ln>
          </p:spPr>
        </p:sp>
        <p:sp>
          <p:nvSpPr>
            <p:cNvPr name="TextBox 48" id="48"/>
            <p:cNvSpPr txBox="true"/>
            <p:nvPr/>
          </p:nvSpPr>
          <p:spPr>
            <a:xfrm>
              <a:off x="0" y="0"/>
              <a:ext cx="1301513" cy="882370"/>
            </a:xfrm>
            <a:prstGeom prst="rect">
              <a:avLst/>
            </a:prstGeom>
          </p:spPr>
          <p:txBody>
            <a:bodyPr anchor="ctr" rtlCol="false" tIns="50800" lIns="50800" bIns="50800" rIns="50800"/>
            <a:lstStyle/>
            <a:p>
              <a:pPr algn="ctr" marL="0" indent="0" lvl="0">
                <a:lnSpc>
                  <a:spcPts val="2686"/>
                </a:lnSpc>
              </a:pPr>
            </a:p>
          </p:txBody>
        </p:sp>
      </p:grpSp>
      <p:grpSp>
        <p:nvGrpSpPr>
          <p:cNvPr name="Group 49" id="49"/>
          <p:cNvGrpSpPr/>
          <p:nvPr/>
        </p:nvGrpSpPr>
        <p:grpSpPr>
          <a:xfrm rot="0">
            <a:off x="12317619" y="5908050"/>
            <a:ext cx="4941681" cy="3350250"/>
            <a:chOff x="0" y="0"/>
            <a:chExt cx="1301513" cy="882370"/>
          </a:xfrm>
        </p:grpSpPr>
        <p:sp>
          <p:nvSpPr>
            <p:cNvPr name="Freeform 50" id="50"/>
            <p:cNvSpPr/>
            <p:nvPr/>
          </p:nvSpPr>
          <p:spPr>
            <a:xfrm flipH="false" flipV="false" rot="0">
              <a:off x="0" y="0"/>
              <a:ext cx="1301513" cy="882370"/>
            </a:xfrm>
            <a:custGeom>
              <a:avLst/>
              <a:gdLst/>
              <a:ahLst/>
              <a:cxnLst/>
              <a:rect r="r" b="b" t="t" l="l"/>
              <a:pathLst>
                <a:path h="882370" w="1301513">
                  <a:moveTo>
                    <a:pt x="56400" y="0"/>
                  </a:moveTo>
                  <a:lnTo>
                    <a:pt x="1245113" y="0"/>
                  </a:lnTo>
                  <a:cubicBezTo>
                    <a:pt x="1276262" y="0"/>
                    <a:pt x="1301513" y="25251"/>
                    <a:pt x="1301513" y="56400"/>
                  </a:cubicBezTo>
                  <a:lnTo>
                    <a:pt x="1301513" y="825971"/>
                  </a:lnTo>
                  <a:cubicBezTo>
                    <a:pt x="1301513" y="857119"/>
                    <a:pt x="1276262" y="882370"/>
                    <a:pt x="1245113" y="882370"/>
                  </a:cubicBezTo>
                  <a:lnTo>
                    <a:pt x="56400" y="882370"/>
                  </a:lnTo>
                  <a:cubicBezTo>
                    <a:pt x="25251" y="882370"/>
                    <a:pt x="0" y="857119"/>
                    <a:pt x="0" y="825971"/>
                  </a:cubicBezTo>
                  <a:lnTo>
                    <a:pt x="0" y="56400"/>
                  </a:lnTo>
                  <a:cubicBezTo>
                    <a:pt x="0" y="25251"/>
                    <a:pt x="25251" y="0"/>
                    <a:pt x="56400" y="0"/>
                  </a:cubicBezTo>
                  <a:close/>
                </a:path>
              </a:pathLst>
            </a:custGeom>
            <a:ln w="19050" cap="rnd">
              <a:solidFill>
                <a:srgbClr val="0F042D"/>
              </a:solidFill>
              <a:prstDash val="solid"/>
              <a:round/>
            </a:ln>
          </p:spPr>
        </p:sp>
        <p:sp>
          <p:nvSpPr>
            <p:cNvPr name="TextBox 51" id="51"/>
            <p:cNvSpPr txBox="true"/>
            <p:nvPr/>
          </p:nvSpPr>
          <p:spPr>
            <a:xfrm>
              <a:off x="0" y="0"/>
              <a:ext cx="1301513" cy="882370"/>
            </a:xfrm>
            <a:prstGeom prst="rect">
              <a:avLst/>
            </a:prstGeom>
          </p:spPr>
          <p:txBody>
            <a:bodyPr anchor="ctr" rtlCol="false" tIns="50800" lIns="50800" bIns="50800" rIns="50800"/>
            <a:lstStyle/>
            <a:p>
              <a:pPr algn="ctr" marL="0" indent="0" lvl="0">
                <a:lnSpc>
                  <a:spcPts val="2686"/>
                </a:lnSpc>
              </a:pPr>
            </a:p>
          </p:txBody>
        </p:sp>
      </p:grpSp>
      <p:sp>
        <p:nvSpPr>
          <p:cNvPr name="TextBox 52" id="52"/>
          <p:cNvSpPr txBox="true"/>
          <p:nvPr/>
        </p:nvSpPr>
        <p:spPr>
          <a:xfrm rot="0">
            <a:off x="7196544" y="5550331"/>
            <a:ext cx="4090547" cy="507753"/>
          </a:xfrm>
          <a:prstGeom prst="rect">
            <a:avLst/>
          </a:prstGeom>
        </p:spPr>
        <p:txBody>
          <a:bodyPr anchor="t" rtlCol="false" tIns="0" lIns="0" bIns="0" rIns="0">
            <a:spAutoFit/>
          </a:bodyPr>
          <a:lstStyle/>
          <a:p>
            <a:pPr algn="l" marL="0" indent="0" lvl="0">
              <a:lnSpc>
                <a:spcPts val="3836"/>
              </a:lnSpc>
            </a:pPr>
            <a:r>
              <a:rPr lang="en-US" b="true" sz="3724" spc="-167">
                <a:solidFill>
                  <a:srgbClr val="EFEFEF"/>
                </a:solidFill>
                <a:latin typeface="Open Sauce Medium"/>
                <a:ea typeface="Open Sauce Medium"/>
                <a:cs typeface="Open Sauce Medium"/>
                <a:sym typeface="Open Sauce Medium"/>
              </a:rPr>
              <a:t>Hedef Kitle</a:t>
            </a:r>
          </a:p>
        </p:txBody>
      </p:sp>
      <p:sp>
        <p:nvSpPr>
          <p:cNvPr name="TextBox 53" id="53"/>
          <p:cNvSpPr txBox="true"/>
          <p:nvPr/>
        </p:nvSpPr>
        <p:spPr>
          <a:xfrm rot="0">
            <a:off x="12743186" y="6286828"/>
            <a:ext cx="4090547" cy="507753"/>
          </a:xfrm>
          <a:prstGeom prst="rect">
            <a:avLst/>
          </a:prstGeom>
        </p:spPr>
        <p:txBody>
          <a:bodyPr anchor="t" rtlCol="false" tIns="0" lIns="0" bIns="0" rIns="0">
            <a:spAutoFit/>
          </a:bodyPr>
          <a:lstStyle/>
          <a:p>
            <a:pPr algn="l" marL="0" indent="0" lvl="0">
              <a:lnSpc>
                <a:spcPts val="3836"/>
              </a:lnSpc>
            </a:pPr>
            <a:r>
              <a:rPr lang="en-US" b="true" sz="3724" spc="-167">
                <a:solidFill>
                  <a:srgbClr val="0F042D"/>
                </a:solidFill>
                <a:latin typeface="Open Sauce Medium"/>
                <a:ea typeface="Open Sauce Medium"/>
                <a:cs typeface="Open Sauce Medium"/>
                <a:sym typeface="Open Sauce Medium"/>
              </a:rPr>
              <a:t>Pazar Fırsatı</a:t>
            </a:r>
          </a:p>
        </p:txBody>
      </p:sp>
      <p:sp>
        <p:nvSpPr>
          <p:cNvPr name="AutoShape 54" id="54"/>
          <p:cNvSpPr/>
          <p:nvPr/>
        </p:nvSpPr>
        <p:spPr>
          <a:xfrm flipV="true">
            <a:off x="7222075" y="6372646"/>
            <a:ext cx="4013712" cy="0"/>
          </a:xfrm>
          <a:prstGeom prst="line">
            <a:avLst/>
          </a:prstGeom>
          <a:ln cap="flat" w="19050">
            <a:solidFill>
              <a:srgbClr val="FFFFFF"/>
            </a:solidFill>
            <a:prstDash val="solid"/>
            <a:headEnd type="none" len="sm" w="sm"/>
            <a:tailEnd type="none" len="sm" w="sm"/>
          </a:ln>
        </p:spPr>
      </p:sp>
      <p:sp>
        <p:nvSpPr>
          <p:cNvPr name="AutoShape 55" id="55"/>
          <p:cNvSpPr/>
          <p:nvPr/>
        </p:nvSpPr>
        <p:spPr>
          <a:xfrm flipV="true">
            <a:off x="12768717" y="7109142"/>
            <a:ext cx="4013712" cy="0"/>
          </a:xfrm>
          <a:prstGeom prst="line">
            <a:avLst/>
          </a:prstGeom>
          <a:ln cap="flat" w="19050">
            <a:solidFill>
              <a:srgbClr val="0F042D"/>
            </a:solidFill>
            <a:prstDash val="solid"/>
            <a:headEnd type="none" len="sm" w="sm"/>
            <a:tailEnd type="none" len="sm" w="sm"/>
          </a:ln>
        </p:spPr>
      </p:sp>
      <p:sp>
        <p:nvSpPr>
          <p:cNvPr name="TextBox 56" id="56"/>
          <p:cNvSpPr txBox="true"/>
          <p:nvPr/>
        </p:nvSpPr>
        <p:spPr>
          <a:xfrm rot="0">
            <a:off x="7222075" y="6667921"/>
            <a:ext cx="4065016" cy="1027444"/>
          </a:xfrm>
          <a:prstGeom prst="rect">
            <a:avLst/>
          </a:prstGeom>
        </p:spPr>
        <p:txBody>
          <a:bodyPr anchor="t" rtlCol="false" tIns="0" lIns="0" bIns="0" rIns="0">
            <a:spAutoFit/>
          </a:bodyPr>
          <a:lstStyle/>
          <a:p>
            <a:pPr algn="l" marL="0" indent="0" lvl="0">
              <a:lnSpc>
                <a:spcPts val="2078"/>
              </a:lnSpc>
            </a:pPr>
            <a:r>
              <a:rPr lang="en-US" sz="1598" i="true" spc="-51">
                <a:solidFill>
                  <a:srgbClr val="EFEFEF"/>
                </a:solidFill>
                <a:latin typeface="Aileron Italics"/>
                <a:ea typeface="Aileron Italics"/>
                <a:cs typeface="Aileron Italics"/>
                <a:sym typeface="Aileron Italics"/>
              </a:rPr>
              <a:t>Bağımsız oyun stüdyoları (Indie Studios), RPG ve macera oyunu üreticileri, Unity Asset Store kullanıcıları ve geliştirici topluluğu. Büyük stüdyo altyapısını küçük ekiplere açıyoruz.</a:t>
            </a:r>
          </a:p>
        </p:txBody>
      </p:sp>
      <p:sp>
        <p:nvSpPr>
          <p:cNvPr name="TextBox 57" id="57"/>
          <p:cNvSpPr txBox="true"/>
          <p:nvPr/>
        </p:nvSpPr>
        <p:spPr>
          <a:xfrm rot="0">
            <a:off x="12768717" y="7404417"/>
            <a:ext cx="4065016" cy="1027444"/>
          </a:xfrm>
          <a:prstGeom prst="rect">
            <a:avLst/>
          </a:prstGeom>
        </p:spPr>
        <p:txBody>
          <a:bodyPr anchor="t" rtlCol="false" tIns="0" lIns="0" bIns="0" rIns="0">
            <a:spAutoFit/>
          </a:bodyPr>
          <a:lstStyle/>
          <a:p>
            <a:pPr algn="l" marL="0" indent="0" lvl="0">
              <a:lnSpc>
                <a:spcPts val="2078"/>
              </a:lnSpc>
            </a:pPr>
            <a:r>
              <a:rPr lang="en-US" sz="1598" i="true" spc="-51">
                <a:solidFill>
                  <a:srgbClr val="696969"/>
                </a:solidFill>
                <a:latin typeface="Aileron Italics"/>
                <a:ea typeface="Aileron Italics"/>
                <a:cs typeface="Aileron Italics"/>
                <a:sym typeface="Aileron Italics"/>
              </a:rPr>
              <a:t>RPG oyun pazarı yıllık %12 büyüyor. Unity Asset Store'da narrative araçlar kategorisi en hızlı büyüyen segmentler arasında. Modüler çözümlere talep rekor seviyede.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10800000">
            <a:off x="-193450" y="-318232"/>
            <a:ext cx="18674901" cy="7378284"/>
            <a:chOff x="0" y="0"/>
            <a:chExt cx="24899868" cy="9837711"/>
          </a:xfrm>
        </p:grpSpPr>
        <p:grpSp>
          <p:nvGrpSpPr>
            <p:cNvPr name="Group 3" id="3"/>
            <p:cNvGrpSpPr/>
            <p:nvPr/>
          </p:nvGrpSpPr>
          <p:grpSpPr>
            <a:xfrm rot="0">
              <a:off x="0" y="4427815"/>
              <a:ext cx="3558057" cy="5409897"/>
              <a:chOff x="0" y="0"/>
              <a:chExt cx="812800" cy="1235833"/>
            </a:xfrm>
          </p:grpSpPr>
          <p:sp>
            <p:nvSpPr>
              <p:cNvPr name="Freeform 4" id="4"/>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5" id="5"/>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6" id="6"/>
            <p:cNvGrpSpPr/>
            <p:nvPr/>
          </p:nvGrpSpPr>
          <p:grpSpPr>
            <a:xfrm rot="0">
              <a:off x="21341811" y="4427815"/>
              <a:ext cx="3558057" cy="5409897"/>
              <a:chOff x="0" y="0"/>
              <a:chExt cx="812800" cy="1235833"/>
            </a:xfrm>
          </p:grpSpPr>
          <p:sp>
            <p:nvSpPr>
              <p:cNvPr name="Freeform 7" id="7"/>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8" id="8"/>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9" id="9"/>
            <p:cNvGrpSpPr/>
            <p:nvPr/>
          </p:nvGrpSpPr>
          <p:grpSpPr>
            <a:xfrm rot="0">
              <a:off x="3558057" y="3198827"/>
              <a:ext cx="3558057" cy="6638885"/>
              <a:chOff x="0" y="0"/>
              <a:chExt cx="812800" cy="1516582"/>
            </a:xfrm>
          </p:grpSpPr>
          <p:sp>
            <p:nvSpPr>
              <p:cNvPr name="Freeform 10" id="10"/>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1" id="11"/>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2" id="12"/>
            <p:cNvGrpSpPr/>
            <p:nvPr/>
          </p:nvGrpSpPr>
          <p:grpSpPr>
            <a:xfrm rot="0">
              <a:off x="17783754" y="3198827"/>
              <a:ext cx="3558057" cy="6638885"/>
              <a:chOff x="0" y="0"/>
              <a:chExt cx="812800" cy="1516582"/>
            </a:xfrm>
          </p:grpSpPr>
          <p:sp>
            <p:nvSpPr>
              <p:cNvPr name="Freeform 13" id="13"/>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4" id="14"/>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5" id="15"/>
            <p:cNvGrpSpPr/>
            <p:nvPr/>
          </p:nvGrpSpPr>
          <p:grpSpPr>
            <a:xfrm rot="0">
              <a:off x="7116114" y="1874177"/>
              <a:ext cx="3558057" cy="7963534"/>
              <a:chOff x="0" y="0"/>
              <a:chExt cx="812800" cy="1819184"/>
            </a:xfrm>
          </p:grpSpPr>
          <p:sp>
            <p:nvSpPr>
              <p:cNvPr name="Freeform 16" id="16"/>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7" id="17"/>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8" id="18"/>
            <p:cNvGrpSpPr/>
            <p:nvPr/>
          </p:nvGrpSpPr>
          <p:grpSpPr>
            <a:xfrm rot="0">
              <a:off x="14232228" y="1874177"/>
              <a:ext cx="3558057" cy="7963534"/>
              <a:chOff x="0" y="0"/>
              <a:chExt cx="812800" cy="1819184"/>
            </a:xfrm>
          </p:grpSpPr>
          <p:sp>
            <p:nvSpPr>
              <p:cNvPr name="Freeform 19" id="19"/>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0" id="20"/>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1" id="21"/>
            <p:cNvGrpSpPr/>
            <p:nvPr/>
          </p:nvGrpSpPr>
          <p:grpSpPr>
            <a:xfrm rot="0">
              <a:off x="10674171" y="0"/>
              <a:ext cx="3558057" cy="9837711"/>
              <a:chOff x="0" y="0"/>
              <a:chExt cx="812800" cy="2247320"/>
            </a:xfrm>
          </p:grpSpPr>
          <p:sp>
            <p:nvSpPr>
              <p:cNvPr name="Freeform 22" id="22"/>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3" id="23"/>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grpSp>
        <p:nvGrpSpPr>
          <p:cNvPr name="Group 24" id="24"/>
          <p:cNvGrpSpPr/>
          <p:nvPr/>
        </p:nvGrpSpPr>
        <p:grpSpPr>
          <a:xfrm rot="0">
            <a:off x="9953770" y="505729"/>
            <a:ext cx="4279219" cy="502851"/>
            <a:chOff x="0" y="0"/>
            <a:chExt cx="3458428" cy="406400"/>
          </a:xfrm>
        </p:grpSpPr>
        <p:sp>
          <p:nvSpPr>
            <p:cNvPr name="Freeform 25" id="25"/>
            <p:cNvSpPr/>
            <p:nvPr/>
          </p:nvSpPr>
          <p:spPr>
            <a:xfrm flipH="false" flipV="false" rot="0">
              <a:off x="0" y="0"/>
              <a:ext cx="3458428" cy="406400"/>
            </a:xfrm>
            <a:custGeom>
              <a:avLst/>
              <a:gdLst/>
              <a:ahLst/>
              <a:cxnLst/>
              <a:rect r="r" b="b" t="t" l="l"/>
              <a:pathLst>
                <a:path h="406400" w="3458428">
                  <a:moveTo>
                    <a:pt x="3255228" y="0"/>
                  </a:moveTo>
                  <a:cubicBezTo>
                    <a:pt x="3367453" y="0"/>
                    <a:pt x="3458428" y="90976"/>
                    <a:pt x="3458428" y="203200"/>
                  </a:cubicBezTo>
                  <a:cubicBezTo>
                    <a:pt x="3458428" y="315424"/>
                    <a:pt x="3367453" y="406400"/>
                    <a:pt x="3255228"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26" id="26"/>
            <p:cNvSpPr txBox="true"/>
            <p:nvPr/>
          </p:nvSpPr>
          <p:spPr>
            <a:xfrm>
              <a:off x="0" y="0"/>
              <a:ext cx="3458428" cy="406400"/>
            </a:xfrm>
            <a:prstGeom prst="rect">
              <a:avLst/>
            </a:prstGeom>
          </p:spPr>
          <p:txBody>
            <a:bodyPr anchor="ctr" rtlCol="false" tIns="50800" lIns="50800" bIns="50800" rIns="50800"/>
            <a:lstStyle/>
            <a:p>
              <a:pPr algn="ctr" marL="0" indent="0" lvl="0">
                <a:lnSpc>
                  <a:spcPts val="2686"/>
                </a:lnSpc>
              </a:pPr>
            </a:p>
          </p:txBody>
        </p:sp>
      </p:grpSp>
      <p:grpSp>
        <p:nvGrpSpPr>
          <p:cNvPr name="Group 27" id="27"/>
          <p:cNvGrpSpPr/>
          <p:nvPr/>
        </p:nvGrpSpPr>
        <p:grpSpPr>
          <a:xfrm rot="0">
            <a:off x="7087567" y="505729"/>
            <a:ext cx="2732854" cy="502851"/>
            <a:chOff x="0" y="0"/>
            <a:chExt cx="2208669" cy="406400"/>
          </a:xfrm>
        </p:grpSpPr>
        <p:sp>
          <p:nvSpPr>
            <p:cNvPr name="Freeform 28" id="28"/>
            <p:cNvSpPr/>
            <p:nvPr/>
          </p:nvSpPr>
          <p:spPr>
            <a:xfrm flipH="false" flipV="false" rot="0">
              <a:off x="0" y="0"/>
              <a:ext cx="2208669" cy="406400"/>
            </a:xfrm>
            <a:custGeom>
              <a:avLst/>
              <a:gdLst/>
              <a:ahLst/>
              <a:cxnLst/>
              <a:rect r="r" b="b" t="t" l="l"/>
              <a:pathLst>
                <a:path h="406400" w="2208669">
                  <a:moveTo>
                    <a:pt x="2005469" y="0"/>
                  </a:moveTo>
                  <a:cubicBezTo>
                    <a:pt x="2117693" y="0"/>
                    <a:pt x="2208669" y="90976"/>
                    <a:pt x="2208669" y="203200"/>
                  </a:cubicBezTo>
                  <a:cubicBezTo>
                    <a:pt x="2208669" y="315424"/>
                    <a:pt x="2117693" y="406400"/>
                    <a:pt x="2005469"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29" id="29"/>
            <p:cNvSpPr txBox="true"/>
            <p:nvPr/>
          </p:nvSpPr>
          <p:spPr>
            <a:xfrm>
              <a:off x="0" y="0"/>
              <a:ext cx="2208669" cy="406400"/>
            </a:xfrm>
            <a:prstGeom prst="rect">
              <a:avLst/>
            </a:prstGeom>
          </p:spPr>
          <p:txBody>
            <a:bodyPr anchor="ctr" rtlCol="false" tIns="50800" lIns="50800" bIns="50800" rIns="50800"/>
            <a:lstStyle/>
            <a:p>
              <a:pPr algn="ctr" marL="0" indent="0" lvl="0">
                <a:lnSpc>
                  <a:spcPts val="2686"/>
                </a:lnSpc>
              </a:pPr>
            </a:p>
          </p:txBody>
        </p:sp>
      </p:grpSp>
      <p:grpSp>
        <p:nvGrpSpPr>
          <p:cNvPr name="Group 30" id="30"/>
          <p:cNvGrpSpPr/>
          <p:nvPr/>
        </p:nvGrpSpPr>
        <p:grpSpPr>
          <a:xfrm rot="0">
            <a:off x="4657277" y="505729"/>
            <a:ext cx="3625880" cy="502851"/>
            <a:chOff x="0" y="0"/>
            <a:chExt cx="2930405" cy="406400"/>
          </a:xfrm>
        </p:grpSpPr>
        <p:sp>
          <p:nvSpPr>
            <p:cNvPr name="Freeform 31" id="31"/>
            <p:cNvSpPr/>
            <p:nvPr/>
          </p:nvSpPr>
          <p:spPr>
            <a:xfrm flipH="false" flipV="false" rot="0">
              <a:off x="0" y="0"/>
              <a:ext cx="2930405" cy="406400"/>
            </a:xfrm>
            <a:custGeom>
              <a:avLst/>
              <a:gdLst/>
              <a:ahLst/>
              <a:cxnLst/>
              <a:rect r="r" b="b" t="t" l="l"/>
              <a:pathLst>
                <a:path h="406400" w="2930405">
                  <a:moveTo>
                    <a:pt x="2727205" y="0"/>
                  </a:moveTo>
                  <a:cubicBezTo>
                    <a:pt x="2839429" y="0"/>
                    <a:pt x="2930405" y="90976"/>
                    <a:pt x="2930405" y="203200"/>
                  </a:cubicBezTo>
                  <a:cubicBezTo>
                    <a:pt x="2930405" y="315424"/>
                    <a:pt x="2839429" y="406400"/>
                    <a:pt x="2727205" y="406400"/>
                  </a:cubicBezTo>
                  <a:lnTo>
                    <a:pt x="203200" y="406400"/>
                  </a:lnTo>
                  <a:cubicBezTo>
                    <a:pt x="90976" y="406400"/>
                    <a:pt x="0" y="315424"/>
                    <a:pt x="0" y="203200"/>
                  </a:cubicBezTo>
                  <a:cubicBezTo>
                    <a:pt x="0" y="90976"/>
                    <a:pt x="90976" y="0"/>
                    <a:pt x="203200" y="0"/>
                  </a:cubicBezTo>
                  <a:close/>
                </a:path>
              </a:pathLst>
            </a:custGeom>
            <a:ln w="9525" cap="sq">
              <a:solidFill>
                <a:srgbClr val="0F042D"/>
              </a:solidFill>
              <a:prstDash val="solid"/>
              <a:miter/>
            </a:ln>
          </p:spPr>
        </p:sp>
        <p:sp>
          <p:nvSpPr>
            <p:cNvPr name="TextBox 32" id="32"/>
            <p:cNvSpPr txBox="true"/>
            <p:nvPr/>
          </p:nvSpPr>
          <p:spPr>
            <a:xfrm>
              <a:off x="0" y="0"/>
              <a:ext cx="2930405" cy="406400"/>
            </a:xfrm>
            <a:prstGeom prst="rect">
              <a:avLst/>
            </a:prstGeom>
          </p:spPr>
          <p:txBody>
            <a:bodyPr anchor="ctr" rtlCol="false" tIns="50800" lIns="50800" bIns="50800" rIns="50800"/>
            <a:lstStyle/>
            <a:p>
              <a:pPr algn="ctr" marL="0" indent="0" lvl="0">
                <a:lnSpc>
                  <a:spcPts val="2686"/>
                </a:lnSpc>
              </a:pPr>
            </a:p>
          </p:txBody>
        </p:sp>
      </p:grpSp>
      <p:sp>
        <p:nvSpPr>
          <p:cNvPr name="Freeform 33" id="33"/>
          <p:cNvSpPr/>
          <p:nvPr/>
        </p:nvSpPr>
        <p:spPr>
          <a:xfrm flipH="false" flipV="false" rot="0">
            <a:off x="1090400" y="559187"/>
            <a:ext cx="422594" cy="364968"/>
          </a:xfrm>
          <a:custGeom>
            <a:avLst/>
            <a:gdLst/>
            <a:ahLst/>
            <a:cxnLst/>
            <a:rect r="r" b="b" t="t" l="l"/>
            <a:pathLst>
              <a:path h="364968" w="422594">
                <a:moveTo>
                  <a:pt x="0" y="0"/>
                </a:moveTo>
                <a:lnTo>
                  <a:pt x="422594" y="0"/>
                </a:lnTo>
                <a:lnTo>
                  <a:pt x="422594" y="364968"/>
                </a:lnTo>
                <a:lnTo>
                  <a:pt x="0" y="364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4" id="34"/>
          <p:cNvGrpSpPr/>
          <p:nvPr/>
        </p:nvGrpSpPr>
        <p:grpSpPr>
          <a:xfrm rot="0">
            <a:off x="4215948" y="1651862"/>
            <a:ext cx="6921793" cy="7606438"/>
            <a:chOff x="0" y="0"/>
            <a:chExt cx="675815" cy="742661"/>
          </a:xfrm>
        </p:grpSpPr>
        <p:sp>
          <p:nvSpPr>
            <p:cNvPr name="Freeform 35" id="35"/>
            <p:cNvSpPr/>
            <p:nvPr/>
          </p:nvSpPr>
          <p:spPr>
            <a:xfrm flipH="false" flipV="false" rot="0">
              <a:off x="0" y="0"/>
              <a:ext cx="675815" cy="742661"/>
            </a:xfrm>
            <a:custGeom>
              <a:avLst/>
              <a:gdLst/>
              <a:ahLst/>
              <a:cxnLst/>
              <a:rect r="r" b="b" t="t" l="l"/>
              <a:pathLst>
                <a:path h="742661" w="675815">
                  <a:moveTo>
                    <a:pt x="40265" y="0"/>
                  </a:moveTo>
                  <a:lnTo>
                    <a:pt x="635550" y="0"/>
                  </a:lnTo>
                  <a:cubicBezTo>
                    <a:pt x="646229" y="0"/>
                    <a:pt x="656471" y="4242"/>
                    <a:pt x="664022" y="11793"/>
                  </a:cubicBezTo>
                  <a:cubicBezTo>
                    <a:pt x="671573" y="19345"/>
                    <a:pt x="675815" y="29586"/>
                    <a:pt x="675815" y="40265"/>
                  </a:cubicBezTo>
                  <a:lnTo>
                    <a:pt x="675815" y="702396"/>
                  </a:lnTo>
                  <a:cubicBezTo>
                    <a:pt x="675815" y="713075"/>
                    <a:pt x="671573" y="723316"/>
                    <a:pt x="664022" y="730868"/>
                  </a:cubicBezTo>
                  <a:cubicBezTo>
                    <a:pt x="656471" y="738419"/>
                    <a:pt x="646229" y="742661"/>
                    <a:pt x="635550" y="742661"/>
                  </a:cubicBezTo>
                  <a:lnTo>
                    <a:pt x="40265" y="742661"/>
                  </a:lnTo>
                  <a:cubicBezTo>
                    <a:pt x="29586" y="742661"/>
                    <a:pt x="19345" y="738419"/>
                    <a:pt x="11793" y="730868"/>
                  </a:cubicBezTo>
                  <a:cubicBezTo>
                    <a:pt x="4242" y="723316"/>
                    <a:pt x="0" y="713075"/>
                    <a:pt x="0" y="702396"/>
                  </a:cubicBezTo>
                  <a:lnTo>
                    <a:pt x="0" y="40265"/>
                  </a:lnTo>
                  <a:cubicBezTo>
                    <a:pt x="0" y="29586"/>
                    <a:pt x="4242" y="19345"/>
                    <a:pt x="11793" y="11793"/>
                  </a:cubicBezTo>
                  <a:cubicBezTo>
                    <a:pt x="19345" y="4242"/>
                    <a:pt x="29586" y="0"/>
                    <a:pt x="40265" y="0"/>
                  </a:cubicBezTo>
                  <a:close/>
                </a:path>
              </a:pathLst>
            </a:custGeom>
            <a:blipFill>
              <a:blip r:embed="rId4"/>
              <a:stretch>
                <a:fillRect l="-4945" t="0" r="-4945" b="0"/>
              </a:stretch>
            </a:blipFill>
            <a:ln w="9525" cap="rnd">
              <a:solidFill>
                <a:srgbClr val="0F042D"/>
              </a:solidFill>
              <a:prstDash val="solid"/>
              <a:round/>
            </a:ln>
          </p:spPr>
        </p:sp>
      </p:grpSp>
      <p:grpSp>
        <p:nvGrpSpPr>
          <p:cNvPr name="Group 36" id="36"/>
          <p:cNvGrpSpPr/>
          <p:nvPr/>
        </p:nvGrpSpPr>
        <p:grpSpPr>
          <a:xfrm rot="0">
            <a:off x="10332711" y="4051781"/>
            <a:ext cx="6926589" cy="4753550"/>
            <a:chOff x="0" y="0"/>
            <a:chExt cx="1824287" cy="1251964"/>
          </a:xfrm>
        </p:grpSpPr>
        <p:sp>
          <p:nvSpPr>
            <p:cNvPr name="Freeform 37" id="37"/>
            <p:cNvSpPr/>
            <p:nvPr/>
          </p:nvSpPr>
          <p:spPr>
            <a:xfrm flipH="false" flipV="false" rot="0">
              <a:off x="0" y="0"/>
              <a:ext cx="1824287" cy="1251964"/>
            </a:xfrm>
            <a:custGeom>
              <a:avLst/>
              <a:gdLst/>
              <a:ahLst/>
              <a:cxnLst/>
              <a:rect r="r" b="b" t="t" l="l"/>
              <a:pathLst>
                <a:path h="1251964" w="1824287">
                  <a:moveTo>
                    <a:pt x="57003" y="0"/>
                  </a:moveTo>
                  <a:lnTo>
                    <a:pt x="1767284" y="0"/>
                  </a:lnTo>
                  <a:cubicBezTo>
                    <a:pt x="1782402" y="0"/>
                    <a:pt x="1796901" y="6006"/>
                    <a:pt x="1807591" y="16696"/>
                  </a:cubicBezTo>
                  <a:cubicBezTo>
                    <a:pt x="1818281" y="27386"/>
                    <a:pt x="1824287" y="41885"/>
                    <a:pt x="1824287" y="57003"/>
                  </a:cubicBezTo>
                  <a:lnTo>
                    <a:pt x="1824287" y="1194960"/>
                  </a:lnTo>
                  <a:cubicBezTo>
                    <a:pt x="1824287" y="1210079"/>
                    <a:pt x="1818281" y="1224578"/>
                    <a:pt x="1807591" y="1235268"/>
                  </a:cubicBezTo>
                  <a:cubicBezTo>
                    <a:pt x="1796901" y="1245958"/>
                    <a:pt x="1782402" y="1251964"/>
                    <a:pt x="1767284" y="1251964"/>
                  </a:cubicBezTo>
                  <a:lnTo>
                    <a:pt x="57003" y="1251964"/>
                  </a:lnTo>
                  <a:cubicBezTo>
                    <a:pt x="41885" y="1251964"/>
                    <a:pt x="27386" y="1245958"/>
                    <a:pt x="16696" y="1235268"/>
                  </a:cubicBezTo>
                  <a:cubicBezTo>
                    <a:pt x="6006" y="1224578"/>
                    <a:pt x="0" y="1210079"/>
                    <a:pt x="0" y="1194960"/>
                  </a:cubicBezTo>
                  <a:lnTo>
                    <a:pt x="0" y="57003"/>
                  </a:lnTo>
                  <a:cubicBezTo>
                    <a:pt x="0" y="41885"/>
                    <a:pt x="6006" y="27386"/>
                    <a:pt x="16696" y="16696"/>
                  </a:cubicBezTo>
                  <a:cubicBezTo>
                    <a:pt x="27386" y="6006"/>
                    <a:pt x="41885" y="0"/>
                    <a:pt x="57003" y="0"/>
                  </a:cubicBezTo>
                  <a:close/>
                </a:path>
              </a:pathLst>
            </a:custGeom>
            <a:gradFill rotWithShape="true">
              <a:gsLst>
                <a:gs pos="0">
                  <a:srgbClr val="573F9D">
                    <a:alpha val="100000"/>
                  </a:srgbClr>
                </a:gs>
                <a:gs pos="50000">
                  <a:srgbClr val="332069">
                    <a:alpha val="100000"/>
                  </a:srgbClr>
                </a:gs>
                <a:gs pos="100000">
                  <a:srgbClr val="0F042D">
                    <a:alpha val="100000"/>
                  </a:srgbClr>
                </a:gs>
              </a:gsLst>
              <a:lin ang="2700000"/>
            </a:gradFill>
            <a:ln w="19050" cap="rnd">
              <a:solidFill>
                <a:srgbClr val="EFEFEF"/>
              </a:solidFill>
              <a:prstDash val="solid"/>
              <a:round/>
            </a:ln>
          </p:spPr>
        </p:sp>
        <p:sp>
          <p:nvSpPr>
            <p:cNvPr name="TextBox 38" id="38"/>
            <p:cNvSpPr txBox="true"/>
            <p:nvPr/>
          </p:nvSpPr>
          <p:spPr>
            <a:xfrm>
              <a:off x="0" y="0"/>
              <a:ext cx="1824287" cy="1251964"/>
            </a:xfrm>
            <a:prstGeom prst="rect">
              <a:avLst/>
            </a:prstGeom>
          </p:spPr>
          <p:txBody>
            <a:bodyPr anchor="ctr" rtlCol="false" tIns="50800" lIns="50800" bIns="50800" rIns="50800"/>
            <a:lstStyle/>
            <a:p>
              <a:pPr algn="ctr" marL="0" indent="0" lvl="0">
                <a:lnSpc>
                  <a:spcPts val="2686"/>
                </a:lnSpc>
              </a:pPr>
            </a:p>
          </p:txBody>
        </p:sp>
      </p:grpSp>
      <p:grpSp>
        <p:nvGrpSpPr>
          <p:cNvPr name="Group 39" id="39"/>
          <p:cNvGrpSpPr/>
          <p:nvPr/>
        </p:nvGrpSpPr>
        <p:grpSpPr>
          <a:xfrm rot="0">
            <a:off x="1112826" y="2071973"/>
            <a:ext cx="2262444" cy="1453515"/>
            <a:chOff x="0" y="0"/>
            <a:chExt cx="595870" cy="382819"/>
          </a:xfrm>
        </p:grpSpPr>
        <p:sp>
          <p:nvSpPr>
            <p:cNvPr name="Freeform 40" id="40"/>
            <p:cNvSpPr/>
            <p:nvPr/>
          </p:nvSpPr>
          <p:spPr>
            <a:xfrm flipH="false" flipV="false" rot="0">
              <a:off x="0" y="0"/>
              <a:ext cx="595870" cy="382819"/>
            </a:xfrm>
            <a:custGeom>
              <a:avLst/>
              <a:gdLst/>
              <a:ahLst/>
              <a:cxnLst/>
              <a:rect r="r" b="b" t="t" l="l"/>
              <a:pathLst>
                <a:path h="382819" w="595870">
                  <a:moveTo>
                    <a:pt x="99236" y="0"/>
                  </a:moveTo>
                  <a:lnTo>
                    <a:pt x="496634" y="0"/>
                  </a:lnTo>
                  <a:cubicBezTo>
                    <a:pt x="522953" y="0"/>
                    <a:pt x="548194" y="10455"/>
                    <a:pt x="566804" y="29066"/>
                  </a:cubicBezTo>
                  <a:cubicBezTo>
                    <a:pt x="585415" y="47676"/>
                    <a:pt x="595870" y="72917"/>
                    <a:pt x="595870" y="99236"/>
                  </a:cubicBezTo>
                  <a:lnTo>
                    <a:pt x="595870" y="283583"/>
                  </a:lnTo>
                  <a:cubicBezTo>
                    <a:pt x="595870" y="338389"/>
                    <a:pt x="551440" y="382819"/>
                    <a:pt x="496634" y="382819"/>
                  </a:cubicBezTo>
                  <a:lnTo>
                    <a:pt x="99236" y="382819"/>
                  </a:lnTo>
                  <a:cubicBezTo>
                    <a:pt x="44429" y="382819"/>
                    <a:pt x="0" y="338389"/>
                    <a:pt x="0" y="283583"/>
                  </a:cubicBezTo>
                  <a:lnTo>
                    <a:pt x="0" y="99236"/>
                  </a:lnTo>
                  <a:cubicBezTo>
                    <a:pt x="0" y="44429"/>
                    <a:pt x="44429" y="0"/>
                    <a:pt x="99236" y="0"/>
                  </a:cubicBezTo>
                  <a:close/>
                </a:path>
              </a:pathLst>
            </a:custGeom>
            <a:ln w="19050" cap="rnd">
              <a:solidFill>
                <a:srgbClr val="0F042D"/>
              </a:solidFill>
              <a:prstDash val="solid"/>
              <a:round/>
            </a:ln>
          </p:spPr>
        </p:sp>
        <p:sp>
          <p:nvSpPr>
            <p:cNvPr name="TextBox 41" id="41"/>
            <p:cNvSpPr txBox="true"/>
            <p:nvPr/>
          </p:nvSpPr>
          <p:spPr>
            <a:xfrm>
              <a:off x="0" y="0"/>
              <a:ext cx="595870" cy="382819"/>
            </a:xfrm>
            <a:prstGeom prst="rect">
              <a:avLst/>
            </a:prstGeom>
          </p:spPr>
          <p:txBody>
            <a:bodyPr anchor="ctr" rtlCol="false" tIns="50800" lIns="50800" bIns="50800" rIns="50800"/>
            <a:lstStyle/>
            <a:p>
              <a:pPr algn="ctr" marL="0" indent="0" lvl="0">
                <a:lnSpc>
                  <a:spcPts val="2686"/>
                </a:lnSpc>
              </a:pPr>
            </a:p>
          </p:txBody>
        </p:sp>
      </p:grpSp>
      <p:sp>
        <p:nvSpPr>
          <p:cNvPr name="TextBox 42" id="42"/>
          <p:cNvSpPr txBox="true"/>
          <p:nvPr/>
        </p:nvSpPr>
        <p:spPr>
          <a:xfrm rot="0">
            <a:off x="1746751" y="635054"/>
            <a:ext cx="3737193" cy="216776"/>
          </a:xfrm>
          <a:prstGeom prst="rect">
            <a:avLst/>
          </a:prstGeom>
        </p:spPr>
        <p:txBody>
          <a:bodyPr anchor="t" rtlCol="false" tIns="0" lIns="0" bIns="0" rIns="0">
            <a:spAutoFit/>
          </a:bodyPr>
          <a:lstStyle/>
          <a:p>
            <a:pPr algn="l" marL="0" indent="0" lvl="0">
              <a:lnSpc>
                <a:spcPts val="1600"/>
              </a:lnSpc>
            </a:pPr>
            <a:r>
              <a:rPr lang="en-US" b="true" sz="1818" spc="-81">
                <a:solidFill>
                  <a:srgbClr val="0F042D"/>
                </a:solidFill>
                <a:latin typeface="Open Sauce Medium"/>
                <a:ea typeface="Open Sauce Medium"/>
                <a:cs typeface="Open Sauce Medium"/>
                <a:sym typeface="Open Sauce Medium"/>
              </a:rPr>
              <a:t>Hüseyin Asan</a:t>
            </a:r>
          </a:p>
        </p:txBody>
      </p:sp>
      <p:sp>
        <p:nvSpPr>
          <p:cNvPr name="TextBox 43" id="43"/>
          <p:cNvSpPr txBox="true"/>
          <p:nvPr/>
        </p:nvSpPr>
        <p:spPr>
          <a:xfrm rot="0">
            <a:off x="4742541" y="658666"/>
            <a:ext cx="2345025" cy="184290"/>
          </a:xfrm>
          <a:prstGeom prst="rect">
            <a:avLst/>
          </a:prstGeom>
        </p:spPr>
        <p:txBody>
          <a:bodyPr anchor="t" rtlCol="false" tIns="0" lIns="0" bIns="0" rIns="0">
            <a:spAutoFit/>
          </a:bodyPr>
          <a:lstStyle/>
          <a:p>
            <a:pPr algn="ctr" marL="0" indent="0" lvl="0">
              <a:lnSpc>
                <a:spcPts val="1309"/>
              </a:lnSpc>
            </a:pPr>
            <a:r>
              <a:rPr lang="en-US" b="true" sz="1487" spc="-66">
                <a:solidFill>
                  <a:srgbClr val="0F042D"/>
                </a:solidFill>
                <a:latin typeface="Open Sauce Medium"/>
                <a:ea typeface="Open Sauce Medium"/>
                <a:cs typeface="Open Sauce Medium"/>
                <a:sym typeface="Open Sauce Medium"/>
              </a:rPr>
              <a:t>Startup Pitch Deck</a:t>
            </a:r>
          </a:p>
        </p:txBody>
      </p:sp>
      <p:sp>
        <p:nvSpPr>
          <p:cNvPr name="TextBox 44" id="44"/>
          <p:cNvSpPr txBox="true"/>
          <p:nvPr/>
        </p:nvSpPr>
        <p:spPr>
          <a:xfrm rot="0">
            <a:off x="9953770" y="658666"/>
            <a:ext cx="4279219" cy="184290"/>
          </a:xfrm>
          <a:prstGeom prst="rect">
            <a:avLst/>
          </a:prstGeom>
        </p:spPr>
        <p:txBody>
          <a:bodyPr anchor="t" rtlCol="false" tIns="0" lIns="0" bIns="0" rIns="0">
            <a:spAutoFit/>
          </a:bodyPr>
          <a:lstStyle/>
          <a:p>
            <a:pPr algn="ctr" marL="0" indent="0" lvl="0">
              <a:lnSpc>
                <a:spcPts val="1309"/>
              </a:lnSpc>
            </a:pPr>
            <a:r>
              <a:rPr lang="en-US" b="true" sz="1487" spc="-66">
                <a:solidFill>
                  <a:srgbClr val="EFEFEF"/>
                </a:solidFill>
                <a:latin typeface="Open Sauce Medium"/>
                <a:ea typeface="Open Sauce Medium"/>
                <a:cs typeface="Open Sauce Medium"/>
                <a:sym typeface="Open Sauce Medium"/>
              </a:rPr>
              <a:t>Presented by : Hüseyin Asan</a:t>
            </a:r>
          </a:p>
        </p:txBody>
      </p:sp>
      <p:sp>
        <p:nvSpPr>
          <p:cNvPr name="TextBox 45" id="45"/>
          <p:cNvSpPr txBox="true"/>
          <p:nvPr/>
        </p:nvSpPr>
        <p:spPr>
          <a:xfrm rot="0">
            <a:off x="7145539" y="658666"/>
            <a:ext cx="2674881" cy="184290"/>
          </a:xfrm>
          <a:prstGeom prst="rect">
            <a:avLst/>
          </a:prstGeom>
        </p:spPr>
        <p:txBody>
          <a:bodyPr anchor="t" rtlCol="false" tIns="0" lIns="0" bIns="0" rIns="0">
            <a:spAutoFit/>
          </a:bodyPr>
          <a:lstStyle/>
          <a:p>
            <a:pPr algn="ctr" marL="0" indent="0" lvl="0">
              <a:lnSpc>
                <a:spcPts val="1309"/>
              </a:lnSpc>
            </a:pPr>
            <a:r>
              <a:rPr lang="en-US" b="true" sz="1487" spc="-66">
                <a:solidFill>
                  <a:srgbClr val="EFEFEF"/>
                </a:solidFill>
                <a:latin typeface="Open Sauce Medium"/>
                <a:ea typeface="Open Sauce Medium"/>
                <a:cs typeface="Open Sauce Medium"/>
                <a:sym typeface="Open Sauce Medium"/>
              </a:rPr>
              <a:t>Game Dev Pitch</a:t>
            </a:r>
          </a:p>
        </p:txBody>
      </p:sp>
      <p:sp>
        <p:nvSpPr>
          <p:cNvPr name="TextBox 46" id="46"/>
          <p:cNvSpPr txBox="true"/>
          <p:nvPr/>
        </p:nvSpPr>
        <p:spPr>
          <a:xfrm rot="-5400000">
            <a:off x="573792" y="5548790"/>
            <a:ext cx="4039901" cy="3379119"/>
          </a:xfrm>
          <a:prstGeom prst="rect">
            <a:avLst/>
          </a:prstGeom>
        </p:spPr>
        <p:txBody>
          <a:bodyPr anchor="t" rtlCol="false" tIns="0" lIns="0" bIns="0" rIns="0">
            <a:spAutoFit/>
          </a:bodyPr>
          <a:lstStyle/>
          <a:p>
            <a:pPr algn="l" marL="0" indent="0" lvl="0">
              <a:lnSpc>
                <a:spcPts val="6622"/>
              </a:lnSpc>
            </a:pPr>
            <a:r>
              <a:rPr lang="en-US" b="true" sz="6429" spc="-289">
                <a:solidFill>
                  <a:srgbClr val="0F042D"/>
                </a:solidFill>
                <a:latin typeface="Open Sauce Medium"/>
                <a:ea typeface="Open Sauce Medium"/>
                <a:cs typeface="Open Sauce Medium"/>
                <a:sym typeface="Open Sauce Medium"/>
              </a:rPr>
              <a:t>Paz</a:t>
            </a:r>
            <a:r>
              <a:rPr lang="en-US" b="true" sz="6429" spc="-289">
                <a:solidFill>
                  <a:srgbClr val="0F042D"/>
                </a:solidFill>
                <a:latin typeface="Open Sauce Medium"/>
                <a:ea typeface="Open Sauce Medium"/>
                <a:cs typeface="Open Sauce Medium"/>
                <a:sym typeface="Open Sauce Medium"/>
              </a:rPr>
              <a:t>ar Potansiyeli ve Büyüme</a:t>
            </a:r>
          </a:p>
        </p:txBody>
      </p:sp>
      <p:sp>
        <p:nvSpPr>
          <p:cNvPr name="TextBox 47" id="47"/>
          <p:cNvSpPr txBox="true"/>
          <p:nvPr/>
        </p:nvSpPr>
        <p:spPr>
          <a:xfrm rot="0">
            <a:off x="1313743" y="2362304"/>
            <a:ext cx="2122542" cy="579550"/>
          </a:xfrm>
          <a:prstGeom prst="rect">
            <a:avLst/>
          </a:prstGeom>
        </p:spPr>
        <p:txBody>
          <a:bodyPr anchor="t" rtlCol="false" tIns="0" lIns="0" bIns="0" rIns="0">
            <a:spAutoFit/>
          </a:bodyPr>
          <a:lstStyle/>
          <a:p>
            <a:pPr algn="l" marL="0" indent="0" lvl="0">
              <a:lnSpc>
                <a:spcPts val="4324"/>
              </a:lnSpc>
            </a:pPr>
            <a:r>
              <a:rPr lang="en-US" b="true" sz="4198" spc="-188">
                <a:solidFill>
                  <a:srgbClr val="0F042D"/>
                </a:solidFill>
                <a:latin typeface="Open Sauce Medium"/>
                <a:ea typeface="Open Sauce Medium"/>
                <a:cs typeface="Open Sauce Medium"/>
                <a:sym typeface="Open Sauce Medium"/>
              </a:rPr>
              <a:t>+$780M</a:t>
            </a:r>
          </a:p>
        </p:txBody>
      </p:sp>
      <p:sp>
        <p:nvSpPr>
          <p:cNvPr name="TextBox 48" id="48"/>
          <p:cNvSpPr txBox="true"/>
          <p:nvPr/>
        </p:nvSpPr>
        <p:spPr>
          <a:xfrm rot="0">
            <a:off x="12093380" y="1636241"/>
            <a:ext cx="5165920" cy="2381405"/>
          </a:xfrm>
          <a:prstGeom prst="rect">
            <a:avLst/>
          </a:prstGeom>
        </p:spPr>
        <p:txBody>
          <a:bodyPr anchor="t" rtlCol="false" tIns="0" lIns="0" bIns="0" rIns="0">
            <a:spAutoFit/>
          </a:bodyPr>
          <a:lstStyle/>
          <a:p>
            <a:pPr algn="l" marL="0" indent="0" lvl="0">
              <a:lnSpc>
                <a:spcPts val="1934"/>
              </a:lnSpc>
            </a:pPr>
            <a:r>
              <a:rPr lang="en-US" sz="1487" spc="-47">
                <a:solidFill>
                  <a:srgbClr val="0F042D"/>
                </a:solidFill>
                <a:latin typeface="Aileron Light"/>
                <a:ea typeface="Aileron Light"/>
                <a:cs typeface="Aileron Light"/>
                <a:sym typeface="Aileron Light"/>
              </a:rPr>
              <a:t>Kür</a:t>
            </a:r>
            <a:r>
              <a:rPr lang="en-US" sz="1487" spc="-47" strike="noStrike" u="none">
                <a:solidFill>
                  <a:srgbClr val="0F042D"/>
                </a:solidFill>
                <a:latin typeface="Aileron Light"/>
                <a:ea typeface="Aileron Light"/>
                <a:cs typeface="Aileron Light"/>
                <a:sym typeface="Aileron Light"/>
              </a:rPr>
              <a:t>esel RPG oyun pazarının %9,4 Yıllık Bileşik Büyüme Oranı (CAGR) ile büyüyerek 2027 yılına kadar 780 milyon doları aşması öngörülmektedir. Unity Asset Store'daki anlatı ve diyalog araçları kategorisi son iki yılda 3 kat büyüme göstermiştir. Bağımsız stüdyoların (indie studios) %68'inden fazlası modüler anlatı sistemlerine ihtiyaç duyduğunu belirtmesine rağmen, erişilebilir ve uygun fiyatlı "tak-çalıştır" (plug-and-play) çözümler pazarda halen çok kısıtlıdır. Dinamik Stat Tabanlı Diyalog Sistemi (Dynamic Stat-Driven Dialogue System), doğrudan yeterli çözüm bulamayan bu pazar segmentini hedeflemektedir.</a:t>
            </a:r>
          </a:p>
        </p:txBody>
      </p:sp>
      <p:sp>
        <p:nvSpPr>
          <p:cNvPr name="TextBox 49" id="49"/>
          <p:cNvSpPr txBox="true"/>
          <p:nvPr/>
        </p:nvSpPr>
        <p:spPr>
          <a:xfrm rot="0">
            <a:off x="1446838" y="2983417"/>
            <a:ext cx="1547622" cy="211804"/>
          </a:xfrm>
          <a:prstGeom prst="rect">
            <a:avLst/>
          </a:prstGeom>
        </p:spPr>
        <p:txBody>
          <a:bodyPr anchor="t" rtlCol="false" tIns="0" lIns="0" bIns="0" rIns="0">
            <a:spAutoFit/>
          </a:bodyPr>
          <a:lstStyle/>
          <a:p>
            <a:pPr algn="l" marL="0" indent="0" lvl="0">
              <a:lnSpc>
                <a:spcPts val="1719"/>
              </a:lnSpc>
            </a:pPr>
            <a:r>
              <a:rPr lang="en-US" sz="1322" i="true" spc="-42">
                <a:solidFill>
                  <a:srgbClr val="696969"/>
                </a:solidFill>
                <a:latin typeface="Aileron Italics"/>
                <a:ea typeface="Aileron Italics"/>
                <a:cs typeface="Aileron Italics"/>
                <a:sym typeface="Aileron Italics"/>
              </a:rPr>
              <a:t>RPG Market Size</a:t>
            </a:r>
          </a:p>
        </p:txBody>
      </p:sp>
      <p:pic>
        <p:nvPicPr>
          <p:cNvPr name="Picture 50" id="50"/>
          <p:cNvPicPr>
            <a:picLocks noChangeAspect="true"/>
          </p:cNvPicPr>
          <p:nvPr/>
        </p:nvPicPr>
        <p:blipFill>
          <a:blip r:embed="rId5"/>
          <a:stretch>
            <a:fillRect/>
          </a:stretch>
        </p:blipFill>
        <p:spPr>
          <a:xfrm rot="0">
            <a:off x="10241195" y="3877105"/>
            <a:ext cx="7186051" cy="5102902"/>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9953770" y="505729"/>
            <a:ext cx="4279219" cy="502851"/>
            <a:chOff x="0" y="0"/>
            <a:chExt cx="3458428" cy="406400"/>
          </a:xfrm>
        </p:grpSpPr>
        <p:sp>
          <p:nvSpPr>
            <p:cNvPr name="Freeform 3" id="3"/>
            <p:cNvSpPr/>
            <p:nvPr/>
          </p:nvSpPr>
          <p:spPr>
            <a:xfrm flipH="false" flipV="false" rot="0">
              <a:off x="0" y="0"/>
              <a:ext cx="3458428" cy="406400"/>
            </a:xfrm>
            <a:custGeom>
              <a:avLst/>
              <a:gdLst/>
              <a:ahLst/>
              <a:cxnLst/>
              <a:rect r="r" b="b" t="t" l="l"/>
              <a:pathLst>
                <a:path h="406400" w="3458428">
                  <a:moveTo>
                    <a:pt x="3255228" y="0"/>
                  </a:moveTo>
                  <a:cubicBezTo>
                    <a:pt x="3367453" y="0"/>
                    <a:pt x="3458428" y="90976"/>
                    <a:pt x="3458428" y="203200"/>
                  </a:cubicBezTo>
                  <a:cubicBezTo>
                    <a:pt x="3458428" y="315424"/>
                    <a:pt x="3367453" y="406400"/>
                    <a:pt x="3255228"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4" id="4"/>
            <p:cNvSpPr txBox="true"/>
            <p:nvPr/>
          </p:nvSpPr>
          <p:spPr>
            <a:xfrm>
              <a:off x="0" y="0"/>
              <a:ext cx="3458428" cy="406400"/>
            </a:xfrm>
            <a:prstGeom prst="rect">
              <a:avLst/>
            </a:prstGeom>
          </p:spPr>
          <p:txBody>
            <a:bodyPr anchor="ctr" rtlCol="false" tIns="50800" lIns="50800" bIns="50800" rIns="50800"/>
            <a:lstStyle/>
            <a:p>
              <a:pPr algn="ctr" marL="0" indent="0" lvl="0">
                <a:lnSpc>
                  <a:spcPts val="2686"/>
                </a:lnSpc>
              </a:pPr>
            </a:p>
          </p:txBody>
        </p:sp>
      </p:grpSp>
      <p:grpSp>
        <p:nvGrpSpPr>
          <p:cNvPr name="Group 5" id="5"/>
          <p:cNvGrpSpPr/>
          <p:nvPr/>
        </p:nvGrpSpPr>
        <p:grpSpPr>
          <a:xfrm rot="0">
            <a:off x="7087567" y="505729"/>
            <a:ext cx="2732854" cy="502851"/>
            <a:chOff x="0" y="0"/>
            <a:chExt cx="2208669" cy="406400"/>
          </a:xfrm>
        </p:grpSpPr>
        <p:sp>
          <p:nvSpPr>
            <p:cNvPr name="Freeform 6" id="6"/>
            <p:cNvSpPr/>
            <p:nvPr/>
          </p:nvSpPr>
          <p:spPr>
            <a:xfrm flipH="false" flipV="false" rot="0">
              <a:off x="0" y="0"/>
              <a:ext cx="2208669" cy="406400"/>
            </a:xfrm>
            <a:custGeom>
              <a:avLst/>
              <a:gdLst/>
              <a:ahLst/>
              <a:cxnLst/>
              <a:rect r="r" b="b" t="t" l="l"/>
              <a:pathLst>
                <a:path h="406400" w="2208669">
                  <a:moveTo>
                    <a:pt x="2005469" y="0"/>
                  </a:moveTo>
                  <a:cubicBezTo>
                    <a:pt x="2117693" y="0"/>
                    <a:pt x="2208669" y="90976"/>
                    <a:pt x="2208669" y="203200"/>
                  </a:cubicBezTo>
                  <a:cubicBezTo>
                    <a:pt x="2208669" y="315424"/>
                    <a:pt x="2117693" y="406400"/>
                    <a:pt x="2005469"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7" id="7"/>
            <p:cNvSpPr txBox="true"/>
            <p:nvPr/>
          </p:nvSpPr>
          <p:spPr>
            <a:xfrm>
              <a:off x="0" y="0"/>
              <a:ext cx="2208669" cy="406400"/>
            </a:xfrm>
            <a:prstGeom prst="rect">
              <a:avLst/>
            </a:prstGeom>
          </p:spPr>
          <p:txBody>
            <a:bodyPr anchor="ctr" rtlCol="false" tIns="50800" lIns="50800" bIns="50800" rIns="50800"/>
            <a:lstStyle/>
            <a:p>
              <a:pPr algn="ctr" marL="0" indent="0" lvl="0">
                <a:lnSpc>
                  <a:spcPts val="2686"/>
                </a:lnSpc>
              </a:pPr>
            </a:p>
          </p:txBody>
        </p:sp>
      </p:grpSp>
      <p:grpSp>
        <p:nvGrpSpPr>
          <p:cNvPr name="Group 8" id="8"/>
          <p:cNvGrpSpPr/>
          <p:nvPr/>
        </p:nvGrpSpPr>
        <p:grpSpPr>
          <a:xfrm rot="0">
            <a:off x="4657277" y="505729"/>
            <a:ext cx="3625880" cy="502851"/>
            <a:chOff x="0" y="0"/>
            <a:chExt cx="2930405" cy="406400"/>
          </a:xfrm>
        </p:grpSpPr>
        <p:sp>
          <p:nvSpPr>
            <p:cNvPr name="Freeform 9" id="9"/>
            <p:cNvSpPr/>
            <p:nvPr/>
          </p:nvSpPr>
          <p:spPr>
            <a:xfrm flipH="false" flipV="false" rot="0">
              <a:off x="0" y="0"/>
              <a:ext cx="2930405" cy="406400"/>
            </a:xfrm>
            <a:custGeom>
              <a:avLst/>
              <a:gdLst/>
              <a:ahLst/>
              <a:cxnLst/>
              <a:rect r="r" b="b" t="t" l="l"/>
              <a:pathLst>
                <a:path h="406400" w="2930405">
                  <a:moveTo>
                    <a:pt x="2727205" y="0"/>
                  </a:moveTo>
                  <a:cubicBezTo>
                    <a:pt x="2839429" y="0"/>
                    <a:pt x="2930405" y="90976"/>
                    <a:pt x="2930405" y="203200"/>
                  </a:cubicBezTo>
                  <a:cubicBezTo>
                    <a:pt x="2930405" y="315424"/>
                    <a:pt x="2839429" y="406400"/>
                    <a:pt x="2727205" y="406400"/>
                  </a:cubicBezTo>
                  <a:lnTo>
                    <a:pt x="203200" y="406400"/>
                  </a:lnTo>
                  <a:cubicBezTo>
                    <a:pt x="90976" y="406400"/>
                    <a:pt x="0" y="315424"/>
                    <a:pt x="0" y="203200"/>
                  </a:cubicBezTo>
                  <a:cubicBezTo>
                    <a:pt x="0" y="90976"/>
                    <a:pt x="90976" y="0"/>
                    <a:pt x="203200" y="0"/>
                  </a:cubicBezTo>
                  <a:close/>
                </a:path>
              </a:pathLst>
            </a:custGeom>
            <a:ln w="9525" cap="sq">
              <a:solidFill>
                <a:srgbClr val="0F042D"/>
              </a:solidFill>
              <a:prstDash val="solid"/>
              <a:miter/>
            </a:ln>
          </p:spPr>
        </p:sp>
        <p:sp>
          <p:nvSpPr>
            <p:cNvPr name="TextBox 10" id="10"/>
            <p:cNvSpPr txBox="true"/>
            <p:nvPr/>
          </p:nvSpPr>
          <p:spPr>
            <a:xfrm>
              <a:off x="0" y="0"/>
              <a:ext cx="2930405" cy="406400"/>
            </a:xfrm>
            <a:prstGeom prst="rect">
              <a:avLst/>
            </a:prstGeom>
          </p:spPr>
          <p:txBody>
            <a:bodyPr anchor="ctr" rtlCol="false" tIns="50800" lIns="50800" bIns="50800" rIns="50800"/>
            <a:lstStyle/>
            <a:p>
              <a:pPr algn="ctr" marL="0" indent="0" lvl="0">
                <a:lnSpc>
                  <a:spcPts val="2686"/>
                </a:lnSpc>
              </a:pPr>
            </a:p>
          </p:txBody>
        </p:sp>
      </p:grpSp>
      <p:sp>
        <p:nvSpPr>
          <p:cNvPr name="Freeform 11" id="11"/>
          <p:cNvSpPr/>
          <p:nvPr/>
        </p:nvSpPr>
        <p:spPr>
          <a:xfrm flipH="false" flipV="false" rot="0">
            <a:off x="440340" y="517555"/>
            <a:ext cx="422594" cy="364968"/>
          </a:xfrm>
          <a:custGeom>
            <a:avLst/>
            <a:gdLst/>
            <a:ahLst/>
            <a:cxnLst/>
            <a:rect r="r" b="b" t="t" l="l"/>
            <a:pathLst>
              <a:path h="364968" w="422594">
                <a:moveTo>
                  <a:pt x="0" y="0"/>
                </a:moveTo>
                <a:lnTo>
                  <a:pt x="422594" y="0"/>
                </a:lnTo>
                <a:lnTo>
                  <a:pt x="422594" y="364967"/>
                </a:lnTo>
                <a:lnTo>
                  <a:pt x="0" y="3649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641209" y="4179105"/>
            <a:ext cx="3086100" cy="5079195"/>
            <a:chOff x="0" y="0"/>
            <a:chExt cx="812800" cy="1337730"/>
          </a:xfrm>
        </p:grpSpPr>
        <p:sp>
          <p:nvSpPr>
            <p:cNvPr name="Freeform 13" id="13"/>
            <p:cNvSpPr/>
            <p:nvPr/>
          </p:nvSpPr>
          <p:spPr>
            <a:xfrm flipH="false" flipV="false" rot="0">
              <a:off x="0" y="0"/>
              <a:ext cx="812800" cy="1337730"/>
            </a:xfrm>
            <a:custGeom>
              <a:avLst/>
              <a:gdLst/>
              <a:ahLst/>
              <a:cxnLst/>
              <a:rect r="r" b="b" t="t" l="l"/>
              <a:pathLst>
                <a:path h="1337730" w="812800">
                  <a:moveTo>
                    <a:pt x="0" y="0"/>
                  </a:moveTo>
                  <a:lnTo>
                    <a:pt x="812800" y="0"/>
                  </a:lnTo>
                  <a:lnTo>
                    <a:pt x="812800" y="1337730"/>
                  </a:lnTo>
                  <a:lnTo>
                    <a:pt x="0" y="1337730"/>
                  </a:lnTo>
                  <a:close/>
                </a:path>
              </a:pathLst>
            </a:custGeom>
            <a:gradFill rotWithShape="true">
              <a:gsLst>
                <a:gs pos="0">
                  <a:srgbClr val="EFEFEF">
                    <a:alpha val="0"/>
                  </a:srgbClr>
                </a:gs>
                <a:gs pos="50000">
                  <a:srgbClr val="EFEFEF">
                    <a:alpha val="89500"/>
                  </a:srgbClr>
                </a:gs>
                <a:gs pos="100000">
                  <a:srgbClr val="EFEFEF">
                    <a:alpha val="100000"/>
                  </a:srgbClr>
                </a:gs>
              </a:gsLst>
              <a:lin ang="0"/>
            </a:gradFill>
          </p:spPr>
        </p:sp>
        <p:sp>
          <p:nvSpPr>
            <p:cNvPr name="TextBox 14" id="14"/>
            <p:cNvSpPr txBox="true"/>
            <p:nvPr/>
          </p:nvSpPr>
          <p:spPr>
            <a:xfrm>
              <a:off x="0" y="0"/>
              <a:ext cx="812800" cy="1337730"/>
            </a:xfrm>
            <a:prstGeom prst="rect">
              <a:avLst/>
            </a:prstGeom>
          </p:spPr>
          <p:txBody>
            <a:bodyPr anchor="ctr" rtlCol="false" tIns="50800" lIns="50800" bIns="50800" rIns="50800"/>
            <a:lstStyle/>
            <a:p>
              <a:pPr algn="ctr" marL="0" indent="0" lvl="0">
                <a:lnSpc>
                  <a:spcPts val="2686"/>
                </a:lnSpc>
              </a:pPr>
            </a:p>
          </p:txBody>
        </p:sp>
      </p:grpSp>
      <p:grpSp>
        <p:nvGrpSpPr>
          <p:cNvPr name="Group 15" id="15"/>
          <p:cNvGrpSpPr/>
          <p:nvPr/>
        </p:nvGrpSpPr>
        <p:grpSpPr>
          <a:xfrm rot="0">
            <a:off x="-193450" y="3108806"/>
            <a:ext cx="18674901" cy="7378284"/>
            <a:chOff x="0" y="0"/>
            <a:chExt cx="24899868" cy="9837711"/>
          </a:xfrm>
        </p:grpSpPr>
        <p:grpSp>
          <p:nvGrpSpPr>
            <p:cNvPr name="Group 16" id="16"/>
            <p:cNvGrpSpPr/>
            <p:nvPr/>
          </p:nvGrpSpPr>
          <p:grpSpPr>
            <a:xfrm rot="0">
              <a:off x="0" y="4427815"/>
              <a:ext cx="3558057" cy="5409897"/>
              <a:chOff x="0" y="0"/>
              <a:chExt cx="812800" cy="1235833"/>
            </a:xfrm>
          </p:grpSpPr>
          <p:sp>
            <p:nvSpPr>
              <p:cNvPr name="Freeform 17" id="17"/>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8" id="18"/>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9" id="19"/>
            <p:cNvGrpSpPr/>
            <p:nvPr/>
          </p:nvGrpSpPr>
          <p:grpSpPr>
            <a:xfrm rot="0">
              <a:off x="21341811" y="4427815"/>
              <a:ext cx="3558057" cy="5409897"/>
              <a:chOff x="0" y="0"/>
              <a:chExt cx="812800" cy="1235833"/>
            </a:xfrm>
          </p:grpSpPr>
          <p:sp>
            <p:nvSpPr>
              <p:cNvPr name="Freeform 20" id="20"/>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1" id="21"/>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2" id="22"/>
            <p:cNvGrpSpPr/>
            <p:nvPr/>
          </p:nvGrpSpPr>
          <p:grpSpPr>
            <a:xfrm rot="0">
              <a:off x="3558057" y="3198827"/>
              <a:ext cx="3558057" cy="6638885"/>
              <a:chOff x="0" y="0"/>
              <a:chExt cx="812800" cy="1516582"/>
            </a:xfrm>
          </p:grpSpPr>
          <p:sp>
            <p:nvSpPr>
              <p:cNvPr name="Freeform 23" id="23"/>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4" id="24"/>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5" id="25"/>
            <p:cNvGrpSpPr/>
            <p:nvPr/>
          </p:nvGrpSpPr>
          <p:grpSpPr>
            <a:xfrm rot="0">
              <a:off x="17783754" y="3198827"/>
              <a:ext cx="3558057" cy="6638885"/>
              <a:chOff x="0" y="0"/>
              <a:chExt cx="812800" cy="1516582"/>
            </a:xfrm>
          </p:grpSpPr>
          <p:sp>
            <p:nvSpPr>
              <p:cNvPr name="Freeform 26" id="26"/>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7" id="27"/>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8" id="28"/>
            <p:cNvGrpSpPr/>
            <p:nvPr/>
          </p:nvGrpSpPr>
          <p:grpSpPr>
            <a:xfrm rot="0">
              <a:off x="7116114" y="1874177"/>
              <a:ext cx="3558057" cy="7963534"/>
              <a:chOff x="0" y="0"/>
              <a:chExt cx="812800" cy="1819184"/>
            </a:xfrm>
          </p:grpSpPr>
          <p:sp>
            <p:nvSpPr>
              <p:cNvPr name="Freeform 29" id="29"/>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30" id="30"/>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31" id="31"/>
            <p:cNvGrpSpPr/>
            <p:nvPr/>
          </p:nvGrpSpPr>
          <p:grpSpPr>
            <a:xfrm rot="0">
              <a:off x="14232228" y="1874177"/>
              <a:ext cx="3558057" cy="7963534"/>
              <a:chOff x="0" y="0"/>
              <a:chExt cx="812800" cy="1819184"/>
            </a:xfrm>
          </p:grpSpPr>
          <p:sp>
            <p:nvSpPr>
              <p:cNvPr name="Freeform 32" id="32"/>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33" id="33"/>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34" id="34"/>
            <p:cNvGrpSpPr/>
            <p:nvPr/>
          </p:nvGrpSpPr>
          <p:grpSpPr>
            <a:xfrm rot="0">
              <a:off x="10674171" y="0"/>
              <a:ext cx="3558057" cy="9837711"/>
              <a:chOff x="0" y="0"/>
              <a:chExt cx="812800" cy="2247320"/>
            </a:xfrm>
          </p:grpSpPr>
          <p:sp>
            <p:nvSpPr>
              <p:cNvPr name="Freeform 35" id="35"/>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36" id="36"/>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grpSp>
        <p:nvGrpSpPr>
          <p:cNvPr name="Group 37" id="37"/>
          <p:cNvGrpSpPr/>
          <p:nvPr/>
        </p:nvGrpSpPr>
        <p:grpSpPr>
          <a:xfrm rot="0">
            <a:off x="1823971" y="4179105"/>
            <a:ext cx="5321568" cy="5079195"/>
            <a:chOff x="0" y="0"/>
            <a:chExt cx="1401565" cy="1337730"/>
          </a:xfrm>
        </p:grpSpPr>
        <p:sp>
          <p:nvSpPr>
            <p:cNvPr name="Freeform 38" id="38"/>
            <p:cNvSpPr/>
            <p:nvPr/>
          </p:nvSpPr>
          <p:spPr>
            <a:xfrm flipH="false" flipV="false" rot="0">
              <a:off x="0" y="0"/>
              <a:ext cx="1401565" cy="1337730"/>
            </a:xfrm>
            <a:custGeom>
              <a:avLst/>
              <a:gdLst/>
              <a:ahLst/>
              <a:cxnLst/>
              <a:rect r="r" b="b" t="t" l="l"/>
              <a:pathLst>
                <a:path h="1337730" w="1401565">
                  <a:moveTo>
                    <a:pt x="49464" y="0"/>
                  </a:moveTo>
                  <a:lnTo>
                    <a:pt x="1352101" y="0"/>
                  </a:lnTo>
                  <a:cubicBezTo>
                    <a:pt x="1379419" y="0"/>
                    <a:pt x="1401565" y="22146"/>
                    <a:pt x="1401565" y="49464"/>
                  </a:cubicBezTo>
                  <a:lnTo>
                    <a:pt x="1401565" y="1288267"/>
                  </a:lnTo>
                  <a:cubicBezTo>
                    <a:pt x="1401565" y="1315585"/>
                    <a:pt x="1379419" y="1337730"/>
                    <a:pt x="1352101" y="1337730"/>
                  </a:cubicBezTo>
                  <a:lnTo>
                    <a:pt x="49464" y="1337730"/>
                  </a:lnTo>
                  <a:cubicBezTo>
                    <a:pt x="22146" y="1337730"/>
                    <a:pt x="0" y="1315585"/>
                    <a:pt x="0" y="1288267"/>
                  </a:cubicBezTo>
                  <a:lnTo>
                    <a:pt x="0" y="49464"/>
                  </a:lnTo>
                  <a:cubicBezTo>
                    <a:pt x="0" y="22146"/>
                    <a:pt x="22146" y="0"/>
                    <a:pt x="49464" y="0"/>
                  </a:cubicBezTo>
                  <a:close/>
                </a:path>
              </a:pathLst>
            </a:custGeom>
            <a:solidFill>
              <a:srgbClr val="FFFFFF"/>
            </a:solidFill>
            <a:ln w="19050" cap="rnd">
              <a:solidFill>
                <a:srgbClr val="0F042D"/>
              </a:solidFill>
              <a:prstDash val="solid"/>
              <a:round/>
            </a:ln>
          </p:spPr>
        </p:sp>
        <p:sp>
          <p:nvSpPr>
            <p:cNvPr name="TextBox 39" id="39"/>
            <p:cNvSpPr txBox="true"/>
            <p:nvPr/>
          </p:nvSpPr>
          <p:spPr>
            <a:xfrm>
              <a:off x="0" y="0"/>
              <a:ext cx="1401565" cy="1337730"/>
            </a:xfrm>
            <a:prstGeom prst="rect">
              <a:avLst/>
            </a:prstGeom>
          </p:spPr>
          <p:txBody>
            <a:bodyPr anchor="ctr" rtlCol="false" tIns="50800" lIns="50800" bIns="50800" rIns="50800"/>
            <a:lstStyle/>
            <a:p>
              <a:pPr algn="ctr" marL="0" indent="0" lvl="0">
                <a:lnSpc>
                  <a:spcPts val="2686"/>
                </a:lnSpc>
              </a:pPr>
            </a:p>
          </p:txBody>
        </p:sp>
      </p:grpSp>
      <p:grpSp>
        <p:nvGrpSpPr>
          <p:cNvPr name="Group 40" id="40"/>
          <p:cNvGrpSpPr/>
          <p:nvPr/>
        </p:nvGrpSpPr>
        <p:grpSpPr>
          <a:xfrm rot="0">
            <a:off x="1823971" y="4179105"/>
            <a:ext cx="5634476" cy="3722160"/>
            <a:chOff x="0" y="0"/>
            <a:chExt cx="760308" cy="502263"/>
          </a:xfrm>
        </p:grpSpPr>
        <p:sp>
          <p:nvSpPr>
            <p:cNvPr name="Freeform 41" id="41"/>
            <p:cNvSpPr/>
            <p:nvPr/>
          </p:nvSpPr>
          <p:spPr>
            <a:xfrm flipH="false" flipV="false" rot="0">
              <a:off x="0" y="0"/>
              <a:ext cx="760308" cy="502263"/>
            </a:xfrm>
            <a:custGeom>
              <a:avLst/>
              <a:gdLst/>
              <a:ahLst/>
              <a:cxnLst/>
              <a:rect r="r" b="b" t="t" l="l"/>
              <a:pathLst>
                <a:path h="502263" w="760308">
                  <a:moveTo>
                    <a:pt x="49465" y="0"/>
                  </a:moveTo>
                  <a:lnTo>
                    <a:pt x="710843" y="0"/>
                  </a:lnTo>
                  <a:cubicBezTo>
                    <a:pt x="738162" y="0"/>
                    <a:pt x="760308" y="22146"/>
                    <a:pt x="760308" y="49465"/>
                  </a:cubicBezTo>
                  <a:lnTo>
                    <a:pt x="760308" y="452798"/>
                  </a:lnTo>
                  <a:cubicBezTo>
                    <a:pt x="760308" y="480117"/>
                    <a:pt x="738162" y="502263"/>
                    <a:pt x="710843" y="502263"/>
                  </a:cubicBezTo>
                  <a:lnTo>
                    <a:pt x="49465" y="502263"/>
                  </a:lnTo>
                  <a:cubicBezTo>
                    <a:pt x="22146" y="502263"/>
                    <a:pt x="0" y="480117"/>
                    <a:pt x="0" y="452798"/>
                  </a:cubicBezTo>
                  <a:lnTo>
                    <a:pt x="0" y="49465"/>
                  </a:lnTo>
                  <a:cubicBezTo>
                    <a:pt x="0" y="22146"/>
                    <a:pt x="22146" y="0"/>
                    <a:pt x="49465" y="0"/>
                  </a:cubicBezTo>
                  <a:close/>
                </a:path>
              </a:pathLst>
            </a:custGeom>
            <a:blipFill>
              <a:blip r:embed="rId4"/>
              <a:stretch>
                <a:fillRect l="0" t="-994" r="0" b="-994"/>
              </a:stretch>
            </a:blipFill>
            <a:ln w="9525" cap="rnd">
              <a:solidFill>
                <a:srgbClr val="0F042D"/>
              </a:solidFill>
              <a:prstDash val="solid"/>
              <a:round/>
            </a:ln>
          </p:spPr>
        </p:sp>
      </p:grpSp>
      <p:grpSp>
        <p:nvGrpSpPr>
          <p:cNvPr name="Group 42" id="42"/>
          <p:cNvGrpSpPr/>
          <p:nvPr/>
        </p:nvGrpSpPr>
        <p:grpSpPr>
          <a:xfrm rot="0">
            <a:off x="11142461" y="4179105"/>
            <a:ext cx="5321568" cy="5079195"/>
            <a:chOff x="0" y="0"/>
            <a:chExt cx="1401565" cy="1337730"/>
          </a:xfrm>
        </p:grpSpPr>
        <p:sp>
          <p:nvSpPr>
            <p:cNvPr name="Freeform 43" id="43"/>
            <p:cNvSpPr/>
            <p:nvPr/>
          </p:nvSpPr>
          <p:spPr>
            <a:xfrm flipH="false" flipV="false" rot="0">
              <a:off x="0" y="0"/>
              <a:ext cx="1401565" cy="1337730"/>
            </a:xfrm>
            <a:custGeom>
              <a:avLst/>
              <a:gdLst/>
              <a:ahLst/>
              <a:cxnLst/>
              <a:rect r="r" b="b" t="t" l="l"/>
              <a:pathLst>
                <a:path h="1337730" w="1401565">
                  <a:moveTo>
                    <a:pt x="49464" y="0"/>
                  </a:moveTo>
                  <a:lnTo>
                    <a:pt x="1352101" y="0"/>
                  </a:lnTo>
                  <a:cubicBezTo>
                    <a:pt x="1379419" y="0"/>
                    <a:pt x="1401565" y="22146"/>
                    <a:pt x="1401565" y="49464"/>
                  </a:cubicBezTo>
                  <a:lnTo>
                    <a:pt x="1401565" y="1288267"/>
                  </a:lnTo>
                  <a:cubicBezTo>
                    <a:pt x="1401565" y="1315585"/>
                    <a:pt x="1379419" y="1337730"/>
                    <a:pt x="1352101" y="1337730"/>
                  </a:cubicBezTo>
                  <a:lnTo>
                    <a:pt x="49464" y="1337730"/>
                  </a:lnTo>
                  <a:cubicBezTo>
                    <a:pt x="22146" y="1337730"/>
                    <a:pt x="0" y="1315585"/>
                    <a:pt x="0" y="1288267"/>
                  </a:cubicBezTo>
                  <a:lnTo>
                    <a:pt x="0" y="49464"/>
                  </a:lnTo>
                  <a:cubicBezTo>
                    <a:pt x="0" y="22146"/>
                    <a:pt x="22146" y="0"/>
                    <a:pt x="49464" y="0"/>
                  </a:cubicBezTo>
                  <a:close/>
                </a:path>
              </a:pathLst>
            </a:custGeom>
            <a:solidFill>
              <a:srgbClr val="FFFFFF"/>
            </a:solidFill>
            <a:ln w="19050" cap="rnd">
              <a:solidFill>
                <a:srgbClr val="0F042D"/>
              </a:solidFill>
              <a:prstDash val="solid"/>
              <a:round/>
            </a:ln>
          </p:spPr>
        </p:sp>
        <p:sp>
          <p:nvSpPr>
            <p:cNvPr name="TextBox 44" id="44"/>
            <p:cNvSpPr txBox="true"/>
            <p:nvPr/>
          </p:nvSpPr>
          <p:spPr>
            <a:xfrm>
              <a:off x="0" y="0"/>
              <a:ext cx="1401565" cy="1337730"/>
            </a:xfrm>
            <a:prstGeom prst="rect">
              <a:avLst/>
            </a:prstGeom>
          </p:spPr>
          <p:txBody>
            <a:bodyPr anchor="ctr" rtlCol="false" tIns="50800" lIns="50800" bIns="50800" rIns="50800"/>
            <a:lstStyle/>
            <a:p>
              <a:pPr algn="ctr" marL="0" indent="0" lvl="0">
                <a:lnSpc>
                  <a:spcPts val="2686"/>
                </a:lnSpc>
              </a:pPr>
            </a:p>
          </p:txBody>
        </p:sp>
      </p:grpSp>
      <p:grpSp>
        <p:nvGrpSpPr>
          <p:cNvPr name="Group 45" id="45"/>
          <p:cNvGrpSpPr/>
          <p:nvPr/>
        </p:nvGrpSpPr>
        <p:grpSpPr>
          <a:xfrm rot="0">
            <a:off x="10829553" y="4179105"/>
            <a:ext cx="5634476" cy="3722160"/>
            <a:chOff x="0" y="0"/>
            <a:chExt cx="760308" cy="502263"/>
          </a:xfrm>
        </p:grpSpPr>
        <p:sp>
          <p:nvSpPr>
            <p:cNvPr name="Freeform 46" id="46"/>
            <p:cNvSpPr/>
            <p:nvPr/>
          </p:nvSpPr>
          <p:spPr>
            <a:xfrm flipH="false" flipV="false" rot="0">
              <a:off x="0" y="0"/>
              <a:ext cx="760308" cy="502263"/>
            </a:xfrm>
            <a:custGeom>
              <a:avLst/>
              <a:gdLst/>
              <a:ahLst/>
              <a:cxnLst/>
              <a:rect r="r" b="b" t="t" l="l"/>
              <a:pathLst>
                <a:path h="502263" w="760308">
                  <a:moveTo>
                    <a:pt x="49465" y="0"/>
                  </a:moveTo>
                  <a:lnTo>
                    <a:pt x="710843" y="0"/>
                  </a:lnTo>
                  <a:cubicBezTo>
                    <a:pt x="738162" y="0"/>
                    <a:pt x="760308" y="22146"/>
                    <a:pt x="760308" y="49465"/>
                  </a:cubicBezTo>
                  <a:lnTo>
                    <a:pt x="760308" y="452798"/>
                  </a:lnTo>
                  <a:cubicBezTo>
                    <a:pt x="760308" y="480117"/>
                    <a:pt x="738162" y="502263"/>
                    <a:pt x="710843" y="502263"/>
                  </a:cubicBezTo>
                  <a:lnTo>
                    <a:pt x="49465" y="502263"/>
                  </a:lnTo>
                  <a:cubicBezTo>
                    <a:pt x="22146" y="502263"/>
                    <a:pt x="0" y="480117"/>
                    <a:pt x="0" y="452798"/>
                  </a:cubicBezTo>
                  <a:lnTo>
                    <a:pt x="0" y="49465"/>
                  </a:lnTo>
                  <a:cubicBezTo>
                    <a:pt x="0" y="22146"/>
                    <a:pt x="22146" y="0"/>
                    <a:pt x="49465" y="0"/>
                  </a:cubicBezTo>
                  <a:close/>
                </a:path>
              </a:pathLst>
            </a:custGeom>
            <a:blipFill>
              <a:blip r:embed="rId5"/>
              <a:stretch>
                <a:fillRect l="0" t="-994" r="0" b="-994"/>
              </a:stretch>
            </a:blipFill>
            <a:ln w="9525" cap="rnd">
              <a:solidFill>
                <a:srgbClr val="0F042D"/>
              </a:solidFill>
              <a:prstDash val="solid"/>
              <a:round/>
            </a:ln>
          </p:spPr>
        </p:sp>
      </p:grpSp>
      <p:grpSp>
        <p:nvGrpSpPr>
          <p:cNvPr name="Group 47" id="47"/>
          <p:cNvGrpSpPr/>
          <p:nvPr/>
        </p:nvGrpSpPr>
        <p:grpSpPr>
          <a:xfrm rot="-10800000">
            <a:off x="10337991" y="4179105"/>
            <a:ext cx="3086100" cy="5079195"/>
            <a:chOff x="0" y="0"/>
            <a:chExt cx="812800" cy="1337730"/>
          </a:xfrm>
        </p:grpSpPr>
        <p:sp>
          <p:nvSpPr>
            <p:cNvPr name="Freeform 48" id="48"/>
            <p:cNvSpPr/>
            <p:nvPr/>
          </p:nvSpPr>
          <p:spPr>
            <a:xfrm flipH="false" flipV="false" rot="0">
              <a:off x="0" y="0"/>
              <a:ext cx="812800" cy="1337730"/>
            </a:xfrm>
            <a:custGeom>
              <a:avLst/>
              <a:gdLst/>
              <a:ahLst/>
              <a:cxnLst/>
              <a:rect r="r" b="b" t="t" l="l"/>
              <a:pathLst>
                <a:path h="1337730" w="812800">
                  <a:moveTo>
                    <a:pt x="0" y="0"/>
                  </a:moveTo>
                  <a:lnTo>
                    <a:pt x="812800" y="0"/>
                  </a:lnTo>
                  <a:lnTo>
                    <a:pt x="812800" y="1337730"/>
                  </a:lnTo>
                  <a:lnTo>
                    <a:pt x="0" y="1337730"/>
                  </a:lnTo>
                  <a:close/>
                </a:path>
              </a:pathLst>
            </a:custGeom>
            <a:gradFill rotWithShape="true">
              <a:gsLst>
                <a:gs pos="0">
                  <a:srgbClr val="EFEFEF">
                    <a:alpha val="0"/>
                  </a:srgbClr>
                </a:gs>
                <a:gs pos="50000">
                  <a:srgbClr val="EFEFEF">
                    <a:alpha val="89500"/>
                  </a:srgbClr>
                </a:gs>
                <a:gs pos="100000">
                  <a:srgbClr val="EFEFEF">
                    <a:alpha val="100000"/>
                  </a:srgbClr>
                </a:gs>
              </a:gsLst>
              <a:lin ang="0"/>
            </a:gradFill>
          </p:spPr>
        </p:sp>
        <p:sp>
          <p:nvSpPr>
            <p:cNvPr name="TextBox 49" id="49"/>
            <p:cNvSpPr txBox="true"/>
            <p:nvPr/>
          </p:nvSpPr>
          <p:spPr>
            <a:xfrm>
              <a:off x="0" y="0"/>
              <a:ext cx="812800" cy="1337730"/>
            </a:xfrm>
            <a:prstGeom prst="rect">
              <a:avLst/>
            </a:prstGeom>
          </p:spPr>
          <p:txBody>
            <a:bodyPr anchor="ctr" rtlCol="false" tIns="50800" lIns="50800" bIns="50800" rIns="50800"/>
            <a:lstStyle/>
            <a:p>
              <a:pPr algn="ctr" marL="0" indent="0" lvl="0">
                <a:lnSpc>
                  <a:spcPts val="2686"/>
                </a:lnSpc>
              </a:pPr>
            </a:p>
          </p:txBody>
        </p:sp>
      </p:grpSp>
      <p:grpSp>
        <p:nvGrpSpPr>
          <p:cNvPr name="Group 50" id="50"/>
          <p:cNvGrpSpPr/>
          <p:nvPr/>
        </p:nvGrpSpPr>
        <p:grpSpPr>
          <a:xfrm rot="0">
            <a:off x="4863909" y="4179105"/>
            <a:ext cx="3086100" cy="5079195"/>
            <a:chOff x="0" y="0"/>
            <a:chExt cx="812800" cy="1337730"/>
          </a:xfrm>
        </p:grpSpPr>
        <p:sp>
          <p:nvSpPr>
            <p:cNvPr name="Freeform 51" id="51"/>
            <p:cNvSpPr/>
            <p:nvPr/>
          </p:nvSpPr>
          <p:spPr>
            <a:xfrm flipH="false" flipV="false" rot="0">
              <a:off x="0" y="0"/>
              <a:ext cx="812800" cy="1337730"/>
            </a:xfrm>
            <a:custGeom>
              <a:avLst/>
              <a:gdLst/>
              <a:ahLst/>
              <a:cxnLst/>
              <a:rect r="r" b="b" t="t" l="l"/>
              <a:pathLst>
                <a:path h="1337730" w="812800">
                  <a:moveTo>
                    <a:pt x="0" y="0"/>
                  </a:moveTo>
                  <a:lnTo>
                    <a:pt x="812800" y="0"/>
                  </a:lnTo>
                  <a:lnTo>
                    <a:pt x="812800" y="1337730"/>
                  </a:lnTo>
                  <a:lnTo>
                    <a:pt x="0" y="1337730"/>
                  </a:lnTo>
                  <a:close/>
                </a:path>
              </a:pathLst>
            </a:custGeom>
            <a:gradFill rotWithShape="true">
              <a:gsLst>
                <a:gs pos="0">
                  <a:srgbClr val="EFEFEF">
                    <a:alpha val="0"/>
                  </a:srgbClr>
                </a:gs>
                <a:gs pos="50000">
                  <a:srgbClr val="EFEFEF">
                    <a:alpha val="89500"/>
                  </a:srgbClr>
                </a:gs>
                <a:gs pos="100000">
                  <a:srgbClr val="EFEFEF">
                    <a:alpha val="100000"/>
                  </a:srgbClr>
                </a:gs>
              </a:gsLst>
              <a:lin ang="0"/>
            </a:gradFill>
          </p:spPr>
        </p:sp>
        <p:sp>
          <p:nvSpPr>
            <p:cNvPr name="TextBox 52" id="52"/>
            <p:cNvSpPr txBox="true"/>
            <p:nvPr/>
          </p:nvSpPr>
          <p:spPr>
            <a:xfrm>
              <a:off x="0" y="0"/>
              <a:ext cx="812800" cy="1337730"/>
            </a:xfrm>
            <a:prstGeom prst="rect">
              <a:avLst/>
            </a:prstGeom>
          </p:spPr>
          <p:txBody>
            <a:bodyPr anchor="ctr" rtlCol="false" tIns="50800" lIns="50800" bIns="50800" rIns="50800"/>
            <a:lstStyle/>
            <a:p>
              <a:pPr algn="ctr" marL="0" indent="0" lvl="0">
                <a:lnSpc>
                  <a:spcPts val="2686"/>
                </a:lnSpc>
              </a:pPr>
            </a:p>
          </p:txBody>
        </p:sp>
      </p:grpSp>
      <p:sp>
        <p:nvSpPr>
          <p:cNvPr name="TextBox 53" id="53"/>
          <p:cNvSpPr txBox="true"/>
          <p:nvPr/>
        </p:nvSpPr>
        <p:spPr>
          <a:xfrm rot="0">
            <a:off x="862934" y="626860"/>
            <a:ext cx="3737193" cy="203507"/>
          </a:xfrm>
          <a:prstGeom prst="rect">
            <a:avLst/>
          </a:prstGeom>
        </p:spPr>
        <p:txBody>
          <a:bodyPr anchor="t" rtlCol="false" tIns="0" lIns="0" bIns="0" rIns="0">
            <a:spAutoFit/>
          </a:bodyPr>
          <a:lstStyle/>
          <a:p>
            <a:pPr algn="l" marL="0" indent="0" lvl="0">
              <a:lnSpc>
                <a:spcPts val="1519"/>
              </a:lnSpc>
            </a:pPr>
            <a:r>
              <a:rPr lang="en-US" b="true" sz="1726" spc="-77">
                <a:solidFill>
                  <a:srgbClr val="0F042D"/>
                </a:solidFill>
                <a:latin typeface="Open Sauce Medium"/>
                <a:ea typeface="Open Sauce Medium"/>
                <a:cs typeface="Open Sauce Medium"/>
                <a:sym typeface="Open Sauce Medium"/>
              </a:rPr>
              <a:t>Dynamic Stat-Driven Dialogue System</a:t>
            </a:r>
          </a:p>
        </p:txBody>
      </p:sp>
      <p:sp>
        <p:nvSpPr>
          <p:cNvPr name="TextBox 54" id="54"/>
          <p:cNvSpPr txBox="true"/>
          <p:nvPr/>
        </p:nvSpPr>
        <p:spPr>
          <a:xfrm rot="0">
            <a:off x="4742541" y="668191"/>
            <a:ext cx="2345025" cy="162176"/>
          </a:xfrm>
          <a:prstGeom prst="rect">
            <a:avLst/>
          </a:prstGeom>
        </p:spPr>
        <p:txBody>
          <a:bodyPr anchor="t" rtlCol="false" tIns="0" lIns="0" bIns="0" rIns="0">
            <a:spAutoFit/>
          </a:bodyPr>
          <a:lstStyle/>
          <a:p>
            <a:pPr algn="ctr" marL="0" indent="0" lvl="0">
              <a:lnSpc>
                <a:spcPts val="1242"/>
              </a:lnSpc>
            </a:pPr>
            <a:r>
              <a:rPr lang="en-US" b="true" sz="1412" spc="-63">
                <a:solidFill>
                  <a:srgbClr val="0F042D"/>
                </a:solidFill>
                <a:latin typeface="Open Sauce Medium"/>
                <a:ea typeface="Open Sauce Medium"/>
                <a:cs typeface="Open Sauce Medium"/>
                <a:sym typeface="Open Sauce Medium"/>
              </a:rPr>
              <a:t>Investor Pitch Deck</a:t>
            </a:r>
          </a:p>
        </p:txBody>
      </p:sp>
      <p:sp>
        <p:nvSpPr>
          <p:cNvPr name="TextBox 55" id="55"/>
          <p:cNvSpPr txBox="true"/>
          <p:nvPr/>
        </p:nvSpPr>
        <p:spPr>
          <a:xfrm rot="0">
            <a:off x="9953770" y="668191"/>
            <a:ext cx="4279219" cy="162176"/>
          </a:xfrm>
          <a:prstGeom prst="rect">
            <a:avLst/>
          </a:prstGeom>
        </p:spPr>
        <p:txBody>
          <a:bodyPr anchor="t" rtlCol="false" tIns="0" lIns="0" bIns="0" rIns="0">
            <a:spAutoFit/>
          </a:bodyPr>
          <a:lstStyle/>
          <a:p>
            <a:pPr algn="ctr" marL="0" indent="0" lvl="0">
              <a:lnSpc>
                <a:spcPts val="1242"/>
              </a:lnSpc>
            </a:pPr>
            <a:r>
              <a:rPr lang="en-US" b="true" sz="1412" spc="-63">
                <a:solidFill>
                  <a:srgbClr val="EFEFEF"/>
                </a:solidFill>
                <a:latin typeface="Open Sauce Medium"/>
                <a:ea typeface="Open Sauce Medium"/>
                <a:cs typeface="Open Sauce Medium"/>
                <a:sym typeface="Open Sauce Medium"/>
              </a:rPr>
              <a:t>Presented by : Hüseyin Asan</a:t>
            </a:r>
          </a:p>
        </p:txBody>
      </p:sp>
      <p:sp>
        <p:nvSpPr>
          <p:cNvPr name="TextBox 56" id="56"/>
          <p:cNvSpPr txBox="true"/>
          <p:nvPr/>
        </p:nvSpPr>
        <p:spPr>
          <a:xfrm rot="0">
            <a:off x="7145539" y="668191"/>
            <a:ext cx="2674881" cy="162176"/>
          </a:xfrm>
          <a:prstGeom prst="rect">
            <a:avLst/>
          </a:prstGeom>
        </p:spPr>
        <p:txBody>
          <a:bodyPr anchor="t" rtlCol="false" tIns="0" lIns="0" bIns="0" rIns="0">
            <a:spAutoFit/>
          </a:bodyPr>
          <a:lstStyle/>
          <a:p>
            <a:pPr algn="ctr" marL="0" indent="0" lvl="0">
              <a:lnSpc>
                <a:spcPts val="1242"/>
              </a:lnSpc>
            </a:pPr>
            <a:r>
              <a:rPr lang="en-US" b="true" sz="1412" spc="-63">
                <a:solidFill>
                  <a:srgbClr val="EFEFEF"/>
                </a:solidFill>
                <a:latin typeface="Open Sauce Medium"/>
                <a:ea typeface="Open Sauce Medium"/>
                <a:cs typeface="Open Sauce Medium"/>
                <a:sym typeface="Open Sauce Medium"/>
              </a:rPr>
              <a:t>Game Development</a:t>
            </a:r>
          </a:p>
        </p:txBody>
      </p:sp>
      <p:sp>
        <p:nvSpPr>
          <p:cNvPr name="TextBox 57" id="57"/>
          <p:cNvSpPr txBox="true"/>
          <p:nvPr/>
        </p:nvSpPr>
        <p:spPr>
          <a:xfrm rot="0">
            <a:off x="1028700" y="1804262"/>
            <a:ext cx="8115300" cy="1302493"/>
          </a:xfrm>
          <a:prstGeom prst="rect">
            <a:avLst/>
          </a:prstGeom>
        </p:spPr>
        <p:txBody>
          <a:bodyPr anchor="t" rtlCol="false" tIns="0" lIns="0" bIns="0" rIns="0">
            <a:spAutoFit/>
          </a:bodyPr>
          <a:lstStyle/>
          <a:p>
            <a:pPr algn="l" marL="0" indent="0" lvl="0">
              <a:lnSpc>
                <a:spcPts val="9881"/>
              </a:lnSpc>
            </a:pPr>
            <a:r>
              <a:rPr lang="en-US" b="true" sz="9593" spc="-431">
                <a:solidFill>
                  <a:srgbClr val="0F042D"/>
                </a:solidFill>
                <a:latin typeface="Open Sauce Medium"/>
                <a:ea typeface="Open Sauce Medium"/>
                <a:cs typeface="Open Sauce Medium"/>
                <a:sym typeface="Open Sauce Medium"/>
              </a:rPr>
              <a:t>Geliştirici</a:t>
            </a:r>
          </a:p>
        </p:txBody>
      </p:sp>
      <p:sp>
        <p:nvSpPr>
          <p:cNvPr name="TextBox 58" id="58"/>
          <p:cNvSpPr txBox="true"/>
          <p:nvPr/>
        </p:nvSpPr>
        <p:spPr>
          <a:xfrm rot="0">
            <a:off x="6470217" y="2067899"/>
            <a:ext cx="9993813" cy="531041"/>
          </a:xfrm>
          <a:prstGeom prst="rect">
            <a:avLst/>
          </a:prstGeom>
        </p:spPr>
        <p:txBody>
          <a:bodyPr anchor="t" rtlCol="false" tIns="0" lIns="0" bIns="0" rIns="0">
            <a:spAutoFit/>
          </a:bodyPr>
          <a:lstStyle/>
          <a:p>
            <a:pPr algn="l" marL="0" indent="0" lvl="0">
              <a:lnSpc>
                <a:spcPts val="2100"/>
              </a:lnSpc>
            </a:pPr>
            <a:r>
              <a:rPr lang="en-US" sz="1615" spc="-51">
                <a:solidFill>
                  <a:srgbClr val="0F042D"/>
                </a:solidFill>
                <a:latin typeface="Aileron Light"/>
                <a:ea typeface="Aileron Light"/>
                <a:cs typeface="Aileron Light"/>
                <a:sym typeface="Aileron Light"/>
              </a:rPr>
              <a:t>D</a:t>
            </a:r>
            <a:r>
              <a:rPr lang="en-US" sz="1615" spc="-51" strike="noStrike" u="none">
                <a:solidFill>
                  <a:srgbClr val="0F042D"/>
                </a:solidFill>
                <a:latin typeface="Aileron Light"/>
                <a:ea typeface="Aileron Light"/>
                <a:cs typeface="Aileron Light"/>
                <a:sym typeface="Aileron Light"/>
              </a:rPr>
              <a:t>inamik Stat Tabanlı Diyalog Sistemi'nin arkasındaki vizyoner ile tanışın — dünya çapındaki bağımsız stüdyolar için anlatı sistemlerinde devrim yaratmaya kendini adamış tutkulu bir oyun geliştiricisi ve tasarımcısı.</a:t>
            </a:r>
          </a:p>
        </p:txBody>
      </p:sp>
      <p:grpSp>
        <p:nvGrpSpPr>
          <p:cNvPr name="Group 59" id="59"/>
          <p:cNvGrpSpPr/>
          <p:nvPr/>
        </p:nvGrpSpPr>
        <p:grpSpPr>
          <a:xfrm rot="0">
            <a:off x="6910930" y="7866828"/>
            <a:ext cx="4466139" cy="1391472"/>
            <a:chOff x="0" y="0"/>
            <a:chExt cx="1176267" cy="366478"/>
          </a:xfrm>
        </p:grpSpPr>
        <p:sp>
          <p:nvSpPr>
            <p:cNvPr name="Freeform 60" id="60"/>
            <p:cNvSpPr/>
            <p:nvPr/>
          </p:nvSpPr>
          <p:spPr>
            <a:xfrm flipH="false" flipV="false" rot="0">
              <a:off x="0" y="0"/>
              <a:ext cx="1176267" cy="366478"/>
            </a:xfrm>
            <a:custGeom>
              <a:avLst/>
              <a:gdLst/>
              <a:ahLst/>
              <a:cxnLst/>
              <a:rect r="r" b="b" t="t" l="l"/>
              <a:pathLst>
                <a:path h="366478" w="1176267">
                  <a:moveTo>
                    <a:pt x="62405" y="0"/>
                  </a:moveTo>
                  <a:lnTo>
                    <a:pt x="1113862" y="0"/>
                  </a:lnTo>
                  <a:cubicBezTo>
                    <a:pt x="1130413" y="0"/>
                    <a:pt x="1146286" y="6575"/>
                    <a:pt x="1157989" y="18278"/>
                  </a:cubicBezTo>
                  <a:cubicBezTo>
                    <a:pt x="1169692" y="29981"/>
                    <a:pt x="1176267" y="45854"/>
                    <a:pt x="1176267" y="62405"/>
                  </a:cubicBezTo>
                  <a:lnTo>
                    <a:pt x="1176267" y="304073"/>
                  </a:lnTo>
                  <a:cubicBezTo>
                    <a:pt x="1176267" y="320624"/>
                    <a:pt x="1169692" y="336497"/>
                    <a:pt x="1157989" y="348200"/>
                  </a:cubicBezTo>
                  <a:cubicBezTo>
                    <a:pt x="1146286" y="359903"/>
                    <a:pt x="1130413" y="366478"/>
                    <a:pt x="1113862" y="366478"/>
                  </a:cubicBezTo>
                  <a:lnTo>
                    <a:pt x="62405" y="366478"/>
                  </a:lnTo>
                  <a:cubicBezTo>
                    <a:pt x="27940" y="366478"/>
                    <a:pt x="0" y="338539"/>
                    <a:pt x="0" y="304073"/>
                  </a:cubicBezTo>
                  <a:lnTo>
                    <a:pt x="0" y="62405"/>
                  </a:lnTo>
                  <a:cubicBezTo>
                    <a:pt x="0" y="45854"/>
                    <a:pt x="6575" y="29981"/>
                    <a:pt x="18278" y="18278"/>
                  </a:cubicBezTo>
                  <a:cubicBezTo>
                    <a:pt x="29981" y="6575"/>
                    <a:pt x="45854" y="0"/>
                    <a:pt x="62405" y="0"/>
                  </a:cubicBezTo>
                  <a:close/>
                </a:path>
              </a:pathLst>
            </a:custGeom>
            <a:gradFill rotWithShape="true">
              <a:gsLst>
                <a:gs pos="0">
                  <a:srgbClr val="573F9D">
                    <a:alpha val="100000"/>
                  </a:srgbClr>
                </a:gs>
                <a:gs pos="50000">
                  <a:srgbClr val="332069">
                    <a:alpha val="100000"/>
                  </a:srgbClr>
                </a:gs>
                <a:gs pos="100000">
                  <a:srgbClr val="0F042D">
                    <a:alpha val="100000"/>
                  </a:srgbClr>
                </a:gs>
              </a:gsLst>
              <a:lin ang="2700000"/>
            </a:gradFill>
            <a:ln w="19050" cap="rnd">
              <a:solidFill>
                <a:srgbClr val="EFEFEF"/>
              </a:solidFill>
              <a:prstDash val="solid"/>
              <a:round/>
            </a:ln>
          </p:spPr>
        </p:sp>
        <p:sp>
          <p:nvSpPr>
            <p:cNvPr name="TextBox 61" id="61"/>
            <p:cNvSpPr txBox="true"/>
            <p:nvPr/>
          </p:nvSpPr>
          <p:spPr>
            <a:xfrm>
              <a:off x="0" y="0"/>
              <a:ext cx="1176267" cy="366478"/>
            </a:xfrm>
            <a:prstGeom prst="rect">
              <a:avLst/>
            </a:prstGeom>
          </p:spPr>
          <p:txBody>
            <a:bodyPr anchor="ctr" rtlCol="false" tIns="50800" lIns="50800" bIns="50800" rIns="50800"/>
            <a:lstStyle/>
            <a:p>
              <a:pPr algn="ctr" marL="0" indent="0" lvl="0">
                <a:lnSpc>
                  <a:spcPts val="2686"/>
                </a:lnSpc>
              </a:pPr>
            </a:p>
          </p:txBody>
        </p:sp>
      </p:grpSp>
      <p:sp>
        <p:nvSpPr>
          <p:cNvPr name="TextBox 62" id="62"/>
          <p:cNvSpPr txBox="true"/>
          <p:nvPr/>
        </p:nvSpPr>
        <p:spPr>
          <a:xfrm rot="0">
            <a:off x="7098727" y="8407693"/>
            <a:ext cx="4090547" cy="453202"/>
          </a:xfrm>
          <a:prstGeom prst="rect">
            <a:avLst/>
          </a:prstGeom>
        </p:spPr>
        <p:txBody>
          <a:bodyPr anchor="t" rtlCol="false" tIns="0" lIns="0" bIns="0" rIns="0">
            <a:spAutoFit/>
          </a:bodyPr>
          <a:lstStyle/>
          <a:p>
            <a:pPr algn="ctr" marL="0" indent="0" lvl="0">
              <a:lnSpc>
                <a:spcPts val="3444"/>
              </a:lnSpc>
            </a:pPr>
            <a:r>
              <a:rPr lang="en-US" b="true" sz="3344" spc="-150">
                <a:solidFill>
                  <a:srgbClr val="EFEFEF"/>
                </a:solidFill>
                <a:latin typeface="Open Sauce Medium"/>
                <a:ea typeface="Open Sauce Medium"/>
                <a:cs typeface="Open Sauce Medium"/>
                <a:sym typeface="Open Sauce Medium"/>
              </a:rPr>
              <a:t>Hüseyin Asan</a:t>
            </a:r>
          </a:p>
        </p:txBody>
      </p:sp>
      <p:sp>
        <p:nvSpPr>
          <p:cNvPr name="TextBox 63" id="63"/>
          <p:cNvSpPr txBox="true"/>
          <p:nvPr/>
        </p:nvSpPr>
        <p:spPr>
          <a:xfrm rot="0">
            <a:off x="2202541" y="8157280"/>
            <a:ext cx="4090547" cy="453202"/>
          </a:xfrm>
          <a:prstGeom prst="rect">
            <a:avLst/>
          </a:prstGeom>
        </p:spPr>
        <p:txBody>
          <a:bodyPr anchor="t" rtlCol="false" tIns="0" lIns="0" bIns="0" rIns="0">
            <a:spAutoFit/>
          </a:bodyPr>
          <a:lstStyle/>
          <a:p>
            <a:pPr algn="l" marL="0" indent="0" lvl="0">
              <a:lnSpc>
                <a:spcPts val="3444"/>
              </a:lnSpc>
            </a:pPr>
            <a:r>
              <a:rPr lang="en-US" b="true" sz="3344" spc="-150">
                <a:solidFill>
                  <a:srgbClr val="0F042D"/>
                </a:solidFill>
                <a:latin typeface="Open Sauce Medium"/>
                <a:ea typeface="Open Sauce Medium"/>
                <a:cs typeface="Open Sauce Medium"/>
                <a:sym typeface="Open Sauce Medium"/>
              </a:rPr>
              <a:t>Unity Architecture</a:t>
            </a:r>
          </a:p>
        </p:txBody>
      </p:sp>
      <p:sp>
        <p:nvSpPr>
          <p:cNvPr name="TextBox 64" id="64"/>
          <p:cNvSpPr txBox="true"/>
          <p:nvPr/>
        </p:nvSpPr>
        <p:spPr>
          <a:xfrm rot="0">
            <a:off x="12045755" y="8157280"/>
            <a:ext cx="4090547" cy="453202"/>
          </a:xfrm>
          <a:prstGeom prst="rect">
            <a:avLst/>
          </a:prstGeom>
        </p:spPr>
        <p:txBody>
          <a:bodyPr anchor="t" rtlCol="false" tIns="0" lIns="0" bIns="0" rIns="0">
            <a:spAutoFit/>
          </a:bodyPr>
          <a:lstStyle/>
          <a:p>
            <a:pPr algn="r" marL="0" indent="0" lvl="0">
              <a:lnSpc>
                <a:spcPts val="3444"/>
              </a:lnSpc>
            </a:pPr>
            <a:r>
              <a:rPr lang="en-US" b="true" sz="3344" spc="-150">
                <a:solidFill>
                  <a:srgbClr val="0F042D"/>
                </a:solidFill>
                <a:latin typeface="Open Sauce Medium"/>
                <a:ea typeface="Open Sauce Medium"/>
                <a:cs typeface="Open Sauce Medium"/>
                <a:sym typeface="Open Sauce Medium"/>
              </a:rPr>
              <a:t>RPG Systems Design</a:t>
            </a:r>
          </a:p>
        </p:txBody>
      </p:sp>
      <p:sp>
        <p:nvSpPr>
          <p:cNvPr name="TextBox 65" id="65"/>
          <p:cNvSpPr txBox="true"/>
          <p:nvPr/>
        </p:nvSpPr>
        <p:spPr>
          <a:xfrm rot="0">
            <a:off x="2215306" y="8725986"/>
            <a:ext cx="4065016" cy="203130"/>
          </a:xfrm>
          <a:prstGeom prst="rect">
            <a:avLst/>
          </a:prstGeom>
        </p:spPr>
        <p:txBody>
          <a:bodyPr anchor="t" rtlCol="false" tIns="0" lIns="0" bIns="0" rIns="0">
            <a:spAutoFit/>
          </a:bodyPr>
          <a:lstStyle/>
          <a:p>
            <a:pPr algn="l" marL="0" indent="0" lvl="0">
              <a:lnSpc>
                <a:spcPts val="1632"/>
              </a:lnSpc>
            </a:pPr>
            <a:r>
              <a:rPr lang="en-US" sz="1255" i="true" spc="-40">
                <a:solidFill>
                  <a:srgbClr val="696969"/>
                </a:solidFill>
                <a:latin typeface="Aileron Italics"/>
                <a:ea typeface="Aileron Italics"/>
                <a:cs typeface="Aileron Italics"/>
                <a:sym typeface="Aileron Italics"/>
              </a:rPr>
              <a:t>SCRIPTABLEOBJECT · ADAPTER PATTERN · NODE GRAPHS</a:t>
            </a:r>
          </a:p>
        </p:txBody>
      </p:sp>
      <p:sp>
        <p:nvSpPr>
          <p:cNvPr name="TextBox 66" id="66"/>
          <p:cNvSpPr txBox="true"/>
          <p:nvPr/>
        </p:nvSpPr>
        <p:spPr>
          <a:xfrm rot="0">
            <a:off x="12058520" y="8725986"/>
            <a:ext cx="4065016" cy="203130"/>
          </a:xfrm>
          <a:prstGeom prst="rect">
            <a:avLst/>
          </a:prstGeom>
        </p:spPr>
        <p:txBody>
          <a:bodyPr anchor="t" rtlCol="false" tIns="0" lIns="0" bIns="0" rIns="0">
            <a:spAutoFit/>
          </a:bodyPr>
          <a:lstStyle/>
          <a:p>
            <a:pPr algn="r" marL="0" indent="0" lvl="0">
              <a:lnSpc>
                <a:spcPts val="1632"/>
              </a:lnSpc>
            </a:pPr>
            <a:r>
              <a:rPr lang="en-US" sz="1255" i="true" spc="-40">
                <a:solidFill>
                  <a:srgbClr val="696969"/>
                </a:solidFill>
                <a:latin typeface="Aileron Italics"/>
                <a:ea typeface="Aileron Italics"/>
                <a:cs typeface="Aileron Italics"/>
                <a:sym typeface="Aileron Italics"/>
              </a:rPr>
              <a:t>Narrative Engine · Indie Tools · Unity Asset Store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10800000">
            <a:off x="-193450" y="-318232"/>
            <a:ext cx="18674901" cy="7378284"/>
            <a:chOff x="0" y="0"/>
            <a:chExt cx="24899868" cy="9837711"/>
          </a:xfrm>
        </p:grpSpPr>
        <p:grpSp>
          <p:nvGrpSpPr>
            <p:cNvPr name="Group 3" id="3"/>
            <p:cNvGrpSpPr/>
            <p:nvPr/>
          </p:nvGrpSpPr>
          <p:grpSpPr>
            <a:xfrm rot="0">
              <a:off x="0" y="4427815"/>
              <a:ext cx="3558057" cy="5409897"/>
              <a:chOff x="0" y="0"/>
              <a:chExt cx="812800" cy="1235833"/>
            </a:xfrm>
          </p:grpSpPr>
          <p:sp>
            <p:nvSpPr>
              <p:cNvPr name="Freeform 4" id="4"/>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5" id="5"/>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6" id="6"/>
            <p:cNvGrpSpPr/>
            <p:nvPr/>
          </p:nvGrpSpPr>
          <p:grpSpPr>
            <a:xfrm rot="0">
              <a:off x="21341811" y="4427815"/>
              <a:ext cx="3558057" cy="5409897"/>
              <a:chOff x="0" y="0"/>
              <a:chExt cx="812800" cy="1235833"/>
            </a:xfrm>
          </p:grpSpPr>
          <p:sp>
            <p:nvSpPr>
              <p:cNvPr name="Freeform 7" id="7"/>
              <p:cNvSpPr/>
              <p:nvPr/>
            </p:nvSpPr>
            <p:spPr>
              <a:xfrm flipH="false" flipV="false" rot="0">
                <a:off x="0" y="0"/>
                <a:ext cx="812800" cy="1235833"/>
              </a:xfrm>
              <a:custGeom>
                <a:avLst/>
                <a:gdLst/>
                <a:ahLst/>
                <a:cxnLst/>
                <a:rect r="r" b="b" t="t" l="l"/>
                <a:pathLst>
                  <a:path h="1235833" w="812800">
                    <a:moveTo>
                      <a:pt x="0" y="0"/>
                    </a:moveTo>
                    <a:lnTo>
                      <a:pt x="812800" y="0"/>
                    </a:lnTo>
                    <a:lnTo>
                      <a:pt x="812800" y="1235833"/>
                    </a:lnTo>
                    <a:lnTo>
                      <a:pt x="0" y="1235833"/>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8" id="8"/>
              <p:cNvSpPr txBox="true"/>
              <p:nvPr/>
            </p:nvSpPr>
            <p:spPr>
              <a:xfrm>
                <a:off x="0" y="0"/>
                <a:ext cx="812800" cy="1235833"/>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9" id="9"/>
            <p:cNvGrpSpPr/>
            <p:nvPr/>
          </p:nvGrpSpPr>
          <p:grpSpPr>
            <a:xfrm rot="0">
              <a:off x="3558057" y="3198827"/>
              <a:ext cx="3558057" cy="6638885"/>
              <a:chOff x="0" y="0"/>
              <a:chExt cx="812800" cy="1516582"/>
            </a:xfrm>
          </p:grpSpPr>
          <p:sp>
            <p:nvSpPr>
              <p:cNvPr name="Freeform 10" id="10"/>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1" id="11"/>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2" id="12"/>
            <p:cNvGrpSpPr/>
            <p:nvPr/>
          </p:nvGrpSpPr>
          <p:grpSpPr>
            <a:xfrm rot="0">
              <a:off x="17783754" y="3198827"/>
              <a:ext cx="3558057" cy="6638885"/>
              <a:chOff x="0" y="0"/>
              <a:chExt cx="812800" cy="1516582"/>
            </a:xfrm>
          </p:grpSpPr>
          <p:sp>
            <p:nvSpPr>
              <p:cNvPr name="Freeform 13" id="13"/>
              <p:cNvSpPr/>
              <p:nvPr/>
            </p:nvSpPr>
            <p:spPr>
              <a:xfrm flipH="false" flipV="false" rot="0">
                <a:off x="0" y="0"/>
                <a:ext cx="812800" cy="1516582"/>
              </a:xfrm>
              <a:custGeom>
                <a:avLst/>
                <a:gdLst/>
                <a:ahLst/>
                <a:cxnLst/>
                <a:rect r="r" b="b" t="t" l="l"/>
                <a:pathLst>
                  <a:path h="1516582" w="812800">
                    <a:moveTo>
                      <a:pt x="0" y="0"/>
                    </a:moveTo>
                    <a:lnTo>
                      <a:pt x="812800" y="0"/>
                    </a:lnTo>
                    <a:lnTo>
                      <a:pt x="812800" y="1516582"/>
                    </a:lnTo>
                    <a:lnTo>
                      <a:pt x="0" y="1516582"/>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4" id="14"/>
              <p:cNvSpPr txBox="true"/>
              <p:nvPr/>
            </p:nvSpPr>
            <p:spPr>
              <a:xfrm>
                <a:off x="0" y="0"/>
                <a:ext cx="812800" cy="1516582"/>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5" id="15"/>
            <p:cNvGrpSpPr/>
            <p:nvPr/>
          </p:nvGrpSpPr>
          <p:grpSpPr>
            <a:xfrm rot="0">
              <a:off x="7116114" y="1874177"/>
              <a:ext cx="3558057" cy="7963534"/>
              <a:chOff x="0" y="0"/>
              <a:chExt cx="812800" cy="1819184"/>
            </a:xfrm>
          </p:grpSpPr>
          <p:sp>
            <p:nvSpPr>
              <p:cNvPr name="Freeform 16" id="16"/>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17" id="17"/>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18" id="18"/>
            <p:cNvGrpSpPr/>
            <p:nvPr/>
          </p:nvGrpSpPr>
          <p:grpSpPr>
            <a:xfrm rot="0">
              <a:off x="14232228" y="1874177"/>
              <a:ext cx="3558057" cy="7963534"/>
              <a:chOff x="0" y="0"/>
              <a:chExt cx="812800" cy="1819184"/>
            </a:xfrm>
          </p:grpSpPr>
          <p:sp>
            <p:nvSpPr>
              <p:cNvPr name="Freeform 19" id="19"/>
              <p:cNvSpPr/>
              <p:nvPr/>
            </p:nvSpPr>
            <p:spPr>
              <a:xfrm flipH="false" flipV="false" rot="0">
                <a:off x="0" y="0"/>
                <a:ext cx="812800" cy="1819184"/>
              </a:xfrm>
              <a:custGeom>
                <a:avLst/>
                <a:gdLst/>
                <a:ahLst/>
                <a:cxnLst/>
                <a:rect r="r" b="b" t="t" l="l"/>
                <a:pathLst>
                  <a:path h="1819184" w="812800">
                    <a:moveTo>
                      <a:pt x="0" y="0"/>
                    </a:moveTo>
                    <a:lnTo>
                      <a:pt x="812800" y="0"/>
                    </a:lnTo>
                    <a:lnTo>
                      <a:pt x="812800" y="1819184"/>
                    </a:lnTo>
                    <a:lnTo>
                      <a:pt x="0" y="1819184"/>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0" id="20"/>
              <p:cNvSpPr txBox="true"/>
              <p:nvPr/>
            </p:nvSpPr>
            <p:spPr>
              <a:xfrm>
                <a:off x="0" y="0"/>
                <a:ext cx="812800" cy="1819184"/>
              </a:xfrm>
              <a:prstGeom prst="rect">
                <a:avLst/>
              </a:prstGeom>
            </p:spPr>
            <p:txBody>
              <a:bodyPr anchor="ctr" rtlCol="false" tIns="50800" lIns="50800" bIns="50800" rIns="50800"/>
              <a:lstStyle/>
              <a:p>
                <a:pPr algn="ctr" marL="0" indent="0" lvl="0">
                  <a:lnSpc>
                    <a:spcPts val="2686"/>
                  </a:lnSpc>
                  <a:spcBef>
                    <a:spcPct val="0"/>
                  </a:spcBef>
                </a:pPr>
              </a:p>
            </p:txBody>
          </p:sp>
        </p:grpSp>
        <p:grpSp>
          <p:nvGrpSpPr>
            <p:cNvPr name="Group 21" id="21"/>
            <p:cNvGrpSpPr/>
            <p:nvPr/>
          </p:nvGrpSpPr>
          <p:grpSpPr>
            <a:xfrm rot="0">
              <a:off x="10674171" y="0"/>
              <a:ext cx="3558057" cy="9837711"/>
              <a:chOff x="0" y="0"/>
              <a:chExt cx="812800" cy="2247320"/>
            </a:xfrm>
          </p:grpSpPr>
          <p:sp>
            <p:nvSpPr>
              <p:cNvPr name="Freeform 22" id="22"/>
              <p:cNvSpPr/>
              <p:nvPr/>
            </p:nvSpPr>
            <p:spPr>
              <a:xfrm flipH="false" flipV="false" rot="0">
                <a:off x="0" y="0"/>
                <a:ext cx="812800" cy="2247320"/>
              </a:xfrm>
              <a:custGeom>
                <a:avLst/>
                <a:gdLst/>
                <a:ahLst/>
                <a:cxnLst/>
                <a:rect r="r" b="b" t="t" l="l"/>
                <a:pathLst>
                  <a:path h="2247320" w="812800">
                    <a:moveTo>
                      <a:pt x="0" y="0"/>
                    </a:moveTo>
                    <a:lnTo>
                      <a:pt x="812800" y="0"/>
                    </a:lnTo>
                    <a:lnTo>
                      <a:pt x="812800" y="2247320"/>
                    </a:lnTo>
                    <a:lnTo>
                      <a:pt x="0" y="2247320"/>
                    </a:lnTo>
                    <a:close/>
                  </a:path>
                </a:pathLst>
              </a:custGeom>
              <a:gradFill rotWithShape="true">
                <a:gsLst>
                  <a:gs pos="0">
                    <a:srgbClr val="905BF4">
                      <a:alpha val="0"/>
                    </a:srgbClr>
                  </a:gs>
                  <a:gs pos="50000">
                    <a:srgbClr val="905BF4">
                      <a:alpha val="9310"/>
                    </a:srgbClr>
                  </a:gs>
                  <a:gs pos="100000">
                    <a:srgbClr val="905BF4">
                      <a:alpha val="24500"/>
                    </a:srgbClr>
                  </a:gs>
                </a:gsLst>
                <a:lin ang="5400000"/>
              </a:gradFill>
            </p:spPr>
          </p:sp>
          <p:sp>
            <p:nvSpPr>
              <p:cNvPr name="TextBox 23" id="23"/>
              <p:cNvSpPr txBox="true"/>
              <p:nvPr/>
            </p:nvSpPr>
            <p:spPr>
              <a:xfrm>
                <a:off x="0" y="0"/>
                <a:ext cx="812800" cy="2247320"/>
              </a:xfrm>
              <a:prstGeom prst="rect">
                <a:avLst/>
              </a:prstGeom>
            </p:spPr>
            <p:txBody>
              <a:bodyPr anchor="ctr" rtlCol="false" tIns="50800" lIns="50800" bIns="50800" rIns="50800"/>
              <a:lstStyle/>
              <a:p>
                <a:pPr algn="ctr" marL="0" indent="0" lvl="0">
                  <a:lnSpc>
                    <a:spcPts val="2686"/>
                  </a:lnSpc>
                </a:pPr>
              </a:p>
            </p:txBody>
          </p:sp>
        </p:grpSp>
      </p:grpSp>
      <p:grpSp>
        <p:nvGrpSpPr>
          <p:cNvPr name="Group 24" id="24"/>
          <p:cNvGrpSpPr/>
          <p:nvPr/>
        </p:nvGrpSpPr>
        <p:grpSpPr>
          <a:xfrm rot="0">
            <a:off x="11500572" y="505729"/>
            <a:ext cx="2732854" cy="502851"/>
            <a:chOff x="0" y="0"/>
            <a:chExt cx="2208669" cy="406400"/>
          </a:xfrm>
        </p:grpSpPr>
        <p:sp>
          <p:nvSpPr>
            <p:cNvPr name="Freeform 25" id="25"/>
            <p:cNvSpPr/>
            <p:nvPr/>
          </p:nvSpPr>
          <p:spPr>
            <a:xfrm flipH="false" flipV="false" rot="0">
              <a:off x="0" y="0"/>
              <a:ext cx="2208669" cy="406400"/>
            </a:xfrm>
            <a:custGeom>
              <a:avLst/>
              <a:gdLst/>
              <a:ahLst/>
              <a:cxnLst/>
              <a:rect r="r" b="b" t="t" l="l"/>
              <a:pathLst>
                <a:path h="406400" w="2208669">
                  <a:moveTo>
                    <a:pt x="2005469" y="0"/>
                  </a:moveTo>
                  <a:cubicBezTo>
                    <a:pt x="2117693" y="0"/>
                    <a:pt x="2208669" y="90976"/>
                    <a:pt x="2208669" y="203200"/>
                  </a:cubicBezTo>
                  <a:cubicBezTo>
                    <a:pt x="2208669" y="315424"/>
                    <a:pt x="2117693" y="406400"/>
                    <a:pt x="2005469" y="406400"/>
                  </a:cubicBezTo>
                  <a:lnTo>
                    <a:pt x="203200" y="406400"/>
                  </a:lnTo>
                  <a:cubicBezTo>
                    <a:pt x="90976" y="406400"/>
                    <a:pt x="0" y="315424"/>
                    <a:pt x="0" y="203200"/>
                  </a:cubicBezTo>
                  <a:cubicBezTo>
                    <a:pt x="0" y="90976"/>
                    <a:pt x="90976" y="0"/>
                    <a:pt x="203200" y="0"/>
                  </a:cubicBezTo>
                  <a:close/>
                </a:path>
              </a:pathLst>
            </a:custGeom>
            <a:solidFill>
              <a:srgbClr val="0F042D"/>
            </a:solidFill>
            <a:ln cap="sq">
              <a:noFill/>
              <a:prstDash val="solid"/>
              <a:miter/>
            </a:ln>
          </p:spPr>
        </p:sp>
        <p:sp>
          <p:nvSpPr>
            <p:cNvPr name="TextBox 26" id="26"/>
            <p:cNvSpPr txBox="true"/>
            <p:nvPr/>
          </p:nvSpPr>
          <p:spPr>
            <a:xfrm>
              <a:off x="0" y="0"/>
              <a:ext cx="2208669" cy="406400"/>
            </a:xfrm>
            <a:prstGeom prst="rect">
              <a:avLst/>
            </a:prstGeom>
          </p:spPr>
          <p:txBody>
            <a:bodyPr anchor="ctr" rtlCol="false" tIns="50800" lIns="50800" bIns="50800" rIns="50800"/>
            <a:lstStyle/>
            <a:p>
              <a:pPr algn="ctr" marL="0" indent="0" lvl="0">
                <a:lnSpc>
                  <a:spcPts val="2686"/>
                </a:lnSpc>
              </a:pPr>
            </a:p>
          </p:txBody>
        </p:sp>
      </p:grpSp>
      <p:sp>
        <p:nvSpPr>
          <p:cNvPr name="Freeform 27" id="27"/>
          <p:cNvSpPr/>
          <p:nvPr/>
        </p:nvSpPr>
        <p:spPr>
          <a:xfrm flipH="false" flipV="false" rot="0">
            <a:off x="1122585" y="563666"/>
            <a:ext cx="422659" cy="369973"/>
          </a:xfrm>
          <a:custGeom>
            <a:avLst/>
            <a:gdLst/>
            <a:ahLst/>
            <a:cxnLst/>
            <a:rect r="r" b="b" t="t" l="l"/>
            <a:pathLst>
              <a:path h="369973" w="422659">
                <a:moveTo>
                  <a:pt x="0" y="0"/>
                </a:moveTo>
                <a:lnTo>
                  <a:pt x="422659" y="0"/>
                </a:lnTo>
                <a:lnTo>
                  <a:pt x="422659" y="369972"/>
                </a:lnTo>
                <a:lnTo>
                  <a:pt x="0" y="369972"/>
                </a:lnTo>
                <a:lnTo>
                  <a:pt x="0" y="0"/>
                </a:lnTo>
                <a:close/>
              </a:path>
            </a:pathLst>
          </a:custGeom>
          <a:blipFill>
            <a:blip r:embed="rId2"/>
            <a:stretch>
              <a:fillRect l="0" t="0" r="0" b="0"/>
            </a:stretch>
          </a:blipFill>
        </p:spPr>
      </p:sp>
      <p:sp>
        <p:nvSpPr>
          <p:cNvPr name="TextBox 28" id="28"/>
          <p:cNvSpPr txBox="true"/>
          <p:nvPr/>
        </p:nvSpPr>
        <p:spPr>
          <a:xfrm rot="0">
            <a:off x="1746751" y="644579"/>
            <a:ext cx="3737193" cy="260795"/>
          </a:xfrm>
          <a:prstGeom prst="rect">
            <a:avLst/>
          </a:prstGeom>
        </p:spPr>
        <p:txBody>
          <a:bodyPr anchor="t" rtlCol="false" tIns="0" lIns="0" bIns="0" rIns="0">
            <a:spAutoFit/>
          </a:bodyPr>
          <a:lstStyle/>
          <a:p>
            <a:pPr algn="l" marL="0" indent="0" lvl="0">
              <a:lnSpc>
                <a:spcPts val="1934"/>
              </a:lnSpc>
            </a:pPr>
            <a:r>
              <a:rPr lang="en-US" b="true" sz="2198" spc="-98">
                <a:solidFill>
                  <a:srgbClr val="0F042D"/>
                </a:solidFill>
                <a:latin typeface="Open Sauce Medium"/>
                <a:ea typeface="Open Sauce Medium"/>
                <a:cs typeface="Open Sauce Medium"/>
                <a:sym typeface="Open Sauce Medium"/>
              </a:rPr>
              <a:t>Hüseyin Asan</a:t>
            </a:r>
          </a:p>
        </p:txBody>
      </p:sp>
      <p:sp>
        <p:nvSpPr>
          <p:cNvPr name="TextBox 29" id="29"/>
          <p:cNvSpPr txBox="true"/>
          <p:nvPr/>
        </p:nvSpPr>
        <p:spPr>
          <a:xfrm rot="0">
            <a:off x="11558544" y="668191"/>
            <a:ext cx="2674881" cy="188119"/>
          </a:xfrm>
          <a:prstGeom prst="rect">
            <a:avLst/>
          </a:prstGeom>
        </p:spPr>
        <p:txBody>
          <a:bodyPr anchor="t" rtlCol="false" tIns="0" lIns="0" bIns="0" rIns="0">
            <a:spAutoFit/>
          </a:bodyPr>
          <a:lstStyle/>
          <a:p>
            <a:pPr algn="ctr" marL="0" indent="0" lvl="0">
              <a:lnSpc>
                <a:spcPts val="1392"/>
              </a:lnSpc>
            </a:pPr>
            <a:r>
              <a:rPr lang="en-US" b="true" sz="1582" spc="-71">
                <a:solidFill>
                  <a:srgbClr val="EFEFEF"/>
                </a:solidFill>
                <a:latin typeface="Open Sauce Medium"/>
                <a:ea typeface="Open Sauce Medium"/>
                <a:cs typeface="Open Sauce Medium"/>
                <a:sym typeface="Open Sauce Medium"/>
              </a:rPr>
              <a:t>Investor Pitch</a:t>
            </a:r>
          </a:p>
        </p:txBody>
      </p:sp>
      <p:grpSp>
        <p:nvGrpSpPr>
          <p:cNvPr name="Group 30" id="30"/>
          <p:cNvGrpSpPr/>
          <p:nvPr/>
        </p:nvGrpSpPr>
        <p:grpSpPr>
          <a:xfrm rot="0">
            <a:off x="1028700" y="3667381"/>
            <a:ext cx="16230600" cy="4209674"/>
            <a:chOff x="0" y="0"/>
            <a:chExt cx="2190134" cy="568047"/>
          </a:xfrm>
        </p:grpSpPr>
        <p:sp>
          <p:nvSpPr>
            <p:cNvPr name="Freeform 31" id="31"/>
            <p:cNvSpPr/>
            <p:nvPr/>
          </p:nvSpPr>
          <p:spPr>
            <a:xfrm flipH="false" flipV="false" rot="0">
              <a:off x="0" y="0"/>
              <a:ext cx="2190134" cy="568047"/>
            </a:xfrm>
            <a:custGeom>
              <a:avLst/>
              <a:gdLst/>
              <a:ahLst/>
              <a:cxnLst/>
              <a:rect r="r" b="b" t="t" l="l"/>
              <a:pathLst>
                <a:path h="568047" w="2190134">
                  <a:moveTo>
                    <a:pt x="17172" y="0"/>
                  </a:moveTo>
                  <a:lnTo>
                    <a:pt x="2172962" y="0"/>
                  </a:lnTo>
                  <a:cubicBezTo>
                    <a:pt x="2182445" y="0"/>
                    <a:pt x="2190134" y="7688"/>
                    <a:pt x="2190134" y="17172"/>
                  </a:cubicBezTo>
                  <a:lnTo>
                    <a:pt x="2190134" y="550875"/>
                  </a:lnTo>
                  <a:cubicBezTo>
                    <a:pt x="2190134" y="560359"/>
                    <a:pt x="2182445" y="568047"/>
                    <a:pt x="2172962" y="568047"/>
                  </a:cubicBezTo>
                  <a:lnTo>
                    <a:pt x="17172" y="568047"/>
                  </a:lnTo>
                  <a:cubicBezTo>
                    <a:pt x="7688" y="568047"/>
                    <a:pt x="0" y="560359"/>
                    <a:pt x="0" y="550875"/>
                  </a:cubicBezTo>
                  <a:lnTo>
                    <a:pt x="0" y="17172"/>
                  </a:lnTo>
                  <a:cubicBezTo>
                    <a:pt x="0" y="7688"/>
                    <a:pt x="7688" y="0"/>
                    <a:pt x="17172" y="0"/>
                  </a:cubicBezTo>
                  <a:close/>
                </a:path>
              </a:pathLst>
            </a:custGeom>
            <a:blipFill>
              <a:blip r:embed="rId3"/>
              <a:stretch>
                <a:fillRect l="0" t="-59883" r="0" b="-59883"/>
              </a:stretch>
            </a:blipFill>
            <a:ln w="9525" cap="rnd">
              <a:solidFill>
                <a:srgbClr val="0F042D"/>
              </a:solidFill>
              <a:prstDash val="solid"/>
              <a:round/>
            </a:ln>
          </p:spPr>
        </p:sp>
      </p:grpSp>
      <p:sp>
        <p:nvSpPr>
          <p:cNvPr name="TextBox 32" id="32"/>
          <p:cNvSpPr txBox="true"/>
          <p:nvPr/>
        </p:nvSpPr>
        <p:spPr>
          <a:xfrm rot="0">
            <a:off x="1028700" y="1572014"/>
            <a:ext cx="16230600" cy="2095367"/>
          </a:xfrm>
          <a:prstGeom prst="rect">
            <a:avLst/>
          </a:prstGeom>
        </p:spPr>
        <p:txBody>
          <a:bodyPr anchor="t" rtlCol="false" tIns="0" lIns="0" bIns="0" rIns="0">
            <a:spAutoFit/>
          </a:bodyPr>
          <a:lstStyle/>
          <a:p>
            <a:pPr algn="ctr" marL="0" indent="0" lvl="0">
              <a:lnSpc>
                <a:spcPts val="8173"/>
              </a:lnSpc>
            </a:pPr>
            <a:r>
              <a:rPr lang="en-US" b="true" sz="7934" spc="-357">
                <a:solidFill>
                  <a:srgbClr val="0F042D"/>
                </a:solidFill>
                <a:latin typeface="Open Sauce Medium"/>
                <a:ea typeface="Open Sauce Medium"/>
                <a:cs typeface="Open Sauce Medium"/>
                <a:sym typeface="Open Sauce Medium"/>
              </a:rPr>
              <a:t>RPG A</a:t>
            </a:r>
            <a:r>
              <a:rPr lang="en-US" b="true" sz="7934" spc="-357">
                <a:solidFill>
                  <a:srgbClr val="0F042D"/>
                </a:solidFill>
                <a:latin typeface="Open Sauce Medium"/>
                <a:ea typeface="Open Sauce Medium"/>
                <a:cs typeface="Open Sauce Medium"/>
                <a:sym typeface="Open Sauce Medium"/>
              </a:rPr>
              <a:t>nlatısının Geleceğine Yatırım Yapın</a:t>
            </a:r>
          </a:p>
        </p:txBody>
      </p:sp>
      <p:grpSp>
        <p:nvGrpSpPr>
          <p:cNvPr name="Group 33" id="33"/>
          <p:cNvGrpSpPr/>
          <p:nvPr/>
        </p:nvGrpSpPr>
        <p:grpSpPr>
          <a:xfrm rot="0">
            <a:off x="2311153" y="8474424"/>
            <a:ext cx="13727394" cy="783876"/>
            <a:chOff x="0" y="0"/>
            <a:chExt cx="3615445" cy="206453"/>
          </a:xfrm>
        </p:grpSpPr>
        <p:sp>
          <p:nvSpPr>
            <p:cNvPr name="Freeform 34" id="34"/>
            <p:cNvSpPr/>
            <p:nvPr/>
          </p:nvSpPr>
          <p:spPr>
            <a:xfrm flipH="false" flipV="false" rot="0">
              <a:off x="0" y="0"/>
              <a:ext cx="3615445" cy="206453"/>
            </a:xfrm>
            <a:custGeom>
              <a:avLst/>
              <a:gdLst/>
              <a:ahLst/>
              <a:cxnLst/>
              <a:rect r="r" b="b" t="t" l="l"/>
              <a:pathLst>
                <a:path h="206453" w="3615445">
                  <a:moveTo>
                    <a:pt x="20303" y="0"/>
                  </a:moveTo>
                  <a:lnTo>
                    <a:pt x="3595142" y="0"/>
                  </a:lnTo>
                  <a:cubicBezTo>
                    <a:pt x="3600527" y="0"/>
                    <a:pt x="3605691" y="2139"/>
                    <a:pt x="3609499" y="5947"/>
                  </a:cubicBezTo>
                  <a:cubicBezTo>
                    <a:pt x="3613306" y="9754"/>
                    <a:pt x="3615445" y="14918"/>
                    <a:pt x="3615445" y="20303"/>
                  </a:cubicBezTo>
                  <a:lnTo>
                    <a:pt x="3615445" y="186150"/>
                  </a:lnTo>
                  <a:cubicBezTo>
                    <a:pt x="3615445" y="191535"/>
                    <a:pt x="3613306" y="196699"/>
                    <a:pt x="3609499" y="200506"/>
                  </a:cubicBezTo>
                  <a:cubicBezTo>
                    <a:pt x="3605691" y="204314"/>
                    <a:pt x="3600527" y="206453"/>
                    <a:pt x="3595142" y="206453"/>
                  </a:cubicBezTo>
                  <a:lnTo>
                    <a:pt x="20303" y="206453"/>
                  </a:lnTo>
                  <a:cubicBezTo>
                    <a:pt x="14918" y="206453"/>
                    <a:pt x="9754" y="204314"/>
                    <a:pt x="5947" y="200506"/>
                  </a:cubicBezTo>
                  <a:cubicBezTo>
                    <a:pt x="2139" y="196699"/>
                    <a:pt x="0" y="191535"/>
                    <a:pt x="0" y="186150"/>
                  </a:cubicBezTo>
                  <a:lnTo>
                    <a:pt x="0" y="20303"/>
                  </a:lnTo>
                  <a:cubicBezTo>
                    <a:pt x="0" y="14918"/>
                    <a:pt x="2139" y="9754"/>
                    <a:pt x="5947" y="5947"/>
                  </a:cubicBezTo>
                  <a:cubicBezTo>
                    <a:pt x="9754" y="2139"/>
                    <a:pt x="14918" y="0"/>
                    <a:pt x="20303" y="0"/>
                  </a:cubicBezTo>
                  <a:close/>
                </a:path>
              </a:pathLst>
            </a:custGeom>
            <a:ln w="19050" cap="rnd">
              <a:solidFill>
                <a:srgbClr val="0F042D"/>
              </a:solidFill>
              <a:prstDash val="solid"/>
              <a:round/>
            </a:ln>
          </p:spPr>
        </p:sp>
        <p:sp>
          <p:nvSpPr>
            <p:cNvPr name="TextBox 35" id="35"/>
            <p:cNvSpPr txBox="true"/>
            <p:nvPr/>
          </p:nvSpPr>
          <p:spPr>
            <a:xfrm>
              <a:off x="0" y="0"/>
              <a:ext cx="3615445" cy="206453"/>
            </a:xfrm>
            <a:prstGeom prst="rect">
              <a:avLst/>
            </a:prstGeom>
          </p:spPr>
          <p:txBody>
            <a:bodyPr anchor="ctr" rtlCol="false" tIns="50800" lIns="50800" bIns="50800" rIns="50800"/>
            <a:lstStyle/>
            <a:p>
              <a:pPr algn="ctr" marL="0" indent="0" lvl="0">
                <a:lnSpc>
                  <a:spcPts val="2686"/>
                </a:lnSpc>
              </a:pPr>
            </a:p>
          </p:txBody>
        </p:sp>
      </p:grpSp>
      <p:sp>
        <p:nvSpPr>
          <p:cNvPr name="Freeform 36" id="36"/>
          <p:cNvSpPr/>
          <p:nvPr/>
        </p:nvSpPr>
        <p:spPr>
          <a:xfrm flipH="false" flipV="false" rot="0">
            <a:off x="3240723" y="8698969"/>
            <a:ext cx="355174" cy="355174"/>
          </a:xfrm>
          <a:custGeom>
            <a:avLst/>
            <a:gdLst/>
            <a:ahLst/>
            <a:cxnLst/>
            <a:rect r="r" b="b" t="t" l="l"/>
            <a:pathLst>
              <a:path h="355174" w="355174">
                <a:moveTo>
                  <a:pt x="0" y="0"/>
                </a:moveTo>
                <a:lnTo>
                  <a:pt x="355175" y="0"/>
                </a:lnTo>
                <a:lnTo>
                  <a:pt x="355175" y="355174"/>
                </a:lnTo>
                <a:lnTo>
                  <a:pt x="0" y="3551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7" id="37"/>
          <p:cNvSpPr txBox="true"/>
          <p:nvPr/>
        </p:nvSpPr>
        <p:spPr>
          <a:xfrm rot="0">
            <a:off x="3811795" y="8720435"/>
            <a:ext cx="2581084" cy="274141"/>
          </a:xfrm>
          <a:prstGeom prst="rect">
            <a:avLst/>
          </a:prstGeom>
        </p:spPr>
        <p:txBody>
          <a:bodyPr anchor="t" rtlCol="false" tIns="0" lIns="0" bIns="0" rIns="0">
            <a:spAutoFit/>
          </a:bodyPr>
          <a:lstStyle/>
          <a:p>
            <a:pPr algn="just" marL="0" indent="0" lvl="0">
              <a:lnSpc>
                <a:spcPts val="2214"/>
              </a:lnSpc>
            </a:pPr>
            <a:r>
              <a:rPr lang="en-US" sz="1582" spc="-63">
                <a:solidFill>
                  <a:srgbClr val="0F042D"/>
                </a:solidFill>
                <a:latin typeface="Open Sauce"/>
                <a:ea typeface="Open Sauce"/>
                <a:cs typeface="Open Sauce"/>
                <a:sym typeface="Open Sauce"/>
              </a:rPr>
              <a:t>B2B Licensing &amp; Asset Store</a:t>
            </a:r>
          </a:p>
        </p:txBody>
      </p:sp>
      <p:sp>
        <p:nvSpPr>
          <p:cNvPr name="Freeform 38" id="38"/>
          <p:cNvSpPr/>
          <p:nvPr/>
        </p:nvSpPr>
        <p:spPr>
          <a:xfrm flipH="false" flipV="false" rot="0">
            <a:off x="7114574" y="8697533"/>
            <a:ext cx="358045" cy="358045"/>
          </a:xfrm>
          <a:custGeom>
            <a:avLst/>
            <a:gdLst/>
            <a:ahLst/>
            <a:cxnLst/>
            <a:rect r="r" b="b" t="t" l="l"/>
            <a:pathLst>
              <a:path h="358045" w="358045">
                <a:moveTo>
                  <a:pt x="0" y="0"/>
                </a:moveTo>
                <a:lnTo>
                  <a:pt x="358045" y="0"/>
                </a:lnTo>
                <a:lnTo>
                  <a:pt x="358045" y="358045"/>
                </a:lnTo>
                <a:lnTo>
                  <a:pt x="0" y="3580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39" id="39"/>
          <p:cNvSpPr txBox="true"/>
          <p:nvPr/>
        </p:nvSpPr>
        <p:spPr>
          <a:xfrm rot="0">
            <a:off x="7688516" y="8710730"/>
            <a:ext cx="3297638" cy="274141"/>
          </a:xfrm>
          <a:prstGeom prst="rect">
            <a:avLst/>
          </a:prstGeom>
        </p:spPr>
        <p:txBody>
          <a:bodyPr anchor="t" rtlCol="false" tIns="0" lIns="0" bIns="0" rIns="0">
            <a:spAutoFit/>
          </a:bodyPr>
          <a:lstStyle/>
          <a:p>
            <a:pPr algn="just" marL="0" indent="0" lvl="0">
              <a:lnSpc>
                <a:spcPts val="2214"/>
              </a:lnSpc>
              <a:spcBef>
                <a:spcPct val="0"/>
              </a:spcBef>
            </a:pPr>
            <a:r>
              <a:rPr lang="en-US" sz="1582" spc="-63" strike="noStrike" u="none">
                <a:solidFill>
                  <a:srgbClr val="0F042D"/>
                </a:solidFill>
                <a:latin typeface="Open Sauce"/>
                <a:ea typeface="Open Sauce"/>
                <a:cs typeface="Open Sauce"/>
                <a:sym typeface="Open Sauce"/>
              </a:rPr>
              <a:t>huseyinasan.dev</a:t>
            </a:r>
          </a:p>
        </p:txBody>
      </p:sp>
      <p:sp>
        <p:nvSpPr>
          <p:cNvPr name="Freeform 40" id="40"/>
          <p:cNvSpPr/>
          <p:nvPr/>
        </p:nvSpPr>
        <p:spPr>
          <a:xfrm flipH="false" flipV="false" rot="0">
            <a:off x="12027375" y="8706508"/>
            <a:ext cx="359146" cy="359146"/>
          </a:xfrm>
          <a:custGeom>
            <a:avLst/>
            <a:gdLst/>
            <a:ahLst/>
            <a:cxnLst/>
            <a:rect r="r" b="b" t="t" l="l"/>
            <a:pathLst>
              <a:path h="359146" w="359146">
                <a:moveTo>
                  <a:pt x="0" y="0"/>
                </a:moveTo>
                <a:lnTo>
                  <a:pt x="359146" y="0"/>
                </a:lnTo>
                <a:lnTo>
                  <a:pt x="359146" y="359146"/>
                </a:lnTo>
                <a:lnTo>
                  <a:pt x="0" y="3591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41" id="41"/>
          <p:cNvSpPr txBox="true"/>
          <p:nvPr/>
        </p:nvSpPr>
        <p:spPr>
          <a:xfrm rot="0">
            <a:off x="12601867" y="8729960"/>
            <a:ext cx="3552395" cy="274141"/>
          </a:xfrm>
          <a:prstGeom prst="rect">
            <a:avLst/>
          </a:prstGeom>
        </p:spPr>
        <p:txBody>
          <a:bodyPr anchor="t" rtlCol="false" tIns="0" lIns="0" bIns="0" rIns="0">
            <a:spAutoFit/>
          </a:bodyPr>
          <a:lstStyle/>
          <a:p>
            <a:pPr algn="just" marL="0" indent="0" lvl="0">
              <a:lnSpc>
                <a:spcPts val="2214"/>
              </a:lnSpc>
              <a:spcBef>
                <a:spcPct val="0"/>
              </a:spcBef>
            </a:pPr>
            <a:r>
              <a:rPr lang="en-US" sz="1582" spc="-63">
                <a:solidFill>
                  <a:srgbClr val="0F042D"/>
                </a:solidFill>
                <a:latin typeface="Open Sauce"/>
                <a:ea typeface="Open Sauce"/>
                <a:cs typeface="Open Sauce"/>
                <a:sym typeface="Open Sauce"/>
              </a:rPr>
              <a:t>asanhuseyin123@gmail.com</a:t>
            </a:r>
          </a:p>
        </p:txBody>
      </p:sp>
      <p:sp>
        <p:nvSpPr>
          <p:cNvPr name="AutoShape 42" id="42"/>
          <p:cNvSpPr/>
          <p:nvPr/>
        </p:nvSpPr>
        <p:spPr>
          <a:xfrm>
            <a:off x="11282099" y="8625290"/>
            <a:ext cx="0" cy="502531"/>
          </a:xfrm>
          <a:prstGeom prst="line">
            <a:avLst/>
          </a:prstGeom>
          <a:ln cap="flat" w="19050">
            <a:solidFill>
              <a:srgbClr val="0F042D"/>
            </a:solidFill>
            <a:prstDash val="solid"/>
            <a:headEnd type="none" len="sm" w="sm"/>
            <a:tailEnd type="none" len="sm" w="sm"/>
          </a:ln>
        </p:spPr>
      </p:sp>
      <p:sp>
        <p:nvSpPr>
          <p:cNvPr name="AutoShape 43" id="43"/>
          <p:cNvSpPr/>
          <p:nvPr/>
        </p:nvSpPr>
        <p:spPr>
          <a:xfrm>
            <a:off x="6621479" y="8625290"/>
            <a:ext cx="0" cy="502531"/>
          </a:xfrm>
          <a:prstGeom prst="line">
            <a:avLst/>
          </a:prstGeom>
          <a:ln cap="flat" w="19050">
            <a:solidFill>
              <a:srgbClr val="0F042D"/>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DAHLytihGwI</dc:identifier>
  <dcterms:modified xsi:type="dcterms:W3CDTF">2011-08-01T06:04:30Z</dcterms:modified>
  <cp:revision>1</cp:revision>
  <dc:title>2026</dc:title>
</cp:coreProperties>
</file>